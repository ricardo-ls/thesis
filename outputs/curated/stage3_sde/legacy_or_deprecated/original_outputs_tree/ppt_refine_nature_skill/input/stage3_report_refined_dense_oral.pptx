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69" r:id="rId3"/>
    <p:sldId id="257" r:id="rId5"/>
    <p:sldId id="260" r:id="rId6"/>
    <p:sldId id="258" r:id="rId7"/>
    <p:sldId id="261" r:id="rId8"/>
    <p:sldId id="259" r:id="rId9"/>
    <p:sldId id="262" r:id="rId10"/>
    <p:sldId id="263" r:id="rId11"/>
    <p:sldId id="264" r:id="rId12"/>
    <p:sldId id="265" r:id="rId13"/>
    <p:sldId id="266" r:id="rId14"/>
    <p:sldId id="267" r:id="rId15"/>
    <p:sldId id="268" r:id="rId16"/>
  </p:sldIdLst>
  <p:sldSz cx="12191365" cy="6858000"/>
  <p:notesSz cx="6858000" cy="1219136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presentation reports Stage 3 of my thesis on indoor trajectory refinement with diffusion models.</a:t>
            </a:r>
            <a:endParaRPr lang="en-US" dirty="0"/>
          </a:p>
          <a:p>
            <a:r>
              <a:rPr lang="en-US" dirty="0"/>
              <a:t>The story has three parts. First, I explain why my original Stage 3 task formulation had to be corrected. Second, I show what changes once the problem is reframed as full-trajectory refinement. Third, I define the claim boundary: where the current method works, where it fails, and what Stage 4 should focus on.</a:t>
            </a:r>
            <a:endParaRPr lang="en-US" dirty="0"/>
          </a:p>
          <a:p>
            <a:r>
              <a:rPr lang="en-US" dirty="0"/>
              <a:t>The key message I want to build toward is simple: for this task, observation conditioning matters more than making the unconditional prior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start with the task correction because it changes how the old result should be read.
In the old experiment, only the middle segment was missing. Both boundary points around that segment were still visible, so linear interpolation was structurally favoured. It was not a weak baseline; it was almost exactly matched to the task.
The unconditional DDPM had the opposite interface: it could generate a plausible segment, but it had no mask, no endpoint constraint, and no explicit observed-context channel. The old gap therefore diagnoses a task-interface mismatch, not the uselessness of trajectory priors.
The corrected Stage 3 task is full-trajectory refinement: every frame may contain error, and the model has to refine the whole sequence. That gives the working hypothesis shown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fixes the statistical reading. Each method receives the same degraded input and is scored against the same clean reference, so the comparison is paired.
ADE is the main metric because the target is average full-trajectory recovery. RMSE, FDE, smoothness, improved fraction, delta, and paired tests are complementary diagnostics.
A key warning is smoothness. A smoother trajectory is not automatically a better one. If the spatial error increases, smoothness is just over-smoothing. That is why I do not use smoothness as the main success criterion.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corrected task, I move from ETH/UCY to synthetic indoor trajectories. This is not because ETH/UCY is bad; it answered the Stage 2 prior-learning question. Here the question is different.
I need paired clean and degraded trajectories inside a controlled room. The synthetic generator gives a 3 by 3 metre environment, 20 frames at 3 Hz, and five simple indoor motion patterns, including pacing, near-stationary behaviour, and boundary walking.
The key design feature is the pairing: each clean trajectory can be degraded in a controlled way, and all methods are evaluated against the same clean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indoor DDPM prior is not presented as a final generative model. This page only checks whether the prior is stable enough to use in downstream refinement diagnostics.
The best EMA checkpoint is selected at epoch 60. The validation loss shows a clear decreasing trend, the large-step ratio is zero, and the directional bias is below the threshold.
The boundary is important: passing the sanity check does not prove trajectory recovery. It only allows me to run the refinement experiments that actually test recovery.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paired protocol is simple: clean trajectory, controlled degradation, refinement method, and then comparison to the clean reference.
The six degradation types are not cosmetic variations. They probe different failure modes: gaussian frame noise, slow drift, sparse jumps, local bursts, constant bias, and mixed corruption.
This matters because a model can look good under gaussian noise while failing under structured sensor-like errors. The figure gives a visual example, but the numbers printed inside the panels are only for that single example. The dataset-level comparison comes later.</a:t>
            </a:r>
            <a:endParaRPr lang="en-US" dirty="0"/>
          </a:p>
          <a:p>
            <a:endParaRPr lang="en-US" dirty="0"/>
          </a:p>
          <a:p>
            <a:r>
              <a:rPr lang="en-US" dirty="0"/>
              <a:t>这里 drift 的 ADE 比 gaussian 低，是因为这个表统计的是 refinement 之前的 degraded input error。当前 drift_medium 的参数设置比较轻，它是一个随时间平滑累积的小偏移；而 gaussian_medium 是每一帧都有随机扰动，所以平均帧误差更大。这个结果不代表 drift 更容易修，反而说明 drift 的初始误差已经很小，因此后面的模型如果按照 gaussian 噪声学到的修正幅度去修，很容易 over-correct，把本来接近 clean 的轨迹推远。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unconditional SDEdit and gives the literature context. In this report SDEdit is not a new supervised model. It is an editing procedure that reuses the pretrained DDPM prior.
The procedure is two-step: inject gaussian noise into the degraded input up to t_start, then denoise with the learned reverse process. Small t_start keeps the result close to the input. Large t_start gives the prior more freedom but increases drift risk.
I start with gaussian_medium because it is the easiest condition for this method. The best point is t_start equals two, with a small ADE reduction from 0.0626 to 0.0608 metres.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compare no refinement, Kalman constant-velocity, and unconditional SDEdit on the same gaussian_medium evaluation set.
The prior-only SDEdit effect is systematic but small. ADE drops by 2.8%, and the improved fraction is 0.765.
Kalman CV is important because it shows why smoothness alone is not a success metric. It produces a smoother path, but ADE becomes much worse. So the right interpretation is spatial recovery first, smoothness as a diagnostic second.
This slide sets the prior-only ceiling. The next question is whether conditioning the prior on the degraded observation can do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turning point. I am not simply trying a bigger network. I am changing the refinement interface.
SDEdit edits through the prior, but it is not told what correction this particular observation needs. The conditional residual model receives the degraded trajectory and learns the residual between degraded and clean trajectories.
The residual target is defined in normalized relative-displacement space. This keeps continuity with the Stage 2 trajectory-prior representation, while tying the correction to the actual degraded observation.
The key experimental variable is conditioning. The evaluation set is the same gaussian_medium set used for the unconditional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the strongest positive result of Stage 3.
On the matched gaussian_medium set, no refinement has ADE 0.0626, SDEdit has 0.0608, and conditional residual DDPM has 0.0557.
That is a 10.98% reduction relative to the noisy input and an 8.41% improvement relative to unconditional SDEdit. The displayed trajectory shows the same comparison visually, using the same case as the prior-only diagnostic with the conditional output added as the fifth panel.
The careful wording is important: this supports the interface-level hypothesis under matched gaussian corruption. It does not yet prove generalization to every sensor-like degradation.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conditional model was trained on gaussian_medium only. The other five degradation types test generalization, not matched training.
The important point is that the failures are different. Gaussian improves because it matches the training corruption. Jump improves because sparse large offsets partially look like extreme residual noise. Drift worsens because the model applies a correction larger than needed. Burst worsens because the noise is local, but the model has no reliability mask. Bias is almost unchanged because a constant global offset cancels in relative-displacement space.
So the conclusion is not simply that generalization is bad. The conclusion is that each failure identifies a design boundary: correction scale, frame reliability, and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addresses the backbone concern. SSSD-S4 and Diffusion-TS are valid time-series diffusion families. SSSD-S4 is especially relevant to conditional imputation, while Diffusion-TS is a general time-series diffusion model.
However, the current task uses short T equals 20 indoor windows. The most immediate question is not long-range modelling, but whether the current Conv1D receptive field is too small. So I tested a 2-block versus 4-block Conv1D backbone inside the verified pipeline.
The expanded model nearly doubles parameters and covers the full window, but the median relative ADE gain is only 0.73%. More importantly, it still beats the noisy input in only one of six degradation types. This means the bottleneck is not primarily temporal capacity; it is observation anchoring and confidence-aware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close with a bounded conclusion rather than an over-claim.
Stage 3 establishes five things: the old task was biased, prior-only SDEdit has a small but real ceiling, observation conditioning gives the larger matched-gaussian gain, cross-degradation failures are structured, and backbone expansion does not solve the failure regime.
The main conclusion is therefore precise: conditioning is the operative variable, but it only helps when the corruption model, representation, and test error structure are aligned.
The next-step implication is not to add more unconditional prior machinery. The next design should anchor refinement to sensor evidence and explicitly model confidence or reliability, so the correction scale depends on how trustworthy each observation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tags" Target="../tags/tag2.xml"/><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Shape 1"/>
          <p:cNvSpPr/>
          <p:nvPr/>
        </p:nvSpPr>
        <p:spPr>
          <a:xfrm>
            <a:off x="0" y="0"/>
            <a:ext cx="292608" cy="6858000"/>
          </a:xfrm>
          <a:prstGeom prst="rect">
            <a:avLst/>
          </a:prstGeom>
          <a:solidFill>
            <a:srgbClr val="003A70"/>
          </a:solidFill>
          <a:ln w="12700">
            <a:solidFill>
              <a:srgbClr val="003A70"/>
            </a:solidFill>
            <a:prstDash val="solid"/>
          </a:ln>
        </p:spPr>
      </p:sp>
      <p:pic>
        <p:nvPicPr>
          <p:cNvPr id="4" name="Image 0" descr="/mnt/data/defense_extract/ppt/media/image-1-1.jpeg"/>
          <p:cNvPicPr>
            <a:picLocks noChangeAspect="1"/>
          </p:cNvPicPr>
          <p:nvPr/>
        </p:nvPicPr>
        <p:blipFill>
          <a:blip r:embed="rId1"/>
          <a:stretch>
            <a:fillRect/>
          </a:stretch>
        </p:blipFill>
        <p:spPr>
          <a:xfrm>
            <a:off x="8190704" y="502920"/>
            <a:ext cx="2683832" cy="1234440"/>
          </a:xfrm>
          <a:prstGeom prst="rect">
            <a:avLst/>
          </a:prstGeom>
        </p:spPr>
      </p:pic>
      <p:sp>
        <p:nvSpPr>
          <p:cNvPr id="5" name="Text 2"/>
          <p:cNvSpPr/>
          <p:nvPr/>
        </p:nvSpPr>
        <p:spPr>
          <a:xfrm>
            <a:off x="685800" y="621792"/>
            <a:ext cx="2011680" cy="329184"/>
          </a:xfrm>
          <a:prstGeom prst="rect">
            <a:avLst/>
          </a:prstGeom>
          <a:noFill/>
        </p:spPr>
        <p:txBody>
          <a:bodyPr wrap="square" lIns="635" tIns="635" rIns="635" bIns="635" rtlCol="0" anchor="t">
            <a:normAutofit/>
          </a:bodyPr>
          <a:lstStyle/>
          <a:p>
            <a:pPr marL="0" indent="0" algn="l">
              <a:buNone/>
            </a:pPr>
            <a:r>
              <a:rPr lang="en-US" sz="1300" b="1" dirty="0">
                <a:solidFill>
                  <a:srgbClr val="2E6E9E"/>
                </a:solidFill>
                <a:latin typeface="Aptos" pitchFamily="34" charset="0"/>
                <a:ea typeface="Aptos" pitchFamily="34" charset="-122"/>
                <a:cs typeface="Aptos" pitchFamily="34" charset="-120"/>
              </a:rPr>
              <a:t>STAGE 3</a:t>
            </a:r>
            <a:endParaRPr lang="en-US" sz="1300" dirty="0"/>
          </a:p>
        </p:txBody>
      </p:sp>
      <p:sp>
        <p:nvSpPr>
          <p:cNvPr id="6" name="Text 3"/>
          <p:cNvSpPr/>
          <p:nvPr/>
        </p:nvSpPr>
        <p:spPr>
          <a:xfrm>
            <a:off x="685800" y="1078992"/>
            <a:ext cx="6400800" cy="1234440"/>
          </a:xfrm>
          <a:prstGeom prst="rect">
            <a:avLst/>
          </a:prstGeom>
          <a:noFill/>
        </p:spPr>
        <p:txBody>
          <a:bodyPr wrap="square" lIns="635" tIns="635" rIns="635" bIns="635" rtlCol="0" anchor="t">
            <a:normAutofit/>
          </a:bodyPr>
          <a:lstStyle/>
          <a:p>
            <a:pPr marL="0" indent="0" algn="l">
              <a:buNone/>
            </a:pPr>
            <a:r>
              <a:rPr lang="en-US" sz="3500" b="1" dirty="0">
                <a:solidFill>
                  <a:srgbClr val="0B1F3A"/>
                </a:solidFill>
                <a:latin typeface="Aptos" pitchFamily="34" charset="0"/>
                <a:ea typeface="Aptos" pitchFamily="34" charset="-122"/>
                <a:cs typeface="Aptos" pitchFamily="34" charset="-120"/>
              </a:rPr>
              <a:t>DDPM-based Indoor</a:t>
            </a:r>
            <a:endParaRPr lang="en-US" sz="3500" dirty="0"/>
          </a:p>
          <a:p>
            <a:pPr marL="0" indent="0" algn="l">
              <a:buNone/>
            </a:pPr>
            <a:r>
              <a:rPr lang="en-US" sz="3500" b="1" dirty="0">
                <a:solidFill>
                  <a:srgbClr val="0B1F3A"/>
                </a:solidFill>
                <a:latin typeface="Aptos" pitchFamily="34" charset="0"/>
                <a:ea typeface="Aptos" pitchFamily="34" charset="-122"/>
                <a:cs typeface="Aptos" pitchFamily="34" charset="-120"/>
              </a:rPr>
              <a:t>Trajectory Refinement</a:t>
            </a:r>
            <a:endParaRPr lang="en-US" sz="3500" dirty="0"/>
          </a:p>
        </p:txBody>
      </p:sp>
      <p:sp>
        <p:nvSpPr>
          <p:cNvPr id="7" name="Text 4"/>
          <p:cNvSpPr/>
          <p:nvPr/>
        </p:nvSpPr>
        <p:spPr>
          <a:xfrm>
            <a:off x="704088" y="2423160"/>
            <a:ext cx="7498080" cy="384048"/>
          </a:xfrm>
          <a:prstGeom prst="rect">
            <a:avLst/>
          </a:prstGeom>
          <a:noFill/>
        </p:spPr>
        <p:txBody>
          <a:bodyPr wrap="square" lIns="635" tIns="635" rIns="635" bIns="635" rtlCol="0" anchor="t">
            <a:normAutofit/>
          </a:bodyPr>
          <a:lstStyle/>
          <a:p>
            <a:pPr marL="0" indent="0" algn="l">
              <a:buNone/>
            </a:pPr>
            <a:r>
              <a:rPr lang="en-US" sz="1300" dirty="0">
                <a:solidFill>
                  <a:srgbClr val="5A6470"/>
                </a:solidFill>
                <a:latin typeface="Aptos" pitchFamily="34" charset="0"/>
                <a:ea typeface="Aptos" pitchFamily="34" charset="-122"/>
                <a:cs typeface="Aptos" pitchFamily="34" charset="-120"/>
              </a:rPr>
              <a:t>Keywords: DDPM · SDEdit · conditional residual model · paired trajectory recovery</a:t>
            </a:r>
            <a:endParaRPr lang="en-US" sz="1300" dirty="0">
              <a:solidFill>
                <a:srgbClr val="5A6470"/>
              </a:solidFill>
              <a:latin typeface="Aptos" pitchFamily="34" charset="0"/>
              <a:ea typeface="Aptos" pitchFamily="34" charset="-122"/>
              <a:cs typeface="Aptos" pitchFamily="34" charset="-120"/>
            </a:endParaRPr>
          </a:p>
        </p:txBody>
      </p:sp>
      <p:sp>
        <p:nvSpPr>
          <p:cNvPr id="8" name="Text 5"/>
          <p:cNvSpPr/>
          <p:nvPr/>
        </p:nvSpPr>
        <p:spPr>
          <a:xfrm>
            <a:off x="685546" y="4703826"/>
            <a:ext cx="4389120" cy="475488"/>
          </a:xfrm>
          <a:prstGeom prst="rect">
            <a:avLst/>
          </a:prstGeom>
          <a:noFill/>
        </p:spPr>
        <p:txBody>
          <a:bodyPr wrap="square" lIns="635" tIns="635" rIns="635" bIns="635" rtlCol="0" anchor="t">
            <a:normAutofit/>
          </a:bodyPr>
          <a:lstStyle/>
          <a:p>
            <a:pPr marL="0" indent="0" algn="l">
              <a:buNone/>
            </a:pPr>
            <a:r>
              <a:rPr lang="en-US" sz="1250" dirty="0">
                <a:solidFill>
                  <a:srgbClr val="20242A"/>
                </a:solidFill>
                <a:latin typeface="Aptos" pitchFamily="34" charset="0"/>
                <a:ea typeface="Aptos" pitchFamily="34" charset="-122"/>
                <a:cs typeface="Aptos" pitchFamily="34" charset="-120"/>
              </a:rPr>
              <a:t>Shang Shanchong </a:t>
            </a:r>
            <a:endParaRPr lang="en-US" sz="1250" dirty="0">
              <a:solidFill>
                <a:srgbClr val="20242A"/>
              </a:solidFill>
              <a:latin typeface="Aptos" pitchFamily="34" charset="0"/>
              <a:ea typeface="Aptos" pitchFamily="34" charset="-122"/>
              <a:cs typeface="Aptos" pitchFamily="34" charset="-120"/>
            </a:endParaRPr>
          </a:p>
          <a:p>
            <a:pPr marL="0" indent="0" algn="l">
              <a:buNone/>
            </a:pPr>
            <a:r>
              <a:rPr lang="en-US" sz="1250" dirty="0">
                <a:solidFill>
                  <a:srgbClr val="20242A"/>
                </a:solidFill>
                <a:latin typeface="Aptos" pitchFamily="34" charset="0"/>
                <a:ea typeface="Aptos" pitchFamily="34" charset="-122"/>
                <a:cs typeface="Aptos" pitchFamily="34" charset="-120"/>
              </a:rPr>
              <a:t>Politecnico di Torino</a:t>
            </a:r>
            <a:endParaRPr lang="en-US" sz="1250" dirty="0"/>
          </a:p>
        </p:txBody>
      </p:sp>
      <p:sp>
        <p:nvSpPr>
          <p:cNvPr id="9" name="Shape 6"/>
          <p:cNvSpPr/>
          <p:nvPr/>
        </p:nvSpPr>
        <p:spPr>
          <a:xfrm>
            <a:off x="685927" y="3140710"/>
            <a:ext cx="3246120" cy="859536"/>
          </a:xfrm>
          <a:prstGeom prst="roundRect">
            <a:avLst/>
          </a:prstGeom>
          <a:solidFill>
            <a:srgbClr val="F6FAFD"/>
          </a:solidFill>
          <a:ln w="10160">
            <a:solidFill>
              <a:srgbClr val="C8D6E3"/>
            </a:solidFill>
            <a:prstDash val="solid"/>
          </a:ln>
        </p:spPr>
      </p:sp>
      <p:sp>
        <p:nvSpPr>
          <p:cNvPr id="10" name="Text 7"/>
          <p:cNvSpPr/>
          <p:nvPr/>
        </p:nvSpPr>
        <p:spPr>
          <a:xfrm>
            <a:off x="850519" y="3259582"/>
            <a:ext cx="411480" cy="228600"/>
          </a:xfrm>
          <a:prstGeom prst="rect">
            <a:avLst/>
          </a:prstGeom>
          <a:noFill/>
        </p:spPr>
        <p:txBody>
          <a:bodyPr wrap="square" lIns="635" tIns="635" rIns="635" bIns="635" rtlCol="0" anchor="t">
            <a:normAutofit/>
          </a:bodyPr>
          <a:lstStyle/>
          <a:p>
            <a:pPr marL="0" indent="0" algn="l">
              <a:buNone/>
            </a:pPr>
            <a:r>
              <a:rPr lang="en-US" sz="900" b="1" dirty="0">
                <a:solidFill>
                  <a:srgbClr val="2E6E9E"/>
                </a:solidFill>
                <a:latin typeface="Aptos" pitchFamily="34" charset="0"/>
                <a:ea typeface="Aptos" pitchFamily="34" charset="-122"/>
                <a:cs typeface="Aptos" pitchFamily="34" charset="-120"/>
              </a:rPr>
              <a:t>01</a:t>
            </a:r>
            <a:endParaRPr lang="en-US" sz="900" dirty="0"/>
          </a:p>
        </p:txBody>
      </p:sp>
      <p:sp>
        <p:nvSpPr>
          <p:cNvPr id="11" name="Text 8"/>
          <p:cNvSpPr/>
          <p:nvPr/>
        </p:nvSpPr>
        <p:spPr>
          <a:xfrm>
            <a:off x="1280287" y="3223006"/>
            <a:ext cx="2286000" cy="228600"/>
          </a:xfrm>
          <a:prstGeom prst="rect">
            <a:avLst/>
          </a:prstGeom>
          <a:noFill/>
        </p:spPr>
        <p:txBody>
          <a:bodyPr wrap="square" lIns="635" tIns="635" rIns="635" bIns="635" rtlCol="0" anchor="t">
            <a:normAutofit/>
          </a:bodyPr>
          <a:lstStyle/>
          <a:p>
            <a:pPr marL="0" indent="0" algn="l">
              <a:buNone/>
            </a:pPr>
            <a:r>
              <a:rPr lang="en-US" sz="1250" b="1" dirty="0">
                <a:solidFill>
                  <a:srgbClr val="0B1F3A"/>
                </a:solidFill>
                <a:latin typeface="Aptos" pitchFamily="34" charset="0"/>
                <a:ea typeface="Aptos" pitchFamily="34" charset="-122"/>
                <a:cs typeface="Aptos" pitchFamily="34" charset="-120"/>
              </a:rPr>
              <a:t>Problem reset</a:t>
            </a:r>
            <a:endParaRPr lang="en-US" sz="1250" dirty="0"/>
          </a:p>
        </p:txBody>
      </p:sp>
      <p:sp>
        <p:nvSpPr>
          <p:cNvPr id="12" name="Text 9"/>
          <p:cNvSpPr/>
          <p:nvPr/>
        </p:nvSpPr>
        <p:spPr>
          <a:xfrm>
            <a:off x="1280287" y="3533902"/>
            <a:ext cx="2377440" cy="256032"/>
          </a:xfrm>
          <a:prstGeom prst="rect">
            <a:avLst/>
          </a:prstGeom>
          <a:noFill/>
        </p:spPr>
        <p:txBody>
          <a:bodyPr wrap="square" lIns="635" tIns="635" rIns="635" bIns="635" rtlCol="0" anchor="t">
            <a:normAutofit/>
          </a:bodyPr>
          <a:lstStyle/>
          <a:p>
            <a:pPr marL="0" indent="0" algn="l">
              <a:buNone/>
            </a:pPr>
            <a:r>
              <a:rPr lang="en-US" sz="880" dirty="0">
                <a:solidFill>
                  <a:srgbClr val="5A6470"/>
                </a:solidFill>
                <a:latin typeface="Aptos" pitchFamily="34" charset="0"/>
                <a:ea typeface="Aptos" pitchFamily="34" charset="-122"/>
                <a:cs typeface="Aptos" pitchFamily="34" charset="-120"/>
              </a:rPr>
              <a:t>biased gap filling -&gt; full-trajectory refinement</a:t>
            </a:r>
            <a:endParaRPr lang="en-US" sz="880" dirty="0"/>
          </a:p>
        </p:txBody>
      </p:sp>
      <p:sp>
        <p:nvSpPr>
          <p:cNvPr id="13" name="Shape 10"/>
          <p:cNvSpPr/>
          <p:nvPr/>
        </p:nvSpPr>
        <p:spPr>
          <a:xfrm>
            <a:off x="4343527" y="3140710"/>
            <a:ext cx="3246120" cy="859536"/>
          </a:xfrm>
          <a:prstGeom prst="roundRect">
            <a:avLst/>
          </a:prstGeom>
          <a:solidFill>
            <a:srgbClr val="EAF2F8"/>
          </a:solidFill>
          <a:ln w="10160">
            <a:solidFill>
              <a:srgbClr val="C8D6E3"/>
            </a:solidFill>
            <a:prstDash val="solid"/>
          </a:ln>
        </p:spPr>
      </p:sp>
      <p:sp>
        <p:nvSpPr>
          <p:cNvPr id="14" name="Text 11"/>
          <p:cNvSpPr/>
          <p:nvPr/>
        </p:nvSpPr>
        <p:spPr>
          <a:xfrm>
            <a:off x="4508119" y="3259582"/>
            <a:ext cx="411480" cy="228600"/>
          </a:xfrm>
          <a:prstGeom prst="rect">
            <a:avLst/>
          </a:prstGeom>
          <a:noFill/>
        </p:spPr>
        <p:txBody>
          <a:bodyPr wrap="square" lIns="635" tIns="635" rIns="635" bIns="635" rtlCol="0" anchor="t">
            <a:normAutofit/>
          </a:bodyPr>
          <a:lstStyle/>
          <a:p>
            <a:pPr marL="0" indent="0" algn="l">
              <a:buNone/>
            </a:pPr>
            <a:r>
              <a:rPr lang="en-US" sz="900" b="1" dirty="0">
                <a:solidFill>
                  <a:srgbClr val="2E6E9E"/>
                </a:solidFill>
                <a:latin typeface="Aptos" pitchFamily="34" charset="0"/>
                <a:ea typeface="Aptos" pitchFamily="34" charset="-122"/>
                <a:cs typeface="Aptos" pitchFamily="34" charset="-120"/>
              </a:rPr>
              <a:t>02</a:t>
            </a:r>
            <a:endParaRPr lang="en-US" sz="900" dirty="0"/>
          </a:p>
        </p:txBody>
      </p:sp>
      <p:sp>
        <p:nvSpPr>
          <p:cNvPr id="15" name="Text 12"/>
          <p:cNvSpPr/>
          <p:nvPr/>
        </p:nvSpPr>
        <p:spPr>
          <a:xfrm>
            <a:off x="4937887" y="3223006"/>
            <a:ext cx="2286000" cy="228600"/>
          </a:xfrm>
          <a:prstGeom prst="rect">
            <a:avLst/>
          </a:prstGeom>
          <a:noFill/>
        </p:spPr>
        <p:txBody>
          <a:bodyPr wrap="square" lIns="635" tIns="635" rIns="635" bIns="635" rtlCol="0" anchor="t">
            <a:normAutofit/>
          </a:bodyPr>
          <a:lstStyle/>
          <a:p>
            <a:pPr marL="0" indent="0" algn="l">
              <a:buNone/>
            </a:pPr>
            <a:r>
              <a:rPr lang="en-US" sz="1250" b="1" dirty="0">
                <a:solidFill>
                  <a:srgbClr val="0B1F3A"/>
                </a:solidFill>
                <a:latin typeface="Aptos" pitchFamily="34" charset="0"/>
                <a:ea typeface="Aptos" pitchFamily="34" charset="-122"/>
                <a:cs typeface="Aptos" pitchFamily="34" charset="-120"/>
              </a:rPr>
              <a:t>Core finding</a:t>
            </a:r>
            <a:endParaRPr lang="en-US" sz="1250" dirty="0"/>
          </a:p>
        </p:txBody>
      </p:sp>
      <p:sp>
        <p:nvSpPr>
          <p:cNvPr id="16" name="Text 13"/>
          <p:cNvSpPr/>
          <p:nvPr/>
        </p:nvSpPr>
        <p:spPr>
          <a:xfrm>
            <a:off x="4937887" y="3533902"/>
            <a:ext cx="2377440" cy="256032"/>
          </a:xfrm>
          <a:prstGeom prst="rect">
            <a:avLst/>
          </a:prstGeom>
          <a:noFill/>
        </p:spPr>
        <p:txBody>
          <a:bodyPr wrap="square" lIns="635" tIns="635" rIns="635" bIns="635" rtlCol="0" anchor="t">
            <a:normAutofit/>
          </a:bodyPr>
          <a:lstStyle/>
          <a:p>
            <a:pPr marL="0" indent="0" algn="l">
              <a:buNone/>
            </a:pPr>
            <a:r>
              <a:rPr lang="en-US" sz="880" dirty="0">
                <a:solidFill>
                  <a:srgbClr val="5A6470"/>
                </a:solidFill>
                <a:latin typeface="Aptos" pitchFamily="34" charset="0"/>
                <a:ea typeface="Aptos" pitchFamily="34" charset="-122"/>
                <a:cs typeface="Aptos" pitchFamily="34" charset="-120"/>
              </a:rPr>
              <a:t>conditioning beats prior-only editing</a:t>
            </a:r>
            <a:endParaRPr lang="en-US" sz="880" dirty="0"/>
          </a:p>
        </p:txBody>
      </p:sp>
      <p:sp>
        <p:nvSpPr>
          <p:cNvPr id="17" name="Shape 14"/>
          <p:cNvSpPr/>
          <p:nvPr/>
        </p:nvSpPr>
        <p:spPr>
          <a:xfrm>
            <a:off x="8001127" y="3140710"/>
            <a:ext cx="3246120" cy="859536"/>
          </a:xfrm>
          <a:prstGeom prst="roundRect">
            <a:avLst/>
          </a:prstGeom>
          <a:solidFill>
            <a:srgbClr val="F6FAFD"/>
          </a:solidFill>
          <a:ln w="10160">
            <a:solidFill>
              <a:srgbClr val="C8D6E3"/>
            </a:solidFill>
            <a:prstDash val="solid"/>
          </a:ln>
        </p:spPr>
      </p:sp>
      <p:sp>
        <p:nvSpPr>
          <p:cNvPr id="18" name="Text 15"/>
          <p:cNvSpPr/>
          <p:nvPr/>
        </p:nvSpPr>
        <p:spPr>
          <a:xfrm>
            <a:off x="8165719" y="3259582"/>
            <a:ext cx="411480" cy="228600"/>
          </a:xfrm>
          <a:prstGeom prst="rect">
            <a:avLst/>
          </a:prstGeom>
          <a:noFill/>
        </p:spPr>
        <p:txBody>
          <a:bodyPr wrap="square" lIns="635" tIns="635" rIns="635" bIns="635" rtlCol="0" anchor="t">
            <a:normAutofit/>
          </a:bodyPr>
          <a:lstStyle/>
          <a:p>
            <a:pPr marL="0" indent="0" algn="l">
              <a:buNone/>
            </a:pPr>
            <a:r>
              <a:rPr lang="en-US" sz="900" b="1" dirty="0">
                <a:solidFill>
                  <a:srgbClr val="2E6E9E"/>
                </a:solidFill>
                <a:latin typeface="Aptos" pitchFamily="34" charset="0"/>
                <a:ea typeface="Aptos" pitchFamily="34" charset="-122"/>
                <a:cs typeface="Aptos" pitchFamily="34" charset="-120"/>
              </a:rPr>
              <a:t>03</a:t>
            </a:r>
            <a:endParaRPr lang="en-US" sz="900" dirty="0"/>
          </a:p>
        </p:txBody>
      </p:sp>
      <p:sp>
        <p:nvSpPr>
          <p:cNvPr id="19" name="Text 16"/>
          <p:cNvSpPr/>
          <p:nvPr/>
        </p:nvSpPr>
        <p:spPr>
          <a:xfrm>
            <a:off x="8595487" y="3223006"/>
            <a:ext cx="2286000" cy="228600"/>
          </a:xfrm>
          <a:prstGeom prst="rect">
            <a:avLst/>
          </a:prstGeom>
          <a:noFill/>
        </p:spPr>
        <p:txBody>
          <a:bodyPr wrap="square" lIns="635" tIns="635" rIns="635" bIns="635" rtlCol="0" anchor="t">
            <a:normAutofit/>
          </a:bodyPr>
          <a:lstStyle/>
          <a:p>
            <a:pPr marL="0" indent="0" algn="l">
              <a:buNone/>
            </a:pPr>
            <a:r>
              <a:rPr lang="en-US" sz="1250" b="1" dirty="0">
                <a:solidFill>
                  <a:srgbClr val="0B1F3A"/>
                </a:solidFill>
                <a:latin typeface="Aptos" pitchFamily="34" charset="0"/>
                <a:ea typeface="Aptos" pitchFamily="34" charset="-122"/>
                <a:cs typeface="Aptos" pitchFamily="34" charset="-120"/>
              </a:rPr>
              <a:t>Claim boundary</a:t>
            </a:r>
            <a:endParaRPr lang="en-US" sz="1250" dirty="0"/>
          </a:p>
        </p:txBody>
      </p:sp>
      <p:sp>
        <p:nvSpPr>
          <p:cNvPr id="20" name="Text 17"/>
          <p:cNvSpPr/>
          <p:nvPr/>
        </p:nvSpPr>
        <p:spPr>
          <a:xfrm>
            <a:off x="8595487" y="3533902"/>
            <a:ext cx="2377440" cy="256032"/>
          </a:xfrm>
          <a:prstGeom prst="rect">
            <a:avLst/>
          </a:prstGeom>
          <a:noFill/>
        </p:spPr>
        <p:txBody>
          <a:bodyPr wrap="square" lIns="635" tIns="635" rIns="635" bIns="635" rtlCol="0" anchor="t">
            <a:normAutofit/>
          </a:bodyPr>
          <a:lstStyle/>
          <a:p>
            <a:pPr marL="0" indent="0" algn="l">
              <a:buNone/>
            </a:pPr>
            <a:r>
              <a:rPr lang="en-US" sz="880" dirty="0">
                <a:solidFill>
                  <a:srgbClr val="5A6470"/>
                </a:solidFill>
                <a:latin typeface="Aptos" pitchFamily="34" charset="0"/>
                <a:ea typeface="Aptos" pitchFamily="34" charset="-122"/>
                <a:cs typeface="Aptos" pitchFamily="34" charset="-120"/>
              </a:rPr>
              <a:t>works only under error-structure alignment</a:t>
            </a:r>
            <a:endParaRPr lang="en-US" sz="8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8046720" cy="347472"/>
          </a:xfrm>
          <a:prstGeom prst="rect">
            <a:avLst/>
          </a:prstGeom>
          <a:noFill/>
        </p:spPr>
        <p:txBody>
          <a:bodyPr wrap="square" lIns="0" tIns="0" rIns="0" bIns="0" rtlCol="0" anchor="ctr"/>
          <a:lstStyle/>
          <a:p>
            <a:pPr marL="0" indent="0">
              <a:buNone/>
            </a:pPr>
            <a:r>
              <a:rPr lang="en-US" sz="2400" b="1" dirty="0">
                <a:solidFill>
                  <a:srgbClr val="0B2341"/>
                </a:solidFill>
                <a:latin typeface="Times New Roman Regular" panose="02020503050405090304" charset="0"/>
                <a:ea typeface="Aptos" pitchFamily="34" charset="-122"/>
                <a:cs typeface="Times New Roman Regular" panose="02020503050405090304" charset="0"/>
              </a:rPr>
              <a:t>Task correction: what the old experiment really tested</a:t>
            </a:r>
            <a:endParaRPr lang="en-US" sz="2400" b="1" dirty="0">
              <a:solidFill>
                <a:srgbClr val="0B2341"/>
              </a:solidFill>
              <a:latin typeface="Times New Roman Regular" panose="02020503050405090304" charset="0"/>
              <a:ea typeface="Aptos" pitchFamily="34" charset="-122"/>
              <a:cs typeface="Times New Roman Regular" panose="02020503050405090304" charset="0"/>
            </a:endParaRPr>
          </a:p>
        </p:txBody>
      </p:sp>
      <p:sp>
        <p:nvSpPr>
          <p:cNvPr id="4" name="Text 2"/>
          <p:cNvSpPr/>
          <p:nvPr/>
        </p:nvSpPr>
        <p:spPr>
          <a:xfrm>
            <a:off x="10287000" y="347472"/>
            <a:ext cx="1371600" cy="237744"/>
          </a:xfrm>
          <a:prstGeom prst="rect">
            <a:avLst/>
          </a:prstGeom>
          <a:noFill/>
        </p:spPr>
        <p:txBody>
          <a:bodyPr wrap="square" lIns="0" tIns="0" rIns="0" bIns="0" rtlCol="0" anchor="ctr"/>
          <a:lstStyle/>
          <a:p>
            <a:pPr marL="0" indent="0" algn="r">
              <a:buNone/>
            </a:pPr>
            <a:r>
              <a:rPr lang="en-US" sz="900" dirty="0">
                <a:solidFill>
                  <a:srgbClr val="526171"/>
                </a:solidFill>
                <a:latin typeface="Times New Roman Regular" panose="02020503050405090304" charset="0"/>
                <a:ea typeface="Aptos" pitchFamily="34" charset="-122"/>
                <a:cs typeface="Times New Roman Regular" panose="02020503050405090304" charset="0"/>
              </a:rPr>
              <a:t>2 / 13</a:t>
            </a:r>
            <a:endParaRPr lang="en-US" sz="900" dirty="0">
              <a:solidFill>
                <a:srgbClr val="526171"/>
              </a:solidFill>
              <a:latin typeface="Times New Roman Regular" panose="02020503050405090304" charset="0"/>
              <a:ea typeface="Aptos" pitchFamily="34" charset="-122"/>
              <a:cs typeface="Times New Roman Regular" panose="02020503050405090304" charset="0"/>
            </a:endParaRPr>
          </a:p>
        </p:txBody>
      </p:sp>
      <p:sp>
        <p:nvSpPr>
          <p:cNvPr id="5" name="Shape 3"/>
          <p:cNvSpPr/>
          <p:nvPr/>
        </p:nvSpPr>
        <p:spPr>
          <a:xfrm>
            <a:off x="502920" y="768096"/>
            <a:ext cx="11173968" cy="0"/>
          </a:xfrm>
          <a:prstGeom prst="line">
            <a:avLst/>
          </a:prstGeom>
          <a:noFill/>
          <a:ln w="8890">
            <a:solidFill>
              <a:srgbClr val="D7DDE5"/>
            </a:solidFill>
            <a:prstDash val="solid"/>
          </a:ln>
        </p:spPr>
      </p:sp>
      <p:sp>
        <p:nvSpPr>
          <p:cNvPr id="6" name="Text 4"/>
          <p:cNvSpPr/>
          <p:nvPr/>
        </p:nvSpPr>
        <p:spPr>
          <a:xfrm>
            <a:off x="502920" y="6519672"/>
            <a:ext cx="6858000" cy="164592"/>
          </a:xfrm>
          <a:prstGeom prst="rect">
            <a:avLst/>
          </a:prstGeom>
          <a:noFill/>
        </p:spPr>
        <p:txBody>
          <a:bodyPr wrap="square" lIns="0" tIns="0" rIns="0" bIns="0" rtlCol="0" anchor="ctr"/>
          <a:lstStyle/>
          <a:p>
            <a:pPr marL="0" indent="0">
              <a:buNone/>
            </a:pPr>
            <a:r>
              <a:rPr lang="en-US" sz="850" dirty="0">
                <a:solidFill>
                  <a:srgbClr val="7B8794"/>
                </a:solidFill>
                <a:latin typeface="Times New Roman Regular" panose="02020503050405090304" charset="0"/>
                <a:ea typeface="Aptos" pitchFamily="34" charset="-122"/>
                <a:cs typeface="Times New Roman Regular" panose="02020503050405090304" charset="0"/>
              </a:rPr>
              <a:t>Stage 3 — DDPM-based Indoor Trajectory Refinement</a:t>
            </a:r>
            <a:endParaRPr lang="en-US" sz="850" dirty="0">
              <a:solidFill>
                <a:srgbClr val="7B8794"/>
              </a:solidFill>
              <a:latin typeface="Times New Roman Regular" panose="02020503050405090304" charset="0"/>
              <a:ea typeface="Aptos" pitchFamily="34" charset="-122"/>
              <a:cs typeface="Times New Roman Regular" panose="02020503050405090304" charset="0"/>
            </a:endParaRPr>
          </a:p>
        </p:txBody>
      </p:sp>
      <p:pic>
        <p:nvPicPr>
          <p:cNvPr id="7" name="Image 0" descr="/mnt/data/docx_extract/word/media/image1.png"/>
          <p:cNvPicPr>
            <a:picLocks noChangeAspect="1"/>
          </p:cNvPicPr>
          <p:nvPr/>
        </p:nvPicPr>
        <p:blipFill>
          <a:blip r:embed="rId1"/>
          <a:stretch>
            <a:fillRect/>
          </a:stretch>
        </p:blipFill>
        <p:spPr>
          <a:xfrm>
            <a:off x="640080" y="960326"/>
            <a:ext cx="5349240" cy="2742789"/>
          </a:xfrm>
          <a:prstGeom prst="rect">
            <a:avLst/>
          </a:prstGeom>
        </p:spPr>
      </p:pic>
      <p:sp>
        <p:nvSpPr>
          <p:cNvPr id="8" name="Text 5"/>
          <p:cNvSpPr/>
          <p:nvPr/>
        </p:nvSpPr>
        <p:spPr>
          <a:xfrm>
            <a:off x="6263640" y="1005840"/>
            <a:ext cx="2286000" cy="201168"/>
          </a:xfrm>
          <a:prstGeom prst="rect">
            <a:avLst/>
          </a:prstGeom>
          <a:noFill/>
        </p:spPr>
        <p:txBody>
          <a:bodyPr wrap="square" lIns="635" tIns="635" rIns="635" bIns="635" rtlCol="0" anchor="t">
            <a:normAutofit/>
          </a:bodyPr>
          <a:lstStyle/>
          <a:p>
            <a:pPr marL="0" indent="0" algn="l">
              <a:buNone/>
            </a:pPr>
            <a:r>
              <a:rPr lang="en-US" sz="1300" b="1" dirty="0">
                <a:solidFill>
                  <a:srgbClr val="0B2341"/>
                </a:solidFill>
                <a:latin typeface="Times New Roman Regular" panose="02020503050405090304" charset="0"/>
                <a:ea typeface="Aptos" pitchFamily="34" charset="-122"/>
                <a:cs typeface="Times New Roman Regular" panose="02020503050405090304" charset="0"/>
              </a:rPr>
              <a:t>Old local-gap task</a:t>
            </a:r>
            <a:endParaRPr lang="en-US" sz="1300" b="1" dirty="0">
              <a:solidFill>
                <a:srgbClr val="0B2341"/>
              </a:solidFill>
              <a:latin typeface="Times New Roman Regular" panose="02020503050405090304" charset="0"/>
              <a:ea typeface="Aptos" pitchFamily="34" charset="-122"/>
              <a:cs typeface="Times New Roman Regular" panose="02020503050405090304" charset="0"/>
            </a:endParaRPr>
          </a:p>
        </p:txBody>
      </p:sp>
      <p:sp>
        <p:nvSpPr>
          <p:cNvPr id="9" name="Text 6"/>
          <p:cNvSpPr/>
          <p:nvPr/>
        </p:nvSpPr>
        <p:spPr>
          <a:xfrm>
            <a:off x="6263640" y="1325880"/>
            <a:ext cx="4937760" cy="960120"/>
          </a:xfrm>
          <a:prstGeom prst="rect">
            <a:avLst/>
          </a:prstGeom>
          <a:noFill/>
        </p:spPr>
        <p:txBody>
          <a:bodyPr wrap="square" lIns="635" tIns="635" rIns="635" bIns="635" rtlCol="0" anchor="ctr">
            <a:normAutofit/>
          </a:bodyPr>
          <a:lstStyle/>
          <a:p>
            <a:r>
              <a:rPr lang="en-US" sz="1080" dirty="0">
                <a:solidFill>
                  <a:srgbClr val="1F2328"/>
                </a:solidFill>
                <a:latin typeface="Times New Roman Regular" panose="02020503050405090304" charset="0"/>
                <a:ea typeface="Aptos" pitchFamily="34" charset="-122"/>
                <a:cs typeface="Times New Roman Regular" panose="02020503050405090304" charset="0"/>
              </a:rPr>
              <a:t>Frames 8–11 were removed, but prefix, suffix, and both boundary points stayed visible.</a:t>
            </a:r>
            <a:endParaRPr lang="en-US" sz="1080" dirty="0">
              <a:latin typeface="Times New Roman Regular" panose="02020503050405090304" charset="0"/>
              <a:cs typeface="Times New Roman Regular" panose="02020503050405090304" charset="0"/>
            </a:endParaRPr>
          </a:p>
          <a:p>
            <a:r>
              <a:rPr lang="en-US" sz="1080" dirty="0">
                <a:solidFill>
                  <a:srgbClr val="1F2328"/>
                </a:solidFill>
                <a:latin typeface="Times New Roman Regular" panose="02020503050405090304" charset="0"/>
                <a:ea typeface="Aptos" pitchFamily="34" charset="-122"/>
                <a:cs typeface="Times New Roman Regular" panose="02020503050405090304" charset="0"/>
              </a:rPr>
              <a:t>Linear interpolation therefore solved a boundary-anchored bridge problem.</a:t>
            </a:r>
            <a:endParaRPr lang="en-US" sz="1080" dirty="0">
              <a:latin typeface="Times New Roman Regular" panose="02020503050405090304" charset="0"/>
              <a:cs typeface="Times New Roman Regular" panose="02020503050405090304" charset="0"/>
            </a:endParaRPr>
          </a:p>
          <a:p>
            <a:r>
              <a:rPr lang="en-US" sz="1080" dirty="0">
                <a:solidFill>
                  <a:srgbClr val="1F2328"/>
                </a:solidFill>
                <a:latin typeface="Times New Roman Regular" panose="02020503050405090304" charset="0"/>
                <a:ea typeface="Aptos" pitchFamily="34" charset="-122"/>
                <a:cs typeface="Times New Roman Regular" panose="02020503050405090304" charset="0"/>
              </a:rPr>
              <a:t>The unconditional DDPM had no mask, no endpoint constraint, and no observation channel.</a:t>
            </a:r>
            <a:endParaRPr lang="en-US" sz="1080" dirty="0">
              <a:latin typeface="Times New Roman Regular" panose="02020503050405090304" charset="0"/>
              <a:cs typeface="Times New Roman Regular" panose="02020503050405090304" charset="0"/>
            </a:endParaRPr>
          </a:p>
        </p:txBody>
      </p:sp>
      <p:sp>
        <p:nvSpPr>
          <p:cNvPr id="10" name="Shape 7"/>
          <p:cNvSpPr/>
          <p:nvPr/>
        </p:nvSpPr>
        <p:spPr>
          <a:xfrm>
            <a:off x="6263640" y="2487168"/>
            <a:ext cx="4892040" cy="685800"/>
          </a:xfrm>
          <a:prstGeom prst="roundRect">
            <a:avLst>
              <a:gd name="adj" fmla="val 10667"/>
            </a:avLst>
          </a:prstGeom>
          <a:solidFill>
            <a:srgbClr val="FFF9EB"/>
          </a:solidFill>
          <a:ln w="13970">
            <a:solidFill>
              <a:srgbClr val="F2B84B"/>
            </a:solidFill>
            <a:prstDash val="solid"/>
          </a:ln>
        </p:spPr>
      </p:sp>
      <p:sp>
        <p:nvSpPr>
          <p:cNvPr id="11" name="Text 8"/>
          <p:cNvSpPr/>
          <p:nvPr/>
        </p:nvSpPr>
        <p:spPr>
          <a:xfrm>
            <a:off x="6473952" y="2624328"/>
            <a:ext cx="1280160" cy="164592"/>
          </a:xfrm>
          <a:prstGeom prst="rect">
            <a:avLst/>
          </a:prstGeom>
          <a:noFill/>
        </p:spPr>
        <p:txBody>
          <a:bodyPr wrap="square" lIns="635" tIns="635" rIns="635" bIns="635" rtlCol="0" anchor="t">
            <a:noAutofit/>
          </a:bodyPr>
          <a:lstStyle/>
          <a:p>
            <a:pPr marL="0" indent="0" algn="l">
              <a:buNone/>
            </a:pPr>
            <a:r>
              <a:rPr lang="en-US" sz="1200" b="1" dirty="0">
                <a:solidFill>
                  <a:srgbClr val="0B2341"/>
                </a:solidFill>
                <a:effectLst/>
                <a:latin typeface="Times New Roman Regular" panose="02020503050405090304" charset="0"/>
                <a:ea typeface="Aptos" pitchFamily="34" charset="-122"/>
                <a:cs typeface="Times New Roman Regular" panose="02020503050405090304" charset="0"/>
              </a:rPr>
              <a:t>Corrected </a:t>
            </a:r>
            <a:r>
              <a:rPr lang="en-US" sz="1200" b="1" dirty="0">
                <a:solidFill>
                  <a:srgbClr val="0B2341"/>
                </a:solidFill>
                <a:latin typeface="Times New Roman Regular" panose="02020503050405090304" charset="0"/>
                <a:ea typeface="Aptos" pitchFamily="34" charset="-122"/>
                <a:cs typeface="Times New Roman Regular" panose="02020503050405090304" charset="0"/>
              </a:rPr>
              <a:t>task</a:t>
            </a:r>
            <a:endParaRPr lang="en-US" sz="1200" b="1" dirty="0">
              <a:solidFill>
                <a:srgbClr val="0B2341"/>
              </a:solidFill>
              <a:latin typeface="Times New Roman Regular" panose="02020503050405090304" charset="0"/>
              <a:ea typeface="Aptos" pitchFamily="34" charset="-122"/>
              <a:cs typeface="Times New Roman Regular" panose="02020503050405090304" charset="0"/>
            </a:endParaRPr>
          </a:p>
        </p:txBody>
      </p:sp>
      <p:sp>
        <p:nvSpPr>
          <p:cNvPr id="12" name="Text 9"/>
          <p:cNvSpPr/>
          <p:nvPr/>
        </p:nvSpPr>
        <p:spPr>
          <a:xfrm>
            <a:off x="7863840" y="2551176"/>
            <a:ext cx="2880360" cy="347472"/>
          </a:xfrm>
          <a:prstGeom prst="rect">
            <a:avLst/>
          </a:prstGeom>
          <a:noFill/>
        </p:spPr>
        <p:txBody>
          <a:bodyPr wrap="square" lIns="635" tIns="635" rIns="635" bIns="635" rtlCol="0" anchor="t">
            <a:noAutofit/>
          </a:bodyPr>
          <a:lstStyle/>
          <a:p>
            <a:pPr marL="0" indent="0" algn="l">
              <a:buNone/>
            </a:pPr>
            <a:r>
              <a:rPr lang="en-US" sz="1200" dirty="0">
                <a:solidFill>
                  <a:srgbClr val="1F2328"/>
                </a:solidFill>
                <a:latin typeface="Times New Roman Regular" panose="02020503050405090304" charset="0"/>
                <a:ea typeface="Aptos" pitchFamily="34" charset="-122"/>
                <a:cs typeface="Times New Roman Regular" panose="02020503050405090304" charset="0"/>
              </a:rPr>
              <a:t>Complete degraded trajectory → refined full trajectory; evaluated against the paired clean reference.</a:t>
            </a:r>
            <a:endParaRPr lang="en-US" sz="1200" dirty="0">
              <a:solidFill>
                <a:srgbClr val="1F2328"/>
              </a:solidFill>
              <a:latin typeface="Times New Roman Regular" panose="02020503050405090304" charset="0"/>
              <a:ea typeface="Aptos" pitchFamily="34" charset="-122"/>
              <a:cs typeface="Times New Roman Regular" panose="02020503050405090304" charset="0"/>
            </a:endParaRPr>
          </a:p>
        </p:txBody>
      </p:sp>
      <p:sp>
        <p:nvSpPr>
          <p:cNvPr id="13" name="Text 10"/>
          <p:cNvSpPr/>
          <p:nvPr/>
        </p:nvSpPr>
        <p:spPr>
          <a:xfrm>
            <a:off x="713232" y="3886200"/>
            <a:ext cx="2926080" cy="201168"/>
          </a:xfrm>
          <a:prstGeom prst="rect">
            <a:avLst/>
          </a:prstGeom>
          <a:noFill/>
        </p:spPr>
        <p:txBody>
          <a:bodyPr wrap="square" lIns="635" tIns="635" rIns="635" bIns="635" rtlCol="0" anchor="t">
            <a:noAutofit/>
          </a:bodyPr>
          <a:lstStyle/>
          <a:p>
            <a:pPr marL="0" indent="0" algn="l">
              <a:buNone/>
            </a:pPr>
            <a:r>
              <a:rPr lang="en-US" sz="1400" b="1" dirty="0">
                <a:solidFill>
                  <a:srgbClr val="0B2341"/>
                </a:solidFill>
                <a:latin typeface="Times New Roman Regular" panose="02020503050405090304" charset="0"/>
                <a:ea typeface="Aptos" pitchFamily="34" charset="-122"/>
                <a:cs typeface="Times New Roman Regular" panose="02020503050405090304" charset="0"/>
              </a:rPr>
              <a:t>Diagnostic result from the old task</a:t>
            </a:r>
            <a:endParaRPr lang="en-US" sz="1400" b="1" dirty="0">
              <a:solidFill>
                <a:srgbClr val="0B2341"/>
              </a:solidFill>
              <a:latin typeface="Times New Roman Regular" panose="02020503050405090304" charset="0"/>
              <a:ea typeface="Aptos" pitchFamily="34" charset="-122"/>
              <a:cs typeface="Times New Roman Regular" panose="02020503050405090304" charset="0"/>
            </a:endParaRPr>
          </a:p>
        </p:txBody>
      </p:sp>
      <p:graphicFrame>
        <p:nvGraphicFramePr>
          <p:cNvPr id="14" name="Table 0"/>
          <p:cNvGraphicFramePr>
            <a:graphicFrameLocks noGrp="1"/>
          </p:cNvGraphicFramePr>
          <p:nvPr/>
        </p:nvGraphicFramePr>
        <p:xfrm>
          <a:off x="713232" y="4187952"/>
          <a:ext cx="5257800" cy="1570355"/>
        </p:xfrm>
        <a:graphic>
          <a:graphicData uri="http://schemas.openxmlformats.org/drawingml/2006/table">
            <a:tbl>
              <a:tblPr/>
              <a:tblGrid>
                <a:gridCol w="1737360"/>
                <a:gridCol w="1188720"/>
                <a:gridCol w="1188720"/>
                <a:gridCol w="1143000"/>
              </a:tblGrid>
              <a:tr h="313944">
                <a:tc>
                  <a:txBody>
                    <a:bodyPr/>
                    <a:lstStyle/>
                    <a:p>
                      <a:pPr marL="0" indent="0">
                        <a:buNone/>
                      </a:pPr>
                      <a:r>
                        <a:rPr lang="en-US" sz="980" b="1" dirty="0">
                          <a:solidFill>
                            <a:srgbClr val="FFFFFF"/>
                          </a:solidFill>
                          <a:latin typeface="Times New Roman Regular" panose="02020503050405090304" charset="0"/>
                          <a:ea typeface="Aptos" pitchFamily="34" charset="-122"/>
                          <a:cs typeface="Times New Roman Regular" panose="02020503050405090304" charset="0"/>
                        </a:rPr>
                        <a:t>Method</a:t>
                      </a:r>
                      <a:endParaRPr lang="en-US" sz="980" b="1" dirty="0">
                        <a:solidFill>
                          <a:srgbClr val="FFFFFF"/>
                        </a:solidFill>
                        <a:latin typeface="Times New Roman Regular" panose="02020503050405090304" charset="0"/>
                        <a:ea typeface="Aptos" pitchFamily="34" charset="-122"/>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c>
                  <a:txBody>
                    <a:bodyPr/>
                    <a:lstStyle/>
                    <a:p>
                      <a:pPr marL="0" indent="0">
                        <a:buNone/>
                      </a:pPr>
                      <a:r>
                        <a:rPr lang="en-US" sz="980" b="1" dirty="0">
                          <a:solidFill>
                            <a:srgbClr val="FFFFFF"/>
                          </a:solidFill>
                          <a:latin typeface="Times New Roman Regular" panose="02020503050405090304" charset="0"/>
                          <a:ea typeface="Aptos" pitchFamily="34" charset="-122"/>
                          <a:cs typeface="Times New Roman Regular" panose="02020503050405090304" charset="0"/>
                        </a:rPr>
                        <a:t>ADE</a:t>
                      </a:r>
                      <a:endParaRPr lang="en-US" sz="980" b="1" dirty="0">
                        <a:solidFill>
                          <a:srgbClr val="FFFFFF"/>
                        </a:solidFill>
                        <a:latin typeface="Times New Roman Regular" panose="02020503050405090304" charset="0"/>
                        <a:ea typeface="Aptos" pitchFamily="34" charset="-122"/>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c>
                  <a:txBody>
                    <a:bodyPr/>
                    <a:lstStyle/>
                    <a:p>
                      <a:pPr marL="0" indent="0">
                        <a:buNone/>
                      </a:pPr>
                      <a:r>
                        <a:rPr lang="en-US" sz="980" b="1" dirty="0">
                          <a:solidFill>
                            <a:srgbClr val="FFFFFF"/>
                          </a:solidFill>
                          <a:latin typeface="Times New Roman Regular" panose="02020503050405090304" charset="0"/>
                          <a:ea typeface="Aptos" pitchFamily="34" charset="-122"/>
                          <a:cs typeface="Times New Roman Regular" panose="02020503050405090304" charset="0"/>
                        </a:rPr>
                        <a:t>RMSE</a:t>
                      </a:r>
                      <a:endParaRPr lang="en-US" sz="980" b="1" dirty="0">
                        <a:solidFill>
                          <a:srgbClr val="FFFFFF"/>
                        </a:solidFill>
                        <a:latin typeface="Times New Roman Regular" panose="02020503050405090304" charset="0"/>
                        <a:ea typeface="Aptos" pitchFamily="34" charset="-122"/>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c>
                  <a:txBody>
                    <a:bodyPr/>
                    <a:lstStyle/>
                    <a:p>
                      <a:pPr marL="0" indent="0">
                        <a:buNone/>
                      </a:pPr>
                      <a:r>
                        <a:rPr lang="en-US" sz="980" b="1" dirty="0">
                          <a:solidFill>
                            <a:srgbClr val="FFFFFF"/>
                          </a:solidFill>
                          <a:latin typeface="Times New Roman Regular" panose="02020503050405090304" charset="0"/>
                          <a:ea typeface="Aptos" pitchFamily="34" charset="-122"/>
                          <a:cs typeface="Times New Roman Regular" panose="02020503050405090304" charset="0"/>
                        </a:rPr>
                        <a:t>Masked ADE</a:t>
                      </a:r>
                      <a:endParaRPr lang="en-US" sz="980" b="1" dirty="0">
                        <a:solidFill>
                          <a:srgbClr val="FFFFFF"/>
                        </a:solidFill>
                        <a:latin typeface="Times New Roman Regular" panose="02020503050405090304" charset="0"/>
                        <a:ea typeface="Aptos" pitchFamily="34" charset="-122"/>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r>
              <a:tr h="314325">
                <a:tc>
                  <a:txBody>
                    <a:bodyPr/>
                    <a:lstStyle/>
                    <a:p>
                      <a:pPr marL="0" indent="0">
                        <a:buNone/>
                      </a:pPr>
                      <a:r>
                        <a:rPr lang="en-US" sz="980" dirty="0">
                          <a:solidFill>
                            <a:srgbClr val="1F2328"/>
                          </a:solidFill>
                          <a:latin typeface="Times New Roman Regular" panose="02020503050405090304" charset="0"/>
                          <a:ea typeface="Aptos" pitchFamily="34" charset="-122"/>
                          <a:cs typeface="Times New Roman Regular" panose="02020503050405090304" charset="0"/>
                        </a:rPr>
                        <a:t>Linear interpolation</a:t>
                      </a:r>
                      <a:endParaRPr lang="en-US" sz="980" dirty="0">
                        <a:solidFill>
                          <a:srgbClr val="1F2328"/>
                        </a:solidFill>
                        <a:latin typeface="Times New Roman Regular" panose="02020503050405090304" charset="0"/>
                        <a:ea typeface="Aptos" pitchFamily="34" charset="-122"/>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980" dirty="0">
                          <a:solidFill>
                            <a:srgbClr val="1F2328"/>
                          </a:solidFill>
                          <a:latin typeface="Times New Roman Regular" panose="02020503050405090304" charset="0"/>
                          <a:ea typeface="Aptos" pitchFamily="34" charset="-122"/>
                          <a:cs typeface="Times New Roman Regular" panose="02020503050405090304" charset="0"/>
                        </a:rPr>
                        <a:t>0.0026 ± 0.0026</a:t>
                      </a:r>
                      <a:endParaRPr lang="en-US" sz="980" dirty="0">
                        <a:solidFill>
                          <a:srgbClr val="1F2328"/>
                        </a:solidFill>
                        <a:latin typeface="Times New Roman Regular" panose="02020503050405090304" charset="0"/>
                        <a:ea typeface="Aptos" pitchFamily="34" charset="-122"/>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980" dirty="0">
                          <a:solidFill>
                            <a:srgbClr val="1F2328"/>
                          </a:solidFill>
                          <a:latin typeface="Times New Roman Regular" panose="02020503050405090304" charset="0"/>
                          <a:ea typeface="Aptos" pitchFamily="34" charset="-122"/>
                          <a:cs typeface="Times New Roman Regular" panose="02020503050405090304" charset="0"/>
                        </a:rPr>
                        <a:t>0.0061 ± 0.0061</a:t>
                      </a:r>
                      <a:endParaRPr lang="en-US" sz="980" dirty="0">
                        <a:solidFill>
                          <a:srgbClr val="1F2328"/>
                        </a:solidFill>
                        <a:latin typeface="Times New Roman Regular" panose="02020503050405090304" charset="0"/>
                        <a:ea typeface="Aptos" pitchFamily="34" charset="-122"/>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980" dirty="0">
                          <a:solidFill>
                            <a:srgbClr val="1F2328"/>
                          </a:solidFill>
                          <a:latin typeface="Times New Roman Regular" panose="02020503050405090304" charset="0"/>
                          <a:ea typeface="Aptos" pitchFamily="34" charset="-122"/>
                          <a:cs typeface="Times New Roman Regular" panose="02020503050405090304" charset="0"/>
                        </a:rPr>
                        <a:t>0.0129 ± 0.0130</a:t>
                      </a:r>
                      <a:endParaRPr lang="en-US" sz="980" dirty="0">
                        <a:solidFill>
                          <a:srgbClr val="1F2328"/>
                        </a:solidFill>
                        <a:latin typeface="Times New Roman Regular" panose="02020503050405090304" charset="0"/>
                        <a:ea typeface="Aptos" pitchFamily="34" charset="-122"/>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314325">
                <a:tc>
                  <a:txBody>
                    <a:bodyPr/>
                    <a:p>
                      <a:pPr marL="0" indent="0">
                        <a:buNone/>
                      </a:pPr>
                      <a:r>
                        <a:rPr lang="en-US" altLang="en-US" sz="980" dirty="0">
                          <a:latin typeface="Times New Roman Regular" panose="02020503050405090304" charset="0"/>
                          <a:ea typeface="Aptos" pitchFamily="34" charset="0"/>
                          <a:cs typeface="Times New Roman Regular" panose="02020503050405090304" charset="0"/>
                        </a:rPr>
                        <a:t>Savitzky-Golay</a:t>
                      </a:r>
                      <a:endParaRPr lang="en-US" altLang="en-US" sz="980" dirty="0">
                        <a:latin typeface="Times New Roman Regular" panose="02020503050405090304" charset="0"/>
                        <a:ea typeface="Aptos" pitchFamily="34" charset="0"/>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altLang="en-US" sz="980" dirty="0">
                          <a:latin typeface="Times New Roman Regular" panose="02020503050405090304" charset="0"/>
                          <a:ea typeface="Aptos" pitchFamily="34" charset="0"/>
                          <a:cs typeface="Times New Roman Regular" panose="02020503050405090304" charset="0"/>
                        </a:rPr>
                        <a:t>0.0046 ± 0.0039</a:t>
                      </a:r>
                      <a:endParaRPr lang="en-US" altLang="en-US" sz="980" dirty="0">
                        <a:latin typeface="Times New Roman Regular" panose="02020503050405090304" charset="0"/>
                        <a:ea typeface="Aptos" pitchFamily="34" charset="0"/>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altLang="en-US" sz="980" dirty="0">
                          <a:latin typeface="Times New Roman Regular" panose="02020503050405090304" charset="0"/>
                          <a:ea typeface="Aptos" pitchFamily="34" charset="0"/>
                          <a:cs typeface="Times New Roman Regular" panose="02020503050405090304" charset="0"/>
                        </a:rPr>
                        <a:t>0.0071 ± 0.0062</a:t>
                      </a:r>
                      <a:endParaRPr lang="en-US" altLang="en-US" sz="980" dirty="0">
                        <a:latin typeface="Times New Roman Regular" panose="02020503050405090304" charset="0"/>
                        <a:ea typeface="Aptos" pitchFamily="34" charset="0"/>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altLang="en-US" sz="980" dirty="0">
                          <a:latin typeface="Times New Roman Regular" panose="02020503050405090304" charset="0"/>
                          <a:ea typeface="Aptos" pitchFamily="34" charset="0"/>
                          <a:cs typeface="Times New Roman Regular" panose="02020503050405090304" charset="0"/>
                        </a:rPr>
                        <a:t>0.0126 ± 0.0127</a:t>
                      </a:r>
                      <a:endParaRPr lang="en-US" altLang="en-US" sz="980" dirty="0">
                        <a:latin typeface="Times New Roman Regular" panose="02020503050405090304" charset="0"/>
                        <a:ea typeface="Aptos" pitchFamily="34" charset="0"/>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313944">
                <a:tc>
                  <a:txBody>
                    <a:bodyPr/>
                    <a:p>
                      <a:pPr marL="0" indent="0">
                        <a:buNone/>
                      </a:pPr>
                      <a:r>
                        <a:rPr lang="en-US" altLang="en-US" sz="980" dirty="0">
                          <a:latin typeface="Times New Roman Regular" panose="02020503050405090304" charset="0"/>
                          <a:ea typeface="Aptos" pitchFamily="34" charset="0"/>
                          <a:cs typeface="Times New Roman Regular" panose="02020503050405090304" charset="0"/>
                        </a:rPr>
                        <a:t>Kalman CV</a:t>
                      </a:r>
                      <a:endParaRPr lang="en-US" altLang="en-US" sz="980" dirty="0">
                        <a:latin typeface="Times New Roman Regular" panose="02020503050405090304" charset="0"/>
                        <a:ea typeface="Aptos" pitchFamily="34" charset="0"/>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altLang="en-US" sz="980" dirty="0">
                          <a:latin typeface="Times New Roman Regular" panose="02020503050405090304" charset="0"/>
                          <a:ea typeface="Aptos" pitchFamily="34" charset="0"/>
                          <a:cs typeface="Times New Roman Regular" panose="02020503050405090304" charset="0"/>
                        </a:rPr>
                        <a:t>0.0138 ± 0.0102</a:t>
                      </a:r>
                      <a:endParaRPr lang="en-US" altLang="en-US" sz="980" dirty="0">
                        <a:latin typeface="Times New Roman Regular" panose="02020503050405090304" charset="0"/>
                        <a:ea typeface="Aptos" pitchFamily="34" charset="0"/>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altLang="en-US" sz="980" dirty="0">
                          <a:latin typeface="Times New Roman Regular" panose="02020503050405090304" charset="0"/>
                          <a:ea typeface="Aptos" pitchFamily="34" charset="0"/>
                          <a:cs typeface="Times New Roman Regular" panose="02020503050405090304" charset="0"/>
                        </a:rPr>
                        <a:t>0.0230 ± 0.0189</a:t>
                      </a:r>
                      <a:endParaRPr lang="en-US" altLang="en-US" sz="980" dirty="0">
                        <a:latin typeface="Times New Roman Regular" panose="02020503050405090304" charset="0"/>
                        <a:ea typeface="Aptos" pitchFamily="34" charset="0"/>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altLang="en-US" sz="980" dirty="0">
                          <a:latin typeface="Times New Roman Regular" panose="02020503050405090304" charset="0"/>
                          <a:ea typeface="Aptos" pitchFamily="34" charset="0"/>
                          <a:cs typeface="Times New Roman Regular" panose="02020503050405090304" charset="0"/>
                        </a:rPr>
                        <a:t>0.0422 ± 0.0387</a:t>
                      </a:r>
                      <a:endParaRPr lang="en-US" altLang="en-US" sz="980" dirty="0">
                        <a:latin typeface="Times New Roman Regular" panose="02020503050405090304" charset="0"/>
                        <a:ea typeface="Aptos" pitchFamily="34" charset="0"/>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313944">
                <a:tc>
                  <a:txBody>
                    <a:bodyPr/>
                    <a:lstStyle/>
                    <a:p>
                      <a:pPr marL="0" indent="0">
                        <a:buNone/>
                      </a:pPr>
                      <a:r>
                        <a:rPr lang="en-US" sz="980" dirty="0">
                          <a:solidFill>
                            <a:srgbClr val="1F2328"/>
                          </a:solidFill>
                          <a:latin typeface="Times New Roman Regular" panose="02020503050405090304" charset="0"/>
                          <a:ea typeface="Aptos" pitchFamily="34" charset="-122"/>
                          <a:cs typeface="Times New Roman Regular" panose="02020503050405090304" charset="0"/>
                        </a:rPr>
                        <a:t>Uncond. DDPM inpainting</a:t>
                      </a:r>
                      <a:endParaRPr lang="en-US" sz="980" dirty="0">
                        <a:solidFill>
                          <a:srgbClr val="1F2328"/>
                        </a:solidFill>
                        <a:latin typeface="Times New Roman Regular" panose="02020503050405090304" charset="0"/>
                        <a:ea typeface="Aptos" pitchFamily="34" charset="-122"/>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980" dirty="0">
                          <a:solidFill>
                            <a:srgbClr val="1F2328"/>
                          </a:solidFill>
                          <a:latin typeface="Times New Roman Regular" panose="02020503050405090304" charset="0"/>
                          <a:ea typeface="Aptos" pitchFamily="34" charset="-122"/>
                          <a:cs typeface="Times New Roman Regular" panose="02020503050405090304" charset="0"/>
                        </a:rPr>
                        <a:t>0.1196 ± 0.1160</a:t>
                      </a:r>
                      <a:endParaRPr lang="en-US" sz="980" dirty="0">
                        <a:solidFill>
                          <a:srgbClr val="1F2328"/>
                        </a:solidFill>
                        <a:latin typeface="Times New Roman Regular" panose="02020503050405090304" charset="0"/>
                        <a:ea typeface="Aptos" pitchFamily="34" charset="-122"/>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980" dirty="0">
                          <a:solidFill>
                            <a:srgbClr val="1F2328"/>
                          </a:solidFill>
                          <a:latin typeface="Times New Roman Regular" panose="02020503050405090304" charset="0"/>
                          <a:ea typeface="Aptos" pitchFamily="34" charset="-122"/>
                          <a:cs typeface="Times New Roman Regular" panose="02020503050405090304" charset="0"/>
                        </a:rPr>
                        <a:t>0.1626 ± 0.1579</a:t>
                      </a:r>
                      <a:endParaRPr lang="en-US" sz="980" dirty="0">
                        <a:solidFill>
                          <a:srgbClr val="1F2328"/>
                        </a:solidFill>
                        <a:latin typeface="Times New Roman Regular" panose="02020503050405090304" charset="0"/>
                        <a:ea typeface="Aptos" pitchFamily="34" charset="-122"/>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980" dirty="0">
                          <a:solidFill>
                            <a:srgbClr val="1F2328"/>
                          </a:solidFill>
                          <a:latin typeface="Times New Roman Regular" panose="02020503050405090304" charset="0"/>
                          <a:ea typeface="Aptos" pitchFamily="34" charset="-122"/>
                          <a:cs typeface="Times New Roman Regular" panose="02020503050405090304" charset="0"/>
                        </a:rPr>
                        <a:t>0.1238 ± 0.1195</a:t>
                      </a:r>
                      <a:endParaRPr lang="en-US" sz="980" dirty="0">
                        <a:solidFill>
                          <a:srgbClr val="1F2328"/>
                        </a:solidFill>
                        <a:latin typeface="Times New Roman Regular" panose="02020503050405090304" charset="0"/>
                        <a:ea typeface="Aptos" pitchFamily="34" charset="-122"/>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bl>
          </a:graphicData>
        </a:graphic>
      </p:graphicFrame>
      <p:sp>
        <p:nvSpPr>
          <p:cNvPr id="15" name="Shape 11"/>
          <p:cNvSpPr/>
          <p:nvPr/>
        </p:nvSpPr>
        <p:spPr>
          <a:xfrm>
            <a:off x="6263640" y="4069080"/>
            <a:ext cx="4892040" cy="1078992"/>
          </a:xfrm>
          <a:prstGeom prst="roundRect">
            <a:avLst>
              <a:gd name="adj" fmla="val 6780"/>
            </a:avLst>
          </a:prstGeom>
          <a:solidFill>
            <a:srgbClr val="F6FAFF"/>
          </a:solidFill>
          <a:ln w="13970">
            <a:solidFill>
              <a:srgbClr val="9BBCE3"/>
            </a:solidFill>
            <a:prstDash val="solid"/>
          </a:ln>
        </p:spPr>
      </p:sp>
      <p:sp>
        <p:nvSpPr>
          <p:cNvPr id="16" name="Text 12"/>
          <p:cNvSpPr/>
          <p:nvPr/>
        </p:nvSpPr>
        <p:spPr>
          <a:xfrm>
            <a:off x="6473952" y="4157726"/>
            <a:ext cx="1463040" cy="164592"/>
          </a:xfrm>
          <a:prstGeom prst="rect">
            <a:avLst/>
          </a:prstGeom>
          <a:noFill/>
        </p:spPr>
        <p:txBody>
          <a:bodyPr wrap="square" lIns="635" tIns="635" rIns="635" bIns="635" rtlCol="0" anchor="t">
            <a:normAutofit/>
          </a:bodyPr>
          <a:lstStyle/>
          <a:p>
            <a:pPr marL="0" indent="0" algn="l">
              <a:buNone/>
            </a:pPr>
            <a:r>
              <a:rPr lang="en-US" sz="1020" b="1" dirty="0">
                <a:solidFill>
                  <a:srgbClr val="0B2341"/>
                </a:solidFill>
                <a:latin typeface="Times New Roman Regular" panose="02020503050405090304" charset="0"/>
                <a:ea typeface="Aptos" pitchFamily="34" charset="-122"/>
                <a:cs typeface="Times New Roman Regular" panose="02020503050405090304" charset="0"/>
              </a:rPr>
              <a:t>Working hypothesis</a:t>
            </a:r>
            <a:endParaRPr lang="en-US" sz="1020" b="1" dirty="0">
              <a:solidFill>
                <a:srgbClr val="0B2341"/>
              </a:solidFill>
              <a:latin typeface="Times New Roman Regular" panose="02020503050405090304" charset="0"/>
              <a:ea typeface="Aptos" pitchFamily="34" charset="-122"/>
              <a:cs typeface="Times New Roman Regular" panose="02020503050405090304" charset="0"/>
            </a:endParaRPr>
          </a:p>
        </p:txBody>
      </p:sp>
      <p:sp>
        <p:nvSpPr>
          <p:cNvPr id="17" name="Text 13"/>
          <p:cNvSpPr/>
          <p:nvPr/>
        </p:nvSpPr>
        <p:spPr>
          <a:xfrm>
            <a:off x="6473952" y="4453382"/>
            <a:ext cx="4343400" cy="402336"/>
          </a:xfrm>
          <a:prstGeom prst="rect">
            <a:avLst/>
          </a:prstGeom>
          <a:noFill/>
        </p:spPr>
        <p:txBody>
          <a:bodyPr wrap="square" lIns="635" tIns="635" rIns="635" bIns="635" rtlCol="0" anchor="t"/>
          <a:lstStyle/>
          <a:p>
            <a:pPr marL="0" indent="0" algn="l">
              <a:buNone/>
            </a:pPr>
            <a:r>
              <a:rPr lang="en-US" sz="1200" dirty="0">
                <a:solidFill>
                  <a:srgbClr val="1F2328"/>
                </a:solidFill>
                <a:latin typeface="Times New Roman Regular" panose="02020503050405090304" charset="0"/>
                <a:ea typeface="Aptos" pitchFamily="34" charset="-122"/>
                <a:cs typeface="Times New Roman Regular" panose="02020503050405090304" charset="0"/>
              </a:rPr>
              <a:t>When the whole trajectory is corrupted, does observation-conditioned DDPM provide a better refinement interface than prior-only DDPM editing?</a:t>
            </a:r>
            <a:endParaRPr lang="en-US" sz="1200" dirty="0">
              <a:solidFill>
                <a:srgbClr val="1F2328"/>
              </a:solidFill>
              <a:latin typeface="Times New Roman Regular" panose="02020503050405090304" charset="0"/>
              <a:ea typeface="Aptos" pitchFamily="34" charset="-122"/>
              <a:cs typeface="Times New Roman Regular" panose="0202050305040509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8046720" cy="347472"/>
          </a:xfrm>
          <a:prstGeom prst="rect">
            <a:avLst/>
          </a:prstGeom>
          <a:noFill/>
        </p:spPr>
        <p:txBody>
          <a:bodyPr wrap="square" lIns="0" tIns="0" rIns="0" bIns="0" rtlCol="0" anchor="ctr"/>
          <a:lstStyle/>
          <a:p>
            <a:pPr marL="0" indent="0">
              <a:buNone/>
            </a:pPr>
            <a:r>
              <a:rPr lang="en-US" sz="2200" b="1" dirty="0">
                <a:solidFill>
                  <a:srgbClr val="0B2341"/>
                </a:solidFill>
                <a:latin typeface="Times New Roman Regular" panose="02020503050405090304" charset="0"/>
                <a:ea typeface="Aptos" pitchFamily="34" charset="-122"/>
                <a:cs typeface="Times New Roman Regular" panose="02020503050405090304" charset="0"/>
              </a:rPr>
              <a:t>Evaluation framework: paired full-trajectory recovery</a:t>
            </a:r>
            <a:endParaRPr lang="en-US" sz="2200" b="1" dirty="0">
              <a:solidFill>
                <a:srgbClr val="0B2341"/>
              </a:solidFill>
              <a:latin typeface="Times New Roman Regular" panose="02020503050405090304" charset="0"/>
              <a:ea typeface="Aptos" pitchFamily="34" charset="-122"/>
              <a:cs typeface="Times New Roman Regular" panose="02020503050405090304" charset="0"/>
            </a:endParaRPr>
          </a:p>
        </p:txBody>
      </p:sp>
      <p:sp>
        <p:nvSpPr>
          <p:cNvPr id="4" name="Text 2"/>
          <p:cNvSpPr/>
          <p:nvPr/>
        </p:nvSpPr>
        <p:spPr>
          <a:xfrm>
            <a:off x="10287000" y="347472"/>
            <a:ext cx="1371600" cy="237744"/>
          </a:xfrm>
          <a:prstGeom prst="rect">
            <a:avLst/>
          </a:prstGeom>
          <a:noFill/>
        </p:spPr>
        <p:txBody>
          <a:bodyPr wrap="square" lIns="0" tIns="0" rIns="0" bIns="0" rtlCol="0" anchor="ctr"/>
          <a:lstStyle/>
          <a:p>
            <a:pPr marL="0" indent="0" algn="r">
              <a:buNone/>
            </a:pPr>
            <a:r>
              <a:rPr lang="en-US" sz="900" dirty="0">
                <a:solidFill>
                  <a:srgbClr val="526171"/>
                </a:solidFill>
                <a:latin typeface="Times New Roman Regular" panose="02020503050405090304" charset="0"/>
                <a:ea typeface="Aptos" pitchFamily="34" charset="-122"/>
                <a:cs typeface="Times New Roman Regular" panose="02020503050405090304" charset="0"/>
              </a:rPr>
              <a:t>2 / 13</a:t>
            </a:r>
            <a:endParaRPr lang="en-US" sz="900" dirty="0">
              <a:solidFill>
                <a:srgbClr val="526171"/>
              </a:solidFill>
              <a:latin typeface="Times New Roman Regular" panose="02020503050405090304" charset="0"/>
              <a:ea typeface="Aptos" pitchFamily="34" charset="-122"/>
              <a:cs typeface="Times New Roman Regular" panose="02020503050405090304" charset="0"/>
            </a:endParaRPr>
          </a:p>
        </p:txBody>
      </p:sp>
      <p:sp>
        <p:nvSpPr>
          <p:cNvPr id="5" name="Shape 3"/>
          <p:cNvSpPr/>
          <p:nvPr/>
        </p:nvSpPr>
        <p:spPr>
          <a:xfrm>
            <a:off x="502920" y="768096"/>
            <a:ext cx="11173968" cy="0"/>
          </a:xfrm>
          <a:prstGeom prst="line">
            <a:avLst/>
          </a:prstGeom>
          <a:noFill/>
          <a:ln w="8890">
            <a:solidFill>
              <a:srgbClr val="D7DDE5"/>
            </a:solidFill>
            <a:prstDash val="solid"/>
          </a:ln>
        </p:spPr>
      </p:sp>
      <p:sp>
        <p:nvSpPr>
          <p:cNvPr id="6" name="Text 4"/>
          <p:cNvSpPr/>
          <p:nvPr/>
        </p:nvSpPr>
        <p:spPr>
          <a:xfrm>
            <a:off x="502920" y="6519672"/>
            <a:ext cx="6858000" cy="164592"/>
          </a:xfrm>
          <a:prstGeom prst="rect">
            <a:avLst/>
          </a:prstGeom>
          <a:noFill/>
        </p:spPr>
        <p:txBody>
          <a:bodyPr wrap="square" lIns="0" tIns="0" rIns="0" bIns="0" rtlCol="0" anchor="ctr"/>
          <a:lstStyle/>
          <a:p>
            <a:pPr marL="0" indent="0">
              <a:buNone/>
            </a:pPr>
            <a:r>
              <a:rPr lang="en-US" sz="850" dirty="0">
                <a:solidFill>
                  <a:srgbClr val="7B8794"/>
                </a:solidFill>
                <a:latin typeface="Times New Roman Regular" panose="02020503050405090304" charset="0"/>
                <a:ea typeface="Aptos" pitchFamily="34" charset="-122"/>
                <a:cs typeface="Times New Roman Regular" panose="02020503050405090304" charset="0"/>
              </a:rPr>
              <a:t>Stage 3 — DDPM-based Indoor Trajectory Refinement</a:t>
            </a:r>
            <a:endParaRPr lang="en-US" sz="850" dirty="0">
              <a:solidFill>
                <a:srgbClr val="7B8794"/>
              </a:solidFill>
              <a:latin typeface="Times New Roman Regular" panose="02020503050405090304" charset="0"/>
              <a:ea typeface="Aptos" pitchFamily="34" charset="-122"/>
              <a:cs typeface="Times New Roman Regular" panose="02020503050405090304" charset="0"/>
            </a:endParaRPr>
          </a:p>
        </p:txBody>
      </p:sp>
      <p:sp>
        <p:nvSpPr>
          <p:cNvPr id="7" name="Shape 5"/>
          <p:cNvSpPr/>
          <p:nvPr/>
        </p:nvSpPr>
        <p:spPr>
          <a:xfrm>
            <a:off x="694944" y="987552"/>
            <a:ext cx="10972800" cy="640080"/>
          </a:xfrm>
          <a:prstGeom prst="roundRect">
            <a:avLst>
              <a:gd name="adj" fmla="val 11429"/>
            </a:avLst>
          </a:prstGeom>
          <a:solidFill>
            <a:srgbClr val="FFF9EB"/>
          </a:solidFill>
          <a:ln w="13970">
            <a:solidFill>
              <a:srgbClr val="F2B84B"/>
            </a:solidFill>
            <a:prstDash val="solid"/>
          </a:ln>
        </p:spPr>
      </p:sp>
      <p:sp>
        <p:nvSpPr>
          <p:cNvPr id="8" name="Text 6"/>
          <p:cNvSpPr/>
          <p:nvPr/>
        </p:nvSpPr>
        <p:spPr>
          <a:xfrm>
            <a:off x="914400" y="1152144"/>
            <a:ext cx="1417320" cy="164592"/>
          </a:xfrm>
          <a:prstGeom prst="rect">
            <a:avLst/>
          </a:prstGeom>
          <a:noFill/>
        </p:spPr>
        <p:txBody>
          <a:bodyPr wrap="square" lIns="635" tIns="635" rIns="635" bIns="635" rtlCol="0" anchor="t">
            <a:noAutofit/>
          </a:bodyPr>
          <a:lstStyle/>
          <a:p>
            <a:pPr marL="0" indent="0" algn="l">
              <a:buNone/>
            </a:pPr>
            <a:r>
              <a:rPr lang="en-US" sz="1200" b="1" dirty="0">
                <a:solidFill>
                  <a:srgbClr val="0B2341"/>
                </a:solidFill>
                <a:latin typeface="Times New Roman Regular" panose="02020503050405090304" charset="0"/>
                <a:ea typeface="Aptos" pitchFamily="34" charset="-122"/>
                <a:cs typeface="Times New Roman Regular" panose="02020503050405090304" charset="0"/>
              </a:rPr>
              <a:t>Evaluation object</a:t>
            </a:r>
            <a:endParaRPr lang="en-US" sz="1200" b="1" dirty="0">
              <a:solidFill>
                <a:srgbClr val="0B2341"/>
              </a:solidFill>
              <a:latin typeface="Times New Roman Regular" panose="02020503050405090304" charset="0"/>
              <a:ea typeface="Aptos" pitchFamily="34" charset="-122"/>
              <a:cs typeface="Times New Roman Regular" panose="02020503050405090304" charset="0"/>
            </a:endParaRPr>
          </a:p>
        </p:txBody>
      </p:sp>
      <p:sp>
        <p:nvSpPr>
          <p:cNvPr id="9" name="Text 7"/>
          <p:cNvSpPr/>
          <p:nvPr/>
        </p:nvSpPr>
        <p:spPr>
          <a:xfrm>
            <a:off x="2468880" y="1078992"/>
            <a:ext cx="8595360" cy="310896"/>
          </a:xfrm>
          <a:prstGeom prst="rect">
            <a:avLst/>
          </a:prstGeom>
          <a:noFill/>
        </p:spPr>
        <p:txBody>
          <a:bodyPr wrap="square" lIns="635" tIns="635" rIns="635" bIns="635" rtlCol="0" anchor="t">
            <a:noAutofit/>
          </a:bodyPr>
          <a:lstStyle/>
          <a:p>
            <a:pPr marL="0" indent="0" algn="l">
              <a:buNone/>
            </a:pPr>
            <a:r>
              <a:rPr lang="en-US" sz="1400" dirty="0">
                <a:solidFill>
                  <a:srgbClr val="1F2328"/>
                </a:solidFill>
                <a:latin typeface="Times New Roman Regular" panose="02020503050405090304" charset="0"/>
                <a:ea typeface="Aptos" pitchFamily="34" charset="-122"/>
                <a:cs typeface="Times New Roman Regular" panose="02020503050405090304" charset="0"/>
              </a:rPr>
              <a:t>One paired instance = degraded full trajectory → refined output → clean reference. Comparisons are within the same input–reference pair.</a:t>
            </a:r>
            <a:endParaRPr lang="en-US" sz="1400" dirty="0">
              <a:solidFill>
                <a:srgbClr val="1F2328"/>
              </a:solidFill>
              <a:latin typeface="Times New Roman Regular" panose="02020503050405090304" charset="0"/>
              <a:ea typeface="Aptos" pitchFamily="34" charset="-122"/>
              <a:cs typeface="Times New Roman Regular" panose="02020503050405090304" charset="0"/>
            </a:endParaRPr>
          </a:p>
        </p:txBody>
      </p:sp>
      <p:graphicFrame>
        <p:nvGraphicFramePr>
          <p:cNvPr id="10" name="Table 0"/>
          <p:cNvGraphicFramePr>
            <a:graphicFrameLocks noGrp="1"/>
          </p:cNvGraphicFramePr>
          <p:nvPr/>
        </p:nvGraphicFramePr>
        <p:xfrm>
          <a:off x="694944" y="1920240"/>
          <a:ext cx="5257800" cy="2926080"/>
        </p:xfrm>
        <a:graphic>
          <a:graphicData uri="http://schemas.openxmlformats.org/drawingml/2006/table">
            <a:tbl>
              <a:tblPr/>
              <a:tblGrid>
                <a:gridCol w="1234440"/>
                <a:gridCol w="4023360"/>
              </a:tblGrid>
              <a:tr h="365760">
                <a:tc>
                  <a:txBody>
                    <a:bodyPr/>
                    <a:lstStyle/>
                    <a:p>
                      <a:pPr marL="0" indent="0">
                        <a:buNone/>
                      </a:pPr>
                      <a:r>
                        <a:rPr lang="en-US" sz="1200" b="1" dirty="0">
                          <a:solidFill>
                            <a:srgbClr val="FFFFFF"/>
                          </a:solidFill>
                          <a:latin typeface="Times New Roman Regular" panose="02020503050405090304" charset="0"/>
                          <a:ea typeface="Aptos" pitchFamily="34" charset="-122"/>
                          <a:cs typeface="Times New Roman Regular" panose="02020503050405090304" charset="0"/>
                        </a:rPr>
                        <a:t>Metric</a:t>
                      </a:r>
                      <a:endParaRPr lang="en-US" sz="1200" b="1" dirty="0">
                        <a:solidFill>
                          <a:srgbClr val="FFFFFF"/>
                        </a:solidFill>
                        <a:latin typeface="Times New Roman Regular" panose="02020503050405090304" charset="0"/>
                        <a:ea typeface="Aptos" pitchFamily="34" charset="-122"/>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c>
                  <a:txBody>
                    <a:bodyPr/>
                    <a:lstStyle/>
                    <a:p>
                      <a:pPr marL="0" indent="0">
                        <a:buNone/>
                      </a:pPr>
                      <a:r>
                        <a:rPr lang="en-US" sz="1200" b="1" dirty="0">
                          <a:solidFill>
                            <a:srgbClr val="FFFFFF"/>
                          </a:solidFill>
                          <a:latin typeface="Times New Roman Regular" panose="02020503050405090304" charset="0"/>
                          <a:ea typeface="Aptos" pitchFamily="34" charset="-122"/>
                          <a:cs typeface="Times New Roman Regular" panose="02020503050405090304" charset="0"/>
                        </a:rPr>
                        <a:t>How to read it</a:t>
                      </a:r>
                      <a:endParaRPr lang="en-US" sz="1200" b="1" dirty="0">
                        <a:solidFill>
                          <a:srgbClr val="FFFFFF"/>
                        </a:solidFill>
                        <a:latin typeface="Times New Roman Regular" panose="02020503050405090304" charset="0"/>
                        <a:ea typeface="Aptos" pitchFamily="34" charset="-122"/>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r>
              <a:tr h="365760">
                <a:tc>
                  <a:txBody>
                    <a:bodyPr/>
                    <a:lstStyle/>
                    <a:p>
                      <a:pPr marL="0" indent="0">
                        <a:buNone/>
                      </a:pPr>
                      <a:r>
                        <a:rPr lang="en-US" sz="1200" dirty="0">
                          <a:solidFill>
                            <a:srgbClr val="1F2328"/>
                          </a:solidFill>
                          <a:latin typeface="Times New Roman Regular" panose="02020503050405090304" charset="0"/>
                          <a:ea typeface="Aptos" pitchFamily="34" charset="-122"/>
                          <a:cs typeface="Times New Roman Regular" panose="02020503050405090304" charset="0"/>
                        </a:rPr>
                        <a:t>ADE</a:t>
                      </a:r>
                      <a:endParaRPr lang="en-US" sz="1200" dirty="0">
                        <a:solidFill>
                          <a:srgbClr val="1F2328"/>
                        </a:solidFill>
                        <a:latin typeface="Times New Roman Regular" panose="02020503050405090304" charset="0"/>
                        <a:ea typeface="Aptos" pitchFamily="34" charset="-122"/>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1200" dirty="0">
                          <a:solidFill>
                            <a:srgbClr val="1F2328"/>
                          </a:solidFill>
                          <a:latin typeface="Times New Roman Regular" panose="02020503050405090304" charset="0"/>
                          <a:ea typeface="Aptos" pitchFamily="34" charset="-122"/>
                          <a:cs typeface="Times New Roman Regular" panose="02020503050405090304" charset="0"/>
                        </a:rPr>
                        <a:t>primary full-trajectory accuracy; lower is better</a:t>
                      </a:r>
                      <a:endParaRPr lang="en-US" sz="1200" dirty="0">
                        <a:solidFill>
                          <a:srgbClr val="1F2328"/>
                        </a:solidFill>
                        <a:latin typeface="Times New Roman Regular" panose="02020503050405090304" charset="0"/>
                        <a:ea typeface="Aptos" pitchFamily="34" charset="-122"/>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365760">
                <a:tc>
                  <a:txBody>
                    <a:bodyPr/>
                    <a:lstStyle/>
                    <a:p>
                      <a:pPr marL="0" indent="0">
                        <a:buNone/>
                      </a:pPr>
                      <a:r>
                        <a:rPr lang="en-US" sz="1200" dirty="0">
                          <a:solidFill>
                            <a:srgbClr val="1F2328"/>
                          </a:solidFill>
                          <a:latin typeface="Times New Roman Regular" panose="02020503050405090304" charset="0"/>
                          <a:ea typeface="Aptos" pitchFamily="34" charset="-122"/>
                          <a:cs typeface="Times New Roman Regular" panose="02020503050405090304" charset="0"/>
                        </a:rPr>
                        <a:t>RMSE</a:t>
                      </a:r>
                      <a:endParaRPr lang="en-US" sz="1200" dirty="0">
                        <a:solidFill>
                          <a:srgbClr val="1F2328"/>
                        </a:solidFill>
                        <a:latin typeface="Times New Roman Regular" panose="02020503050405090304" charset="0"/>
                        <a:ea typeface="Aptos" pitchFamily="34" charset="-122"/>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1200" dirty="0">
                          <a:solidFill>
                            <a:srgbClr val="1F2328"/>
                          </a:solidFill>
                          <a:latin typeface="Times New Roman Regular" panose="02020503050405090304" charset="0"/>
                          <a:ea typeface="Aptos" pitchFamily="34" charset="-122"/>
                          <a:cs typeface="Times New Roman Regular" panose="02020503050405090304" charset="0"/>
                        </a:rPr>
                        <a:t>penalizes larger frame-wise errors</a:t>
                      </a:r>
                      <a:endParaRPr lang="en-US" sz="1200" dirty="0">
                        <a:solidFill>
                          <a:srgbClr val="1F2328"/>
                        </a:solidFill>
                        <a:latin typeface="Times New Roman Regular" panose="02020503050405090304" charset="0"/>
                        <a:ea typeface="Aptos" pitchFamily="34" charset="-122"/>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365760">
                <a:tc>
                  <a:txBody>
                    <a:bodyPr/>
                    <a:lstStyle/>
                    <a:p>
                      <a:pPr marL="0" indent="0">
                        <a:buNone/>
                      </a:pPr>
                      <a:r>
                        <a:rPr lang="en-US" sz="1200" dirty="0">
                          <a:solidFill>
                            <a:srgbClr val="1F2328"/>
                          </a:solidFill>
                          <a:latin typeface="Times New Roman Regular" panose="02020503050405090304" charset="0"/>
                          <a:ea typeface="Aptos" pitchFamily="34" charset="-122"/>
                          <a:cs typeface="Times New Roman Regular" panose="02020503050405090304" charset="0"/>
                        </a:rPr>
                        <a:t>FDE</a:t>
                      </a:r>
                      <a:endParaRPr lang="en-US" sz="1200" dirty="0">
                        <a:solidFill>
                          <a:srgbClr val="1F2328"/>
                        </a:solidFill>
                        <a:latin typeface="Times New Roman Regular" panose="02020503050405090304" charset="0"/>
                        <a:ea typeface="Aptos" pitchFamily="34" charset="-122"/>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1200" dirty="0">
                          <a:solidFill>
                            <a:srgbClr val="1F2328"/>
                          </a:solidFill>
                          <a:latin typeface="Times New Roman Regular" panose="02020503050405090304" charset="0"/>
                          <a:ea typeface="Aptos" pitchFamily="34" charset="-122"/>
                          <a:cs typeface="Times New Roman Regular" panose="02020503050405090304" charset="0"/>
                        </a:rPr>
                        <a:t>endpoint accuracy only</a:t>
                      </a:r>
                      <a:endParaRPr lang="en-US" sz="1200" dirty="0">
                        <a:solidFill>
                          <a:srgbClr val="1F2328"/>
                        </a:solidFill>
                        <a:latin typeface="Times New Roman Regular" panose="02020503050405090304" charset="0"/>
                        <a:ea typeface="Aptos" pitchFamily="34" charset="-122"/>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365760">
                <a:tc>
                  <a:txBody>
                    <a:bodyPr/>
                    <a:lstStyle/>
                    <a:p>
                      <a:pPr marL="0" indent="0">
                        <a:buNone/>
                      </a:pPr>
                      <a:r>
                        <a:rPr lang="en-US" sz="1200" dirty="0">
                          <a:solidFill>
                            <a:srgbClr val="1F2328"/>
                          </a:solidFill>
                          <a:latin typeface="Times New Roman Regular" panose="02020503050405090304" charset="0"/>
                          <a:ea typeface="Aptos" pitchFamily="34" charset="-122"/>
                          <a:cs typeface="Times New Roman Regular" panose="02020503050405090304" charset="0"/>
                        </a:rPr>
                        <a:t>Smoothness</a:t>
                      </a:r>
                      <a:endParaRPr lang="en-US" sz="1200" dirty="0">
                        <a:solidFill>
                          <a:srgbClr val="1F2328"/>
                        </a:solidFill>
                        <a:latin typeface="Times New Roman Regular" panose="02020503050405090304" charset="0"/>
                        <a:ea typeface="Aptos" pitchFamily="34" charset="-122"/>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1200" dirty="0">
                          <a:solidFill>
                            <a:srgbClr val="1F2328"/>
                          </a:solidFill>
                          <a:latin typeface="Times New Roman Regular" panose="02020503050405090304" charset="0"/>
                          <a:ea typeface="Aptos" pitchFamily="34" charset="-122"/>
                          <a:cs typeface="Times New Roman Regular" panose="02020503050405090304" charset="0"/>
                        </a:rPr>
                        <a:t>diagnostic; lower is not automatically better</a:t>
                      </a:r>
                      <a:endParaRPr lang="en-US" sz="1200" dirty="0">
                        <a:solidFill>
                          <a:srgbClr val="1F2328"/>
                        </a:solidFill>
                        <a:latin typeface="Times New Roman Regular" panose="02020503050405090304" charset="0"/>
                        <a:ea typeface="Aptos" pitchFamily="34" charset="-122"/>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365760">
                <a:tc>
                  <a:txBody>
                    <a:bodyPr/>
                    <a:lstStyle/>
                    <a:p>
                      <a:pPr marL="0" indent="0">
                        <a:buNone/>
                      </a:pPr>
                      <a:r>
                        <a:rPr lang="en-US" sz="1200" dirty="0">
                          <a:solidFill>
                            <a:srgbClr val="1F2328"/>
                          </a:solidFill>
                          <a:latin typeface="Times New Roman Regular" panose="02020503050405090304" charset="0"/>
                          <a:ea typeface="Aptos" pitchFamily="34" charset="-122"/>
                          <a:cs typeface="Times New Roman Regular" panose="02020503050405090304" charset="0"/>
                        </a:rPr>
                        <a:t>Improved fraction</a:t>
                      </a:r>
                      <a:endParaRPr lang="en-US" sz="1200" dirty="0">
                        <a:solidFill>
                          <a:srgbClr val="1F2328"/>
                        </a:solidFill>
                        <a:latin typeface="Times New Roman Regular" panose="02020503050405090304" charset="0"/>
                        <a:ea typeface="Aptos" pitchFamily="34" charset="-122"/>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1200" dirty="0">
                          <a:solidFill>
                            <a:srgbClr val="1F2328"/>
                          </a:solidFill>
                          <a:latin typeface="Times New Roman Regular" panose="02020503050405090304" charset="0"/>
                          <a:ea typeface="Aptos" pitchFamily="34" charset="-122"/>
                          <a:cs typeface="Times New Roman Regular" panose="02020503050405090304" charset="0"/>
                        </a:rPr>
                        <a:t>how often the method helps over noisy input</a:t>
                      </a:r>
                      <a:endParaRPr lang="en-US" sz="1200" dirty="0">
                        <a:solidFill>
                          <a:srgbClr val="1F2328"/>
                        </a:solidFill>
                        <a:latin typeface="Times New Roman Regular" panose="02020503050405090304" charset="0"/>
                        <a:ea typeface="Aptos" pitchFamily="34" charset="-122"/>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365760">
                <a:tc>
                  <a:txBody>
                    <a:bodyPr/>
                    <a:lstStyle/>
                    <a:p>
                      <a:pPr marL="0" indent="0">
                        <a:buNone/>
                      </a:pPr>
                      <a:r>
                        <a:rPr lang="en-US" sz="1200" dirty="0">
                          <a:solidFill>
                            <a:srgbClr val="1F2328"/>
                          </a:solidFill>
                          <a:latin typeface="Times New Roman Regular" panose="02020503050405090304" charset="0"/>
                          <a:ea typeface="Aptos" pitchFamily="34" charset="-122"/>
                          <a:cs typeface="Times New Roman Regular" panose="02020503050405090304" charset="0"/>
                        </a:rPr>
                        <a:t>Δ vs noisy</a:t>
                      </a:r>
                      <a:endParaRPr lang="en-US" sz="1200" dirty="0">
                        <a:solidFill>
                          <a:srgbClr val="1F2328"/>
                        </a:solidFill>
                        <a:latin typeface="Times New Roman Regular" panose="02020503050405090304" charset="0"/>
                        <a:ea typeface="Aptos" pitchFamily="34" charset="-122"/>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1200" dirty="0">
                          <a:solidFill>
                            <a:srgbClr val="1F2328"/>
                          </a:solidFill>
                          <a:latin typeface="Times New Roman Regular" panose="02020503050405090304" charset="0"/>
                          <a:ea typeface="Aptos" pitchFamily="34" charset="-122"/>
                          <a:cs typeface="Times New Roman Regular" panose="02020503050405090304" charset="0"/>
                        </a:rPr>
                        <a:t>relative gain or degradation</a:t>
                      </a:r>
                      <a:endParaRPr lang="en-US" sz="1200" dirty="0">
                        <a:solidFill>
                          <a:srgbClr val="1F2328"/>
                        </a:solidFill>
                        <a:latin typeface="Times New Roman Regular" panose="02020503050405090304" charset="0"/>
                        <a:ea typeface="Aptos" pitchFamily="34" charset="-122"/>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365760">
                <a:tc>
                  <a:txBody>
                    <a:bodyPr/>
                    <a:lstStyle/>
                    <a:p>
                      <a:pPr marL="0" indent="0">
                        <a:buNone/>
                      </a:pPr>
                      <a:r>
                        <a:rPr lang="en-US" sz="1200" dirty="0">
                          <a:solidFill>
                            <a:srgbClr val="1F2328"/>
                          </a:solidFill>
                          <a:latin typeface="Times New Roman Regular" panose="02020503050405090304" charset="0"/>
                          <a:ea typeface="Aptos" pitchFamily="34" charset="-122"/>
                          <a:cs typeface="Times New Roman Regular" panose="02020503050405090304" charset="0"/>
                        </a:rPr>
                        <a:t>Paired p-value</a:t>
                      </a:r>
                      <a:endParaRPr lang="en-US" sz="1200" dirty="0">
                        <a:solidFill>
                          <a:srgbClr val="1F2328"/>
                        </a:solidFill>
                        <a:latin typeface="Times New Roman Regular" panose="02020503050405090304" charset="0"/>
                        <a:ea typeface="Aptos" pitchFamily="34" charset="-122"/>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1200" dirty="0">
                          <a:solidFill>
                            <a:srgbClr val="1F2328"/>
                          </a:solidFill>
                          <a:latin typeface="Times New Roman Regular" panose="02020503050405090304" charset="0"/>
                          <a:ea typeface="Aptos" pitchFamily="34" charset="-122"/>
                          <a:cs typeface="Times New Roman Regular" panose="02020503050405090304" charset="0"/>
                        </a:rPr>
                        <a:t>systematic improvement under paired test</a:t>
                      </a:r>
                      <a:endParaRPr lang="en-US" sz="1200" dirty="0">
                        <a:solidFill>
                          <a:srgbClr val="1F2328"/>
                        </a:solidFill>
                        <a:latin typeface="Times New Roman Regular" panose="02020503050405090304" charset="0"/>
                        <a:ea typeface="Aptos" pitchFamily="34" charset="-122"/>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bl>
          </a:graphicData>
        </a:graphic>
      </p:graphicFrame>
      <p:sp>
        <p:nvSpPr>
          <p:cNvPr id="11" name="Text 8"/>
          <p:cNvSpPr/>
          <p:nvPr/>
        </p:nvSpPr>
        <p:spPr>
          <a:xfrm>
            <a:off x="6419088" y="1920240"/>
            <a:ext cx="1097280" cy="228600"/>
          </a:xfrm>
          <a:prstGeom prst="rect">
            <a:avLst/>
          </a:prstGeom>
          <a:noFill/>
        </p:spPr>
        <p:txBody>
          <a:bodyPr wrap="square" lIns="635" tIns="635" rIns="635" bIns="635" rtlCol="0" anchor="t">
            <a:normAutofit/>
          </a:bodyPr>
          <a:lstStyle/>
          <a:p>
            <a:pPr marL="0" indent="0" algn="l">
              <a:buNone/>
            </a:pPr>
            <a:r>
              <a:rPr lang="en-US" sz="1300" b="1" dirty="0">
                <a:solidFill>
                  <a:srgbClr val="0B2341"/>
                </a:solidFill>
                <a:latin typeface="Times New Roman Regular" panose="02020503050405090304" charset="0"/>
                <a:ea typeface="Aptos" pitchFamily="34" charset="-122"/>
                <a:cs typeface="Times New Roman Regular" panose="02020503050405090304" charset="0"/>
              </a:rPr>
              <a:t>Protocol</a:t>
            </a:r>
            <a:endParaRPr lang="en-US" sz="1300" b="1" dirty="0">
              <a:solidFill>
                <a:srgbClr val="0B2341"/>
              </a:solidFill>
              <a:latin typeface="Times New Roman Regular" panose="02020503050405090304" charset="0"/>
              <a:ea typeface="Aptos" pitchFamily="34" charset="-122"/>
              <a:cs typeface="Times New Roman Regular" panose="02020503050405090304" charset="0"/>
            </a:endParaRPr>
          </a:p>
        </p:txBody>
      </p:sp>
      <p:sp>
        <p:nvSpPr>
          <p:cNvPr id="12" name="Text 9"/>
          <p:cNvSpPr/>
          <p:nvPr/>
        </p:nvSpPr>
        <p:spPr>
          <a:xfrm>
            <a:off x="6419215" y="2267585"/>
            <a:ext cx="4838700" cy="1261745"/>
          </a:xfrm>
          <a:prstGeom prst="rect">
            <a:avLst/>
          </a:prstGeom>
          <a:noFill/>
        </p:spPr>
        <p:txBody>
          <a:bodyPr wrap="square" lIns="635" tIns="635" rIns="635" bIns="635" rtlCol="0" anchor="ctr">
            <a:noAutofit/>
          </a:bodyPr>
          <a:lstStyle/>
          <a:p>
            <a:r>
              <a:rPr lang="en-US" sz="1600" dirty="0">
                <a:solidFill>
                  <a:srgbClr val="1F2328"/>
                </a:solidFill>
                <a:latin typeface="Times New Roman Regular" panose="02020503050405090304" charset="0"/>
                <a:ea typeface="Aptos" pitchFamily="34" charset="-122"/>
                <a:cs typeface="Times New Roman Regular" panose="02020503050405090304" charset="0"/>
              </a:rPr>
              <a:t>Fixed evaluation set: N = 200 trajectories.</a:t>
            </a:r>
            <a:endParaRPr lang="en-US" sz="1600" dirty="0">
              <a:latin typeface="Times New Roman Regular" panose="02020503050405090304" charset="0"/>
              <a:cs typeface="Times New Roman Regular" panose="02020503050405090304" charset="0"/>
            </a:endParaRPr>
          </a:p>
          <a:p>
            <a:r>
              <a:rPr lang="en-US" sz="1600" dirty="0">
                <a:solidFill>
                  <a:srgbClr val="1F2328"/>
                </a:solidFill>
                <a:latin typeface="Times New Roman Regular" panose="02020503050405090304" charset="0"/>
                <a:ea typeface="Aptos" pitchFamily="34" charset="-122"/>
                <a:cs typeface="Times New Roman Regular" panose="02020503050405090304" charset="0"/>
              </a:rPr>
              <a:t>DDPM methods: five inference seeds {42, 43, 44, 45, 46}.</a:t>
            </a:r>
            <a:endParaRPr lang="en-US" sz="1600" dirty="0">
              <a:latin typeface="Times New Roman Regular" panose="02020503050405090304" charset="0"/>
              <a:cs typeface="Times New Roman Regular" panose="02020503050405090304" charset="0"/>
            </a:endParaRPr>
          </a:p>
          <a:p>
            <a:r>
              <a:rPr lang="en-US" sz="1600" dirty="0">
                <a:solidFill>
                  <a:srgbClr val="1F2328"/>
                </a:solidFill>
                <a:latin typeface="Times New Roman Regular" panose="02020503050405090304" charset="0"/>
                <a:ea typeface="Aptos" pitchFamily="34" charset="-122"/>
                <a:cs typeface="Times New Roman Regular" panose="02020503050405090304" charset="0"/>
              </a:rPr>
              <a:t>Seed averaging is applied first; metrics are then computed.</a:t>
            </a:r>
            <a:endParaRPr lang="en-US" sz="1600" dirty="0">
              <a:latin typeface="Times New Roman Regular" panose="02020503050405090304" charset="0"/>
              <a:cs typeface="Times New Roman Regular" panose="02020503050405090304" charset="0"/>
            </a:endParaRPr>
          </a:p>
          <a:p>
            <a:r>
              <a:rPr lang="en-US" sz="1600" dirty="0">
                <a:solidFill>
                  <a:srgbClr val="1F2328"/>
                </a:solidFill>
                <a:latin typeface="Times New Roman Regular" panose="02020503050405090304" charset="0"/>
                <a:ea typeface="Aptos" pitchFamily="34" charset="-122"/>
                <a:cs typeface="Times New Roman Regular" panose="02020503050405090304" charset="0"/>
              </a:rPr>
              <a:t>All ± std values reflect trajectory-level variation, not seed spread.</a:t>
            </a:r>
            <a:endParaRPr lang="en-US" sz="1600" dirty="0">
              <a:solidFill>
                <a:srgbClr val="1F2328"/>
              </a:solidFill>
              <a:latin typeface="Times New Roman Regular" panose="02020503050405090304" charset="0"/>
              <a:ea typeface="Aptos" pitchFamily="34" charset="-122"/>
              <a:cs typeface="Times New Roman Regular" panose="02020503050405090304" charset="0"/>
            </a:endParaRPr>
          </a:p>
        </p:txBody>
      </p:sp>
      <p:sp>
        <p:nvSpPr>
          <p:cNvPr id="13" name="Shape 10"/>
          <p:cNvSpPr/>
          <p:nvPr/>
        </p:nvSpPr>
        <p:spPr>
          <a:xfrm>
            <a:off x="6419088" y="3886200"/>
            <a:ext cx="4617720" cy="841248"/>
          </a:xfrm>
          <a:prstGeom prst="roundRect">
            <a:avLst>
              <a:gd name="adj" fmla="val 8696"/>
            </a:avLst>
          </a:prstGeom>
          <a:solidFill>
            <a:srgbClr val="F6FAFF"/>
          </a:solidFill>
          <a:ln w="13970">
            <a:solidFill>
              <a:srgbClr val="9BBCE3"/>
            </a:solidFill>
            <a:prstDash val="solid"/>
          </a:ln>
        </p:spPr>
      </p:sp>
      <p:sp>
        <p:nvSpPr>
          <p:cNvPr id="14" name="Text 11"/>
          <p:cNvSpPr/>
          <p:nvPr/>
        </p:nvSpPr>
        <p:spPr>
          <a:xfrm>
            <a:off x="6638544" y="4050792"/>
            <a:ext cx="1645920" cy="164592"/>
          </a:xfrm>
          <a:prstGeom prst="rect">
            <a:avLst/>
          </a:prstGeom>
          <a:noFill/>
        </p:spPr>
        <p:txBody>
          <a:bodyPr wrap="square" lIns="635" tIns="635" rIns="635" bIns="635" rtlCol="0" anchor="t">
            <a:noAutofit/>
          </a:bodyPr>
          <a:lstStyle/>
          <a:p>
            <a:pPr marL="0" indent="0" algn="l">
              <a:buNone/>
            </a:pPr>
            <a:r>
              <a:rPr lang="en-US" sz="1200" b="1" dirty="0">
                <a:solidFill>
                  <a:srgbClr val="0B2341"/>
                </a:solidFill>
                <a:latin typeface="Times New Roman Regular" panose="02020503050405090304" charset="0"/>
                <a:ea typeface="Aptos" pitchFamily="34" charset="-122"/>
                <a:cs typeface="Times New Roman Regular" panose="02020503050405090304" charset="0"/>
              </a:rPr>
              <a:t>Smoothness warning</a:t>
            </a:r>
            <a:endParaRPr lang="en-US" sz="1200" b="1" dirty="0">
              <a:solidFill>
                <a:srgbClr val="0B2341"/>
              </a:solidFill>
              <a:latin typeface="Times New Roman Regular" panose="02020503050405090304" charset="0"/>
              <a:ea typeface="Aptos" pitchFamily="34" charset="-122"/>
              <a:cs typeface="Times New Roman Regular" panose="02020503050405090304" charset="0"/>
            </a:endParaRPr>
          </a:p>
        </p:txBody>
      </p:sp>
      <p:sp>
        <p:nvSpPr>
          <p:cNvPr id="15" name="Text 12"/>
          <p:cNvSpPr/>
          <p:nvPr/>
        </p:nvSpPr>
        <p:spPr>
          <a:xfrm>
            <a:off x="8412480" y="3968496"/>
            <a:ext cx="2267712" cy="365760"/>
          </a:xfrm>
          <a:prstGeom prst="rect">
            <a:avLst/>
          </a:prstGeom>
          <a:noFill/>
        </p:spPr>
        <p:txBody>
          <a:bodyPr wrap="square" lIns="635" tIns="635" rIns="635" bIns="635" rtlCol="0" anchor="t">
            <a:noAutofit/>
          </a:bodyPr>
          <a:lstStyle/>
          <a:p>
            <a:pPr marL="0" indent="0" algn="l">
              <a:buNone/>
            </a:pPr>
            <a:r>
              <a:rPr lang="en-US" sz="1200" dirty="0">
                <a:solidFill>
                  <a:srgbClr val="1F2328"/>
                </a:solidFill>
                <a:latin typeface="Times New Roman Regular" panose="02020503050405090304" charset="0"/>
                <a:ea typeface="Aptos" pitchFamily="34" charset="-122"/>
                <a:cs typeface="Times New Roman Regular" panose="02020503050405090304" charset="0"/>
              </a:rPr>
              <a:t>A smoother path can be worse if it moves away from the clean reference. Kalman CV later shows exactly this.</a:t>
            </a:r>
            <a:endParaRPr lang="en-US" sz="1200" dirty="0">
              <a:solidFill>
                <a:srgbClr val="1F2328"/>
              </a:solidFill>
              <a:latin typeface="Times New Roman Regular" panose="02020503050405090304" charset="0"/>
              <a:ea typeface="Aptos" pitchFamily="34" charset="-122"/>
              <a:cs typeface="Times New Roman Regular" panose="02020503050405090304" charset="0"/>
            </a:endParaRPr>
          </a:p>
        </p:txBody>
      </p:sp>
      <p:sp>
        <p:nvSpPr>
          <p:cNvPr id="16" name="Text 13"/>
          <p:cNvSpPr/>
          <p:nvPr/>
        </p:nvSpPr>
        <p:spPr>
          <a:xfrm>
            <a:off x="502920" y="6336792"/>
            <a:ext cx="11155680" cy="146304"/>
          </a:xfrm>
          <a:prstGeom prst="rect">
            <a:avLst/>
          </a:prstGeom>
          <a:noFill/>
        </p:spPr>
        <p:txBody>
          <a:bodyPr wrap="square" lIns="0" tIns="0" rIns="0" bIns="0" rtlCol="0" anchor="ctr"/>
          <a:lstStyle/>
          <a:p>
            <a:pPr marL="0" indent="0">
              <a:buNone/>
            </a:pPr>
            <a:r>
              <a:rPr lang="en-US" sz="750" i="1" dirty="0">
                <a:solidFill>
                  <a:srgbClr val="748094"/>
                </a:solidFill>
                <a:latin typeface="Times New Roman Regular" panose="02020503050405090304" charset="0"/>
                <a:ea typeface="Aptos" pitchFamily="34" charset="-122"/>
                <a:cs typeface="Times New Roman Regular" panose="02020503050405090304" charset="0"/>
              </a:rPr>
              <a:t>Metrics follow the report evaluation section; ADE remains the headline metric because the task is full-trajectory recovery.</a:t>
            </a:r>
            <a:endParaRPr lang="en-US" sz="750" i="1" dirty="0">
              <a:solidFill>
                <a:srgbClr val="748094"/>
              </a:solidFill>
              <a:latin typeface="Times New Roman Regular" panose="02020503050405090304" charset="0"/>
              <a:ea typeface="Aptos" pitchFamily="34" charset="-122"/>
              <a:cs typeface="Times New Roman Regular" panose="0202050305040509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8046720" cy="347472"/>
          </a:xfrm>
          <a:prstGeom prst="rect">
            <a:avLst/>
          </a:prstGeom>
          <a:noFill/>
        </p:spPr>
        <p:txBody>
          <a:bodyPr wrap="square" lIns="0" tIns="0" rIns="0" bIns="0" rtlCol="0" anchor="ctr"/>
          <a:lstStyle/>
          <a:p>
            <a:pPr marL="0" indent="0">
              <a:buNone/>
            </a:pPr>
            <a:r>
              <a:rPr lang="en-US" sz="2200" b="1" dirty="0">
                <a:solidFill>
                  <a:srgbClr val="0B2341"/>
                </a:solidFill>
                <a:latin typeface="Aptos" pitchFamily="34" charset="0"/>
                <a:ea typeface="Aptos" pitchFamily="34" charset="-122"/>
                <a:cs typeface="Aptos" pitchFamily="34" charset="-120"/>
              </a:rPr>
              <a:t>Synthetic indoor data: paired recovery instead of outdoor tracking reuse</a:t>
            </a:r>
            <a:endParaRPr lang="en-US" sz="2200" dirty="0"/>
          </a:p>
        </p:txBody>
      </p:sp>
      <p:sp>
        <p:nvSpPr>
          <p:cNvPr id="4" name="Text 2"/>
          <p:cNvSpPr/>
          <p:nvPr/>
        </p:nvSpPr>
        <p:spPr>
          <a:xfrm>
            <a:off x="10287000" y="347472"/>
            <a:ext cx="1371600" cy="237744"/>
          </a:xfrm>
          <a:prstGeom prst="rect">
            <a:avLst/>
          </a:prstGeom>
          <a:noFill/>
        </p:spPr>
        <p:txBody>
          <a:bodyPr wrap="square" lIns="0" tIns="0" rIns="0" bIns="0" rtlCol="0" anchor="ctr"/>
          <a:lstStyle/>
          <a:p>
            <a:pPr marL="0" indent="0" algn="r">
              <a:buNone/>
            </a:pPr>
            <a:r>
              <a:rPr lang="en-US" sz="900" dirty="0">
                <a:solidFill>
                  <a:srgbClr val="526171"/>
                </a:solidFill>
                <a:latin typeface="Aptos" pitchFamily="34" charset="0"/>
                <a:ea typeface="Aptos" pitchFamily="34" charset="-122"/>
                <a:cs typeface="Aptos" pitchFamily="34" charset="-120"/>
              </a:rPr>
              <a:t>3 / 13</a:t>
            </a:r>
            <a:endParaRPr lang="en-US" sz="900" dirty="0"/>
          </a:p>
        </p:txBody>
      </p:sp>
      <p:sp>
        <p:nvSpPr>
          <p:cNvPr id="5" name="Shape 3"/>
          <p:cNvSpPr/>
          <p:nvPr/>
        </p:nvSpPr>
        <p:spPr>
          <a:xfrm>
            <a:off x="502920" y="768096"/>
            <a:ext cx="11173968" cy="0"/>
          </a:xfrm>
          <a:prstGeom prst="line">
            <a:avLst/>
          </a:prstGeom>
          <a:noFill/>
          <a:ln w="8890">
            <a:solidFill>
              <a:srgbClr val="D7DDE5"/>
            </a:solidFill>
            <a:prstDash val="solid"/>
          </a:ln>
        </p:spPr>
      </p:sp>
      <p:sp>
        <p:nvSpPr>
          <p:cNvPr id="6" name="Text 4"/>
          <p:cNvSpPr/>
          <p:nvPr/>
        </p:nvSpPr>
        <p:spPr>
          <a:xfrm>
            <a:off x="502920" y="6519672"/>
            <a:ext cx="6858000" cy="164592"/>
          </a:xfrm>
          <a:prstGeom prst="rect">
            <a:avLst/>
          </a:prstGeom>
          <a:noFill/>
        </p:spPr>
        <p:txBody>
          <a:bodyPr wrap="square" lIns="0" tIns="0" rIns="0" bIns="0" rtlCol="0" anchor="ctr"/>
          <a:lstStyle/>
          <a:p>
            <a:pPr marL="0" indent="0">
              <a:buNone/>
            </a:pPr>
            <a:r>
              <a:rPr lang="en-US" sz="850" dirty="0">
                <a:solidFill>
                  <a:srgbClr val="7B8794"/>
                </a:solidFill>
                <a:latin typeface="Aptos" pitchFamily="34" charset="0"/>
                <a:ea typeface="Aptos" pitchFamily="34" charset="-122"/>
                <a:cs typeface="Aptos" pitchFamily="34" charset="-120"/>
              </a:rPr>
              <a:t>Stage 3 — DDPM-based Indoor Trajectory Refinement</a:t>
            </a:r>
            <a:endParaRPr lang="en-US" sz="850" dirty="0"/>
          </a:p>
        </p:txBody>
      </p:sp>
      <p:pic>
        <p:nvPicPr>
          <p:cNvPr id="7" name="Image 0" descr="/mnt/data/docx_extract/word/media/image2.png"/>
          <p:cNvPicPr>
            <a:picLocks noChangeAspect="1"/>
          </p:cNvPicPr>
          <p:nvPr/>
        </p:nvPicPr>
        <p:blipFill>
          <a:blip r:embed="rId1"/>
          <a:stretch>
            <a:fillRect/>
          </a:stretch>
        </p:blipFill>
        <p:spPr>
          <a:xfrm>
            <a:off x="658368" y="1335334"/>
            <a:ext cx="5623560" cy="3565540"/>
          </a:xfrm>
          <a:prstGeom prst="rect">
            <a:avLst/>
          </a:prstGeom>
        </p:spPr>
      </p:pic>
      <p:sp>
        <p:nvSpPr>
          <p:cNvPr id="8" name="Text 5"/>
          <p:cNvSpPr/>
          <p:nvPr/>
        </p:nvSpPr>
        <p:spPr>
          <a:xfrm>
            <a:off x="6583680" y="987552"/>
            <a:ext cx="3291840" cy="228600"/>
          </a:xfrm>
          <a:prstGeom prst="rect">
            <a:avLst/>
          </a:prstGeom>
          <a:noFill/>
        </p:spPr>
        <p:txBody>
          <a:bodyPr wrap="square" lIns="635" tIns="635" rIns="635" bIns="635" rtlCol="0" anchor="t">
            <a:normAutofit/>
          </a:bodyPr>
          <a:lstStyle/>
          <a:p>
            <a:pPr marL="0" indent="0" algn="l">
              <a:buNone/>
            </a:pPr>
            <a:r>
              <a:rPr lang="en-US" sz="1300" b="1" dirty="0">
                <a:solidFill>
                  <a:srgbClr val="0B2341"/>
                </a:solidFill>
                <a:latin typeface="Aptos" pitchFamily="34" charset="0"/>
                <a:ea typeface="Aptos" pitchFamily="34" charset="-122"/>
                <a:cs typeface="Aptos" pitchFamily="34" charset="-120"/>
              </a:rPr>
              <a:t>Why not ETH/UCY for Stage 3?</a:t>
            </a:r>
            <a:endParaRPr lang="en-US" sz="1300" dirty="0"/>
          </a:p>
        </p:txBody>
      </p:sp>
      <p:sp>
        <p:nvSpPr>
          <p:cNvPr id="9" name="Text 6"/>
          <p:cNvSpPr/>
          <p:nvPr/>
        </p:nvSpPr>
        <p:spPr>
          <a:xfrm>
            <a:off x="6583680" y="1307592"/>
            <a:ext cx="4800600" cy="621792"/>
          </a:xfrm>
          <a:prstGeom prst="rect">
            <a:avLst/>
          </a:prstGeom>
          <a:noFill/>
        </p:spPr>
        <p:txBody>
          <a:bodyPr wrap="square" lIns="635" tIns="635" rIns="635" bIns="635" rtlCol="0" anchor="t">
            <a:normAutofit/>
          </a:bodyPr>
          <a:lstStyle/>
          <a:p>
            <a:pPr marL="0" indent="0" algn="l">
              <a:buNone/>
            </a:pPr>
            <a:r>
              <a:rPr lang="en-US" sz="1140" dirty="0">
                <a:solidFill>
                  <a:srgbClr val="1F2328"/>
                </a:solidFill>
                <a:latin typeface="Aptos" pitchFamily="34" charset="0"/>
                <a:ea typeface="Aptos" pitchFamily="34" charset="-122"/>
                <a:cs typeface="Aptos" pitchFamily="34" charset="-120"/>
              </a:rPr>
              <a:t>ETH/UCY was useful for Stage 2 prior learning, but it mostly describes outdoor pedestrian motion. Stage 3 needs controlled indoor error injection and clean–degraded pairs.</a:t>
            </a:r>
            <a:endParaRPr lang="en-US" sz="1140" dirty="0"/>
          </a:p>
        </p:txBody>
      </p:sp>
      <p:graphicFrame>
        <p:nvGraphicFramePr>
          <p:cNvPr id="10" name="Table 0"/>
          <p:cNvGraphicFramePr>
            <a:graphicFrameLocks noGrp="1"/>
          </p:cNvGraphicFramePr>
          <p:nvPr/>
        </p:nvGraphicFramePr>
        <p:xfrm>
          <a:off x="6583680" y="2121408"/>
          <a:ext cx="4709160" cy="2212848"/>
        </p:xfrm>
        <a:graphic>
          <a:graphicData uri="http://schemas.openxmlformats.org/drawingml/2006/table">
            <a:tbl>
              <a:tblPr/>
              <a:tblGrid>
                <a:gridCol w="1325880"/>
                <a:gridCol w="3383280"/>
              </a:tblGrid>
              <a:tr h="316121">
                <a:tc>
                  <a:txBody>
                    <a:bodyPr/>
                    <a:lstStyle/>
                    <a:p>
                      <a:pPr marL="0" indent="0">
                        <a:buNone/>
                      </a:pPr>
                      <a:r>
                        <a:rPr lang="en-US" sz="890" b="1" dirty="0">
                          <a:solidFill>
                            <a:srgbClr val="FFFFFF"/>
                          </a:solidFill>
                          <a:latin typeface="Aptos" pitchFamily="34" charset="0"/>
                          <a:ea typeface="Aptos" pitchFamily="34" charset="-122"/>
                          <a:cs typeface="Aptos" pitchFamily="34" charset="-120"/>
                        </a:rPr>
                        <a:t>Item</a:t>
                      </a:r>
                      <a:endParaRPr lang="en-US" sz="89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c>
                  <a:txBody>
                    <a:bodyPr/>
                    <a:lstStyle/>
                    <a:p>
                      <a:pPr marL="0" indent="0">
                        <a:buNone/>
                      </a:pPr>
                      <a:r>
                        <a:rPr lang="en-US" sz="890" b="1" dirty="0">
                          <a:solidFill>
                            <a:srgbClr val="FFFFFF"/>
                          </a:solidFill>
                          <a:latin typeface="Aptos" pitchFamily="34" charset="0"/>
                          <a:ea typeface="Aptos" pitchFamily="34" charset="-122"/>
                          <a:cs typeface="Aptos" pitchFamily="34" charset="-120"/>
                        </a:rPr>
                        <a:t>Value</a:t>
                      </a:r>
                      <a:endParaRPr lang="en-US" sz="89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r>
              <a:tr h="316121">
                <a:tc>
                  <a:txBody>
                    <a:bodyPr/>
                    <a:lstStyle/>
                    <a:p>
                      <a:pPr marL="0" indent="0">
                        <a:buNone/>
                      </a:pPr>
                      <a:r>
                        <a:rPr lang="en-US" sz="890" dirty="0">
                          <a:solidFill>
                            <a:srgbClr val="1F2328"/>
                          </a:solidFill>
                          <a:latin typeface="Aptos" pitchFamily="34" charset="0"/>
                          <a:ea typeface="Aptos" pitchFamily="34" charset="-122"/>
                          <a:cs typeface="Aptos" pitchFamily="34" charset="-120"/>
                        </a:rPr>
                        <a:t>Room</a:t>
                      </a:r>
                      <a:endParaRPr lang="en-US" sz="89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890" dirty="0">
                          <a:solidFill>
                            <a:srgbClr val="1F2328"/>
                          </a:solidFill>
                          <a:latin typeface="Aptos" pitchFamily="34" charset="0"/>
                          <a:ea typeface="Aptos" pitchFamily="34" charset="-122"/>
                          <a:cs typeface="Aptos" pitchFamily="34" charset="-120"/>
                        </a:rPr>
                        <a:t>3 m × 3 m</a:t>
                      </a:r>
                      <a:endParaRPr lang="en-US" sz="89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316121">
                <a:tc>
                  <a:txBody>
                    <a:bodyPr/>
                    <a:lstStyle/>
                    <a:p>
                      <a:pPr marL="0" indent="0">
                        <a:buNone/>
                      </a:pPr>
                      <a:r>
                        <a:rPr lang="en-US" sz="890" dirty="0">
                          <a:solidFill>
                            <a:srgbClr val="1F2328"/>
                          </a:solidFill>
                          <a:latin typeface="Aptos" pitchFamily="34" charset="0"/>
                          <a:ea typeface="Aptos" pitchFamily="34" charset="-122"/>
                          <a:cs typeface="Aptos" pitchFamily="34" charset="-120"/>
                        </a:rPr>
                        <a:t>Trajectory</a:t>
                      </a:r>
                      <a:endParaRPr lang="en-US" sz="89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890" dirty="0">
                          <a:solidFill>
                            <a:srgbClr val="1F2328"/>
                          </a:solidFill>
                          <a:latin typeface="Aptos" pitchFamily="34" charset="0"/>
                          <a:ea typeface="Aptos" pitchFamily="34" charset="-122"/>
                          <a:cs typeface="Aptos" pitchFamily="34" charset="-120"/>
                        </a:rPr>
                        <a:t>20 frames @ 3 Hz</a:t>
                      </a:r>
                      <a:endParaRPr lang="en-US" sz="89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316121">
                <a:tc>
                  <a:txBody>
                    <a:bodyPr/>
                    <a:lstStyle/>
                    <a:p>
                      <a:pPr marL="0" indent="0">
                        <a:buNone/>
                      </a:pPr>
                      <a:r>
                        <a:rPr lang="en-US" sz="890" dirty="0">
                          <a:solidFill>
                            <a:srgbClr val="1F2328"/>
                          </a:solidFill>
                          <a:latin typeface="Aptos" pitchFamily="34" charset="0"/>
                          <a:ea typeface="Aptos" pitchFamily="34" charset="-122"/>
                          <a:cs typeface="Aptos" pitchFamily="34" charset="-120"/>
                        </a:rPr>
                        <a:t>Motion patterns</a:t>
                      </a:r>
                      <a:endParaRPr lang="en-US" sz="89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890" dirty="0">
                          <a:solidFill>
                            <a:srgbClr val="1F2328"/>
                          </a:solidFill>
                          <a:latin typeface="Aptos" pitchFamily="34" charset="0"/>
                          <a:ea typeface="Aptos" pitchFamily="34" charset="-122"/>
                          <a:cs typeface="Aptos" pitchFamily="34" charset="-120"/>
                        </a:rPr>
                        <a:t>goal-directed, multi-goal, pacing, near-stationary, boundary-walk</a:t>
                      </a:r>
                      <a:endParaRPr lang="en-US" sz="89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316121">
                <a:tc>
                  <a:txBody>
                    <a:bodyPr/>
                    <a:lstStyle/>
                    <a:p>
                      <a:pPr marL="0" indent="0">
                        <a:buNone/>
                      </a:pPr>
                      <a:r>
                        <a:rPr lang="en-US" sz="890" dirty="0">
                          <a:solidFill>
                            <a:srgbClr val="1F2328"/>
                          </a:solidFill>
                          <a:latin typeface="Aptos" pitchFamily="34" charset="0"/>
                          <a:ea typeface="Aptos" pitchFamily="34" charset="-122"/>
                          <a:cs typeface="Aptos" pitchFamily="34" charset="-120"/>
                        </a:rPr>
                        <a:t>Clean set</a:t>
                      </a:r>
                      <a:endParaRPr lang="en-US" sz="89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890" dirty="0">
                          <a:solidFill>
                            <a:srgbClr val="1F2328"/>
                          </a:solidFill>
                          <a:latin typeface="Aptos" pitchFamily="34" charset="0"/>
                          <a:ea typeface="Aptos" pitchFamily="34" charset="-122"/>
                          <a:cs typeface="Aptos" pitchFamily="34" charset="-120"/>
                        </a:rPr>
                        <a:t>2,000 initial → 12,000 expanded</a:t>
                      </a:r>
                      <a:endParaRPr lang="en-US" sz="89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316121">
                <a:tc>
                  <a:txBody>
                    <a:bodyPr/>
                    <a:lstStyle/>
                    <a:p>
                      <a:pPr marL="0" indent="0">
                        <a:buNone/>
                      </a:pPr>
                      <a:r>
                        <a:rPr lang="en-US" sz="890" dirty="0">
                          <a:solidFill>
                            <a:srgbClr val="1F2328"/>
                          </a:solidFill>
                          <a:latin typeface="Aptos" pitchFamily="34" charset="0"/>
                          <a:ea typeface="Aptos" pitchFamily="34" charset="-122"/>
                          <a:cs typeface="Aptos" pitchFamily="34" charset="-120"/>
                        </a:rPr>
                        <a:t>Train / validation</a:t>
                      </a:r>
                      <a:endParaRPr lang="en-US" sz="89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890" dirty="0">
                          <a:solidFill>
                            <a:srgbClr val="1F2328"/>
                          </a:solidFill>
                          <a:latin typeface="Aptos" pitchFamily="34" charset="0"/>
                          <a:ea typeface="Aptos" pitchFamily="34" charset="-122"/>
                          <a:cs typeface="Aptos" pitchFamily="34" charset="-120"/>
                        </a:rPr>
                        <a:t>10,000 / 2,000 trajectories</a:t>
                      </a:r>
                      <a:endParaRPr lang="en-US" sz="89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316121">
                <a:tc>
                  <a:txBody>
                    <a:bodyPr/>
                    <a:lstStyle/>
                    <a:p>
                      <a:pPr marL="0" indent="0">
                        <a:buNone/>
                      </a:pPr>
                      <a:r>
                        <a:rPr lang="en-US" sz="890" dirty="0">
                          <a:solidFill>
                            <a:srgbClr val="1F2328"/>
                          </a:solidFill>
                          <a:latin typeface="Aptos" pitchFamily="34" charset="0"/>
                          <a:ea typeface="Aptos" pitchFamily="34" charset="-122"/>
                          <a:cs typeface="Aptos" pitchFamily="34" charset="-120"/>
                        </a:rPr>
                        <a:t>Prior training</a:t>
                      </a:r>
                      <a:endParaRPr lang="en-US" sz="89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890" dirty="0">
                          <a:solidFill>
                            <a:srgbClr val="1F2328"/>
                          </a:solidFill>
                          <a:latin typeface="Aptos" pitchFamily="34" charset="0"/>
                          <a:ea typeface="Aptos" pitchFamily="34" charset="-122"/>
                          <a:cs typeface="Aptos" pitchFamily="34" charset="-120"/>
                        </a:rPr>
                        <a:t>60,000 after geometric augmentation</a:t>
                      </a:r>
                      <a:endParaRPr lang="en-US" sz="89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bl>
          </a:graphicData>
        </a:graphic>
      </p:graphicFrame>
      <p:sp>
        <p:nvSpPr>
          <p:cNvPr id="11" name="Shape 7"/>
          <p:cNvSpPr/>
          <p:nvPr/>
        </p:nvSpPr>
        <p:spPr>
          <a:xfrm>
            <a:off x="6583680" y="4645152"/>
            <a:ext cx="4709160" cy="658368"/>
          </a:xfrm>
          <a:prstGeom prst="roundRect">
            <a:avLst>
              <a:gd name="adj" fmla="val 11111"/>
            </a:avLst>
          </a:prstGeom>
          <a:solidFill>
            <a:srgbClr val="FFF9EB"/>
          </a:solidFill>
          <a:ln w="13970">
            <a:solidFill>
              <a:srgbClr val="F2B84B"/>
            </a:solidFill>
            <a:prstDash val="solid"/>
          </a:ln>
        </p:spPr>
      </p:sp>
      <p:sp>
        <p:nvSpPr>
          <p:cNvPr id="12" name="Text 8"/>
          <p:cNvSpPr/>
          <p:nvPr/>
        </p:nvSpPr>
        <p:spPr>
          <a:xfrm>
            <a:off x="6784848" y="4791456"/>
            <a:ext cx="1143000" cy="164592"/>
          </a:xfrm>
          <a:prstGeom prst="rect">
            <a:avLst/>
          </a:prstGeom>
          <a:noFill/>
        </p:spPr>
        <p:txBody>
          <a:bodyPr wrap="square" lIns="635" tIns="635" rIns="635" bIns="635" rtlCol="0" anchor="t">
            <a:normAutofit/>
          </a:bodyPr>
          <a:lstStyle/>
          <a:p>
            <a:pPr marL="0" indent="0" algn="l">
              <a:buNone/>
            </a:pPr>
            <a:r>
              <a:rPr lang="en-US" sz="1000" b="1" dirty="0">
                <a:solidFill>
                  <a:srgbClr val="0B2341"/>
                </a:solidFill>
                <a:latin typeface="Aptos" pitchFamily="34" charset="0"/>
                <a:ea typeface="Aptos" pitchFamily="34" charset="-122"/>
                <a:cs typeface="Aptos" pitchFamily="34" charset="-120"/>
              </a:rPr>
              <a:t>Paired design</a:t>
            </a:r>
            <a:endParaRPr lang="en-US" sz="1000" dirty="0"/>
          </a:p>
        </p:txBody>
      </p:sp>
      <p:sp>
        <p:nvSpPr>
          <p:cNvPr id="13" name="Text 9"/>
          <p:cNvSpPr/>
          <p:nvPr/>
        </p:nvSpPr>
        <p:spPr>
          <a:xfrm>
            <a:off x="8028432" y="4727448"/>
            <a:ext cx="2880360" cy="310896"/>
          </a:xfrm>
          <a:prstGeom prst="rect">
            <a:avLst/>
          </a:prstGeom>
          <a:noFill/>
        </p:spPr>
        <p:txBody>
          <a:bodyPr wrap="square" lIns="635" tIns="635" rIns="635" bIns="635" rtlCol="0" anchor="t">
            <a:normAutofit/>
          </a:bodyPr>
          <a:lstStyle/>
          <a:p>
            <a:pPr marL="0" indent="0" algn="l">
              <a:buNone/>
            </a:pPr>
            <a:r>
              <a:rPr lang="en-US" sz="1080" b="1" dirty="0">
                <a:solidFill>
                  <a:srgbClr val="1F2328"/>
                </a:solidFill>
                <a:latin typeface="Aptos" pitchFamily="34" charset="0"/>
                <a:ea typeface="Aptos" pitchFamily="34" charset="-122"/>
                <a:cs typeface="Aptos" pitchFamily="34" charset="-120"/>
              </a:rPr>
              <a:t>Every degraded input has a known clean reference; method comparisons are paired by construction.</a:t>
            </a:r>
            <a:endParaRPr lang="en-US" sz="1080" dirty="0"/>
          </a:p>
        </p:txBody>
      </p:sp>
      <p:sp>
        <p:nvSpPr>
          <p:cNvPr id="14" name="Text 10"/>
          <p:cNvSpPr/>
          <p:nvPr/>
        </p:nvSpPr>
        <p:spPr>
          <a:xfrm>
            <a:off x="502920" y="6336792"/>
            <a:ext cx="11155680" cy="146304"/>
          </a:xfrm>
          <a:prstGeom prst="rect">
            <a:avLst/>
          </a:prstGeom>
          <a:noFill/>
        </p:spPr>
        <p:txBody>
          <a:bodyPr wrap="square" lIns="0" tIns="0" rIns="0" bIns="0" rtlCol="0" anchor="ctr"/>
          <a:lstStyle/>
          <a:p>
            <a:pPr marL="0" indent="0">
              <a:buNone/>
            </a:pPr>
            <a:r>
              <a:rPr lang="en-US" sz="750" i="1" dirty="0">
                <a:solidFill>
                  <a:srgbClr val="748094"/>
                </a:solidFill>
                <a:latin typeface="Aptos" pitchFamily="34" charset="0"/>
                <a:ea typeface="Aptos" pitchFamily="34" charset="-122"/>
                <a:cs typeface="Aptos" pitchFamily="34" charset="-120"/>
              </a:rPr>
              <a:t>Fig. 2 from the report; circle = start, square = end, colour = frame index.</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8046720" cy="347472"/>
          </a:xfrm>
          <a:prstGeom prst="rect">
            <a:avLst/>
          </a:prstGeom>
          <a:noFill/>
        </p:spPr>
        <p:txBody>
          <a:bodyPr wrap="square" lIns="0" tIns="0" rIns="0" bIns="0" rtlCol="0" anchor="ctr"/>
          <a:lstStyle/>
          <a:p>
            <a:pPr marL="0" indent="0">
              <a:buNone/>
            </a:pPr>
            <a:r>
              <a:rPr lang="en-US" sz="2200" b="1" dirty="0">
                <a:solidFill>
                  <a:srgbClr val="0B2341"/>
                </a:solidFill>
                <a:latin typeface="Aptos" pitchFamily="34" charset="0"/>
                <a:ea typeface="Aptos" pitchFamily="34" charset="-122"/>
                <a:cs typeface="Aptos" pitchFamily="34" charset="-120"/>
              </a:rPr>
              <a:t>Indoor DDPM prior validation before refinement</a:t>
            </a:r>
            <a:endParaRPr lang="en-US" sz="2200" b="1" dirty="0">
              <a:solidFill>
                <a:srgbClr val="0B2341"/>
              </a:solidFill>
              <a:latin typeface="Aptos" pitchFamily="34" charset="0"/>
              <a:ea typeface="Aptos" pitchFamily="34" charset="-122"/>
              <a:cs typeface="Aptos" pitchFamily="34" charset="-120"/>
            </a:endParaRPr>
          </a:p>
        </p:txBody>
      </p:sp>
      <p:sp>
        <p:nvSpPr>
          <p:cNvPr id="4" name="Text 2"/>
          <p:cNvSpPr/>
          <p:nvPr/>
        </p:nvSpPr>
        <p:spPr>
          <a:xfrm>
            <a:off x="10287000" y="347472"/>
            <a:ext cx="1371600" cy="237744"/>
          </a:xfrm>
          <a:prstGeom prst="rect">
            <a:avLst/>
          </a:prstGeom>
          <a:noFill/>
        </p:spPr>
        <p:txBody>
          <a:bodyPr wrap="square" lIns="0" tIns="0" rIns="0" bIns="0" rtlCol="0" anchor="ctr"/>
          <a:lstStyle/>
          <a:p>
            <a:pPr marL="0" indent="0" algn="r">
              <a:buNone/>
            </a:pPr>
            <a:r>
              <a:rPr lang="en-US" sz="900" dirty="0">
                <a:solidFill>
                  <a:srgbClr val="526171"/>
                </a:solidFill>
                <a:latin typeface="Aptos" pitchFamily="34" charset="0"/>
                <a:ea typeface="Aptos" pitchFamily="34" charset="-122"/>
                <a:cs typeface="Aptos" pitchFamily="34" charset="-120"/>
              </a:rPr>
              <a:t>5/ 13</a:t>
            </a:r>
            <a:endParaRPr lang="en-US" sz="900" dirty="0"/>
          </a:p>
        </p:txBody>
      </p:sp>
      <p:sp>
        <p:nvSpPr>
          <p:cNvPr id="5" name="Shape 3"/>
          <p:cNvSpPr/>
          <p:nvPr/>
        </p:nvSpPr>
        <p:spPr>
          <a:xfrm>
            <a:off x="502920" y="768096"/>
            <a:ext cx="11173968" cy="0"/>
          </a:xfrm>
          <a:prstGeom prst="line">
            <a:avLst/>
          </a:prstGeom>
          <a:noFill/>
          <a:ln w="8890">
            <a:solidFill>
              <a:srgbClr val="D7DDE5"/>
            </a:solidFill>
            <a:prstDash val="solid"/>
          </a:ln>
        </p:spPr>
      </p:sp>
      <p:sp>
        <p:nvSpPr>
          <p:cNvPr id="6" name="Text 4"/>
          <p:cNvSpPr/>
          <p:nvPr/>
        </p:nvSpPr>
        <p:spPr>
          <a:xfrm>
            <a:off x="502920" y="6519672"/>
            <a:ext cx="6858000" cy="164592"/>
          </a:xfrm>
          <a:prstGeom prst="rect">
            <a:avLst/>
          </a:prstGeom>
          <a:noFill/>
        </p:spPr>
        <p:txBody>
          <a:bodyPr wrap="square" lIns="0" tIns="0" rIns="0" bIns="0" rtlCol="0" anchor="ctr"/>
          <a:lstStyle/>
          <a:p>
            <a:pPr marL="0" indent="0">
              <a:buNone/>
            </a:pPr>
            <a:r>
              <a:rPr lang="en-US" sz="850" dirty="0">
                <a:solidFill>
                  <a:srgbClr val="7B8794"/>
                </a:solidFill>
                <a:latin typeface="Aptos" pitchFamily="34" charset="0"/>
                <a:ea typeface="Aptos" pitchFamily="34" charset="-122"/>
                <a:cs typeface="Aptos" pitchFamily="34" charset="-120"/>
              </a:rPr>
              <a:t>Stage 3 — DDPM-based Indoor Trajectory Refinement</a:t>
            </a:r>
            <a:endParaRPr lang="en-US" sz="850" dirty="0"/>
          </a:p>
        </p:txBody>
      </p:sp>
      <p:sp>
        <p:nvSpPr>
          <p:cNvPr id="7" name="Text 5"/>
          <p:cNvSpPr/>
          <p:nvPr/>
        </p:nvSpPr>
        <p:spPr>
          <a:xfrm>
            <a:off x="694944" y="1024128"/>
            <a:ext cx="1097280" cy="219456"/>
          </a:xfrm>
          <a:prstGeom prst="rect">
            <a:avLst/>
          </a:prstGeom>
          <a:noFill/>
        </p:spPr>
        <p:txBody>
          <a:bodyPr wrap="square" lIns="635" tIns="635" rIns="635" bIns="635" rtlCol="0" anchor="t">
            <a:normAutofit/>
          </a:bodyPr>
          <a:lstStyle/>
          <a:p>
            <a:pPr marL="0" indent="0" algn="l">
              <a:buNone/>
            </a:pPr>
            <a:r>
              <a:rPr lang="en-US" sz="1300" b="1" dirty="0">
                <a:solidFill>
                  <a:srgbClr val="0B2341"/>
                </a:solidFill>
                <a:latin typeface="Aptos" pitchFamily="34" charset="0"/>
                <a:ea typeface="Aptos" pitchFamily="34" charset="-122"/>
                <a:cs typeface="Aptos" pitchFamily="34" charset="-120"/>
              </a:rPr>
              <a:t>Purpose</a:t>
            </a:r>
            <a:endParaRPr lang="en-US" sz="1300" dirty="0"/>
          </a:p>
        </p:txBody>
      </p:sp>
      <p:sp>
        <p:nvSpPr>
          <p:cNvPr id="8" name="Text 6"/>
          <p:cNvSpPr/>
          <p:nvPr/>
        </p:nvSpPr>
        <p:spPr>
          <a:xfrm>
            <a:off x="694944" y="1353312"/>
            <a:ext cx="10241280" cy="365760"/>
          </a:xfrm>
          <a:prstGeom prst="rect">
            <a:avLst/>
          </a:prstGeom>
          <a:noFill/>
        </p:spPr>
        <p:txBody>
          <a:bodyPr wrap="square" lIns="635" tIns="635" rIns="635" bIns="635" rtlCol="0" anchor="t">
            <a:normAutofit lnSpcReduction="10000"/>
          </a:bodyPr>
          <a:lstStyle/>
          <a:p>
            <a:pPr marL="0" indent="0" algn="l">
              <a:buNone/>
            </a:pPr>
            <a:r>
              <a:rPr lang="en-US" sz="1200" dirty="0">
                <a:solidFill>
                  <a:srgbClr val="1F2328"/>
                </a:solidFill>
                <a:latin typeface="Aptos" pitchFamily="34" charset="0"/>
                <a:ea typeface="Aptos" pitchFamily="34" charset="-122"/>
                <a:cs typeface="Aptos" pitchFamily="34" charset="-120"/>
              </a:rPr>
              <a:t>This check verifies whether the indoor trajectory-only DDPM can be trained stably and sampled without obvious artefacts before it is used in refinement experiments.</a:t>
            </a:r>
            <a:endParaRPr lang="en-US" sz="1200" dirty="0">
              <a:solidFill>
                <a:srgbClr val="1F2328"/>
              </a:solidFill>
              <a:latin typeface="Aptos" pitchFamily="34" charset="0"/>
              <a:ea typeface="Aptos" pitchFamily="34" charset="-122"/>
              <a:cs typeface="Aptos" pitchFamily="34" charset="-120"/>
            </a:endParaRPr>
          </a:p>
        </p:txBody>
      </p:sp>
      <p:graphicFrame>
        <p:nvGraphicFramePr>
          <p:cNvPr id="9" name="Table 0"/>
          <p:cNvGraphicFramePr>
            <a:graphicFrameLocks noGrp="1"/>
          </p:cNvGraphicFramePr>
          <p:nvPr/>
        </p:nvGraphicFramePr>
        <p:xfrm>
          <a:off x="694944" y="1993392"/>
          <a:ext cx="6537960" cy="2697480"/>
        </p:xfrm>
        <a:graphic>
          <a:graphicData uri="http://schemas.openxmlformats.org/drawingml/2006/table">
            <a:tbl>
              <a:tblPr/>
              <a:tblGrid>
                <a:gridCol w="1600200"/>
                <a:gridCol w="2057400"/>
                <a:gridCol w="2880360"/>
              </a:tblGrid>
              <a:tr h="385354">
                <a:tc>
                  <a:txBody>
                    <a:bodyPr/>
                    <a:lstStyle/>
                    <a:p>
                      <a:pPr marL="0" indent="0">
                        <a:buNone/>
                      </a:pPr>
                      <a:r>
                        <a:rPr lang="en-US" sz="910" b="1" dirty="0">
                          <a:solidFill>
                            <a:srgbClr val="FFFFFF"/>
                          </a:solidFill>
                          <a:latin typeface="Aptos" pitchFamily="34" charset="0"/>
                          <a:ea typeface="Aptos" pitchFamily="34" charset="-122"/>
                          <a:cs typeface="Aptos" pitchFamily="34" charset="-120"/>
                        </a:rPr>
                        <a:t>Check</a:t>
                      </a:r>
                      <a:endParaRPr lang="en-US" sz="91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c>
                  <a:txBody>
                    <a:bodyPr/>
                    <a:lstStyle/>
                    <a:p>
                      <a:pPr marL="0" indent="0">
                        <a:buNone/>
                      </a:pPr>
                      <a:r>
                        <a:rPr lang="en-US" sz="910" b="1" dirty="0">
                          <a:solidFill>
                            <a:srgbClr val="FFFFFF"/>
                          </a:solidFill>
                          <a:latin typeface="Aptos" pitchFamily="34" charset="0"/>
                          <a:ea typeface="Aptos" pitchFamily="34" charset="-122"/>
                          <a:cs typeface="Aptos" pitchFamily="34" charset="-120"/>
                        </a:rPr>
                        <a:t>Result</a:t>
                      </a:r>
                      <a:endParaRPr lang="en-US" sz="91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c>
                  <a:txBody>
                    <a:bodyPr/>
                    <a:lstStyle/>
                    <a:p>
                      <a:pPr marL="0" indent="0">
                        <a:buNone/>
                      </a:pPr>
                      <a:r>
                        <a:rPr lang="en-US" sz="910" b="1" dirty="0">
                          <a:solidFill>
                            <a:srgbClr val="FFFFFF"/>
                          </a:solidFill>
                          <a:latin typeface="Aptos" pitchFamily="34" charset="0"/>
                          <a:ea typeface="Aptos" pitchFamily="34" charset="-122"/>
                          <a:cs typeface="Aptos" pitchFamily="34" charset="-120"/>
                        </a:rPr>
                        <a:t>Interpretation</a:t>
                      </a:r>
                      <a:endParaRPr lang="en-US" sz="91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r>
              <a:tr h="385354">
                <a:tc>
                  <a:txBody>
                    <a:bodyPr/>
                    <a:lstStyle/>
                    <a:p>
                      <a:pPr marL="0" indent="0">
                        <a:buNone/>
                      </a:pPr>
                      <a:r>
                        <a:rPr lang="en-US" sz="910" dirty="0">
                          <a:solidFill>
                            <a:srgbClr val="1F2328"/>
                          </a:solidFill>
                          <a:latin typeface="Aptos" pitchFamily="34" charset="0"/>
                          <a:ea typeface="Aptos" pitchFamily="34" charset="-122"/>
                          <a:cs typeface="Aptos" pitchFamily="34" charset="-120"/>
                        </a:rPr>
                        <a:t>Training data</a:t>
                      </a:r>
                      <a:endParaRPr lang="en-US" sz="91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910" dirty="0">
                          <a:solidFill>
                            <a:srgbClr val="1F2328"/>
                          </a:solidFill>
                          <a:latin typeface="Aptos" pitchFamily="34" charset="0"/>
                          <a:ea typeface="Aptos" pitchFamily="34" charset="-122"/>
                          <a:cs typeface="Aptos" pitchFamily="34" charset="-120"/>
                        </a:rPr>
                        <a:t>60,000 augmented trajectories</a:t>
                      </a:r>
                      <a:endParaRPr lang="en-US" sz="91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910" dirty="0">
                          <a:solidFill>
                            <a:srgbClr val="1F2328"/>
                          </a:solidFill>
                          <a:latin typeface="Aptos" pitchFamily="34" charset="0"/>
                          <a:ea typeface="Aptos" pitchFamily="34" charset="-122"/>
                          <a:cs typeface="Aptos" pitchFamily="34" charset="-120"/>
                        </a:rPr>
                        <a:t>indoor synthetic prior</a:t>
                      </a:r>
                      <a:endParaRPr lang="en-US" sz="91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385354">
                <a:tc>
                  <a:txBody>
                    <a:bodyPr/>
                    <a:lstStyle/>
                    <a:p>
                      <a:pPr marL="0" indent="0">
                        <a:buNone/>
                      </a:pPr>
                      <a:r>
                        <a:rPr lang="en-US" sz="910" dirty="0">
                          <a:solidFill>
                            <a:srgbClr val="1F2328"/>
                          </a:solidFill>
                          <a:latin typeface="Aptos" pitchFamily="34" charset="0"/>
                          <a:ea typeface="Aptos" pitchFamily="34" charset="-122"/>
                          <a:cs typeface="Aptos" pitchFamily="34" charset="-120"/>
                        </a:rPr>
                        <a:t>Checkpoint</a:t>
                      </a:r>
                      <a:endParaRPr lang="en-US" sz="91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910" dirty="0">
                          <a:solidFill>
                            <a:srgbClr val="1F2328"/>
                          </a:solidFill>
                          <a:latin typeface="Aptos" pitchFamily="34" charset="0"/>
                          <a:ea typeface="Aptos" pitchFamily="34" charset="-122"/>
                          <a:cs typeface="Aptos" pitchFamily="34" charset="-120"/>
                        </a:rPr>
                        <a:t>best_ema_model.pt</a:t>
                      </a:r>
                      <a:endParaRPr lang="en-US" sz="91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910" dirty="0">
                          <a:solidFill>
                            <a:srgbClr val="1F2328"/>
                          </a:solidFill>
                          <a:latin typeface="Aptos" pitchFamily="34" charset="0"/>
                          <a:ea typeface="Aptos" pitchFamily="34" charset="-122"/>
                          <a:cs typeface="Aptos" pitchFamily="34" charset="-120"/>
                        </a:rPr>
                        <a:t>used downstream</a:t>
                      </a:r>
                      <a:endParaRPr lang="en-US" sz="91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385354">
                <a:tc>
                  <a:txBody>
                    <a:bodyPr/>
                    <a:lstStyle/>
                    <a:p>
                      <a:pPr marL="0" indent="0">
                        <a:buNone/>
                      </a:pPr>
                      <a:r>
                        <a:rPr lang="en-US" sz="910" dirty="0">
                          <a:solidFill>
                            <a:srgbClr val="1F2328"/>
                          </a:solidFill>
                          <a:latin typeface="Aptos" pitchFamily="34" charset="0"/>
                          <a:ea typeface="Aptos" pitchFamily="34" charset="-122"/>
                          <a:cs typeface="Aptos" pitchFamily="34" charset="-120"/>
                        </a:rPr>
                        <a:t>Schedule</a:t>
                      </a:r>
                      <a:endParaRPr lang="en-US" sz="91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910" dirty="0">
                          <a:solidFill>
                            <a:srgbClr val="1F2328"/>
                          </a:solidFill>
                          <a:latin typeface="Aptos" pitchFamily="34" charset="0"/>
                          <a:ea typeface="Aptos" pitchFamily="34" charset="-122"/>
                          <a:cs typeface="Aptos" pitchFamily="34" charset="-120"/>
                        </a:rPr>
                        <a:t>100 timesteps</a:t>
                      </a:r>
                      <a:endParaRPr lang="en-US" sz="91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910" dirty="0">
                          <a:solidFill>
                            <a:srgbClr val="1F2328"/>
                          </a:solidFill>
                          <a:latin typeface="Aptos" pitchFamily="34" charset="0"/>
                          <a:ea typeface="Aptos" pitchFamily="34" charset="-122"/>
                          <a:cs typeface="Aptos" pitchFamily="34" charset="-120"/>
                        </a:rPr>
                        <a:t>fixed train/sample setting</a:t>
                      </a:r>
                      <a:endParaRPr lang="en-US" sz="91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385354">
                <a:tc>
                  <a:txBody>
                    <a:bodyPr/>
                    <a:lstStyle/>
                    <a:p>
                      <a:pPr marL="0" indent="0">
                        <a:buNone/>
                      </a:pPr>
                      <a:r>
                        <a:rPr lang="en-US" sz="910" dirty="0">
                          <a:solidFill>
                            <a:srgbClr val="1F2328"/>
                          </a:solidFill>
                          <a:latin typeface="Aptos" pitchFamily="34" charset="0"/>
                          <a:ea typeface="Aptos" pitchFamily="34" charset="-122"/>
                          <a:cs typeface="Aptos" pitchFamily="34" charset="-120"/>
                        </a:rPr>
                        <a:t>Best epoch / val loss</a:t>
                      </a:r>
                      <a:endParaRPr lang="en-US" sz="91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910" dirty="0">
                          <a:solidFill>
                            <a:srgbClr val="1F2328"/>
                          </a:solidFill>
                          <a:latin typeface="Aptos" pitchFamily="34" charset="0"/>
                          <a:ea typeface="Aptos" pitchFamily="34" charset="-122"/>
                          <a:cs typeface="Aptos" pitchFamily="34" charset="-120"/>
                        </a:rPr>
                        <a:t>epoch 60 / 0.2611</a:t>
                      </a:r>
                      <a:endParaRPr lang="en-US" sz="91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910" dirty="0">
                          <a:solidFill>
                            <a:srgbClr val="1F2328"/>
                          </a:solidFill>
                          <a:latin typeface="Aptos" pitchFamily="34" charset="0"/>
                          <a:ea typeface="Aptos" pitchFamily="34" charset="-122"/>
                          <a:cs typeface="Aptos" pitchFamily="34" charset="-120"/>
                        </a:rPr>
                        <a:t>stable enough for diagnostics</a:t>
                      </a:r>
                      <a:endParaRPr lang="en-US" sz="91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385354">
                <a:tc>
                  <a:txBody>
                    <a:bodyPr/>
                    <a:lstStyle/>
                    <a:p>
                      <a:pPr marL="0" indent="0">
                        <a:buNone/>
                      </a:pPr>
                      <a:r>
                        <a:rPr lang="en-US" sz="910" dirty="0">
                          <a:solidFill>
                            <a:srgbClr val="1F2328"/>
                          </a:solidFill>
                          <a:latin typeface="Aptos" pitchFamily="34" charset="0"/>
                          <a:ea typeface="Aptos" pitchFamily="34" charset="-122"/>
                          <a:cs typeface="Aptos" pitchFamily="34" charset="-120"/>
                        </a:rPr>
                        <a:t>Large-step ratio†</a:t>
                      </a:r>
                      <a:endParaRPr lang="en-US" sz="91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910" dirty="0">
                          <a:solidFill>
                            <a:srgbClr val="1F2328"/>
                          </a:solidFill>
                          <a:latin typeface="Aptos" pitchFamily="34" charset="0"/>
                          <a:ea typeface="Aptos" pitchFamily="34" charset="-122"/>
                          <a:cs typeface="Aptos" pitchFamily="34" charset="-120"/>
                        </a:rPr>
                        <a:t>0.0000</a:t>
                      </a:r>
                      <a:endParaRPr lang="en-US" sz="91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910" dirty="0">
                          <a:solidFill>
                            <a:srgbClr val="1F2328"/>
                          </a:solidFill>
                          <a:latin typeface="Aptos" pitchFamily="34" charset="0"/>
                          <a:ea typeface="Aptos" pitchFamily="34" charset="-122"/>
                          <a:cs typeface="Aptos" pitchFamily="34" charset="-120"/>
                        </a:rPr>
                        <a:t>no unrealistic jumps</a:t>
                      </a:r>
                      <a:endParaRPr lang="en-US" sz="91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385354">
                <a:tc>
                  <a:txBody>
                    <a:bodyPr/>
                    <a:lstStyle/>
                    <a:p>
                      <a:pPr marL="0" indent="0">
                        <a:buNone/>
                      </a:pPr>
                      <a:r>
                        <a:rPr lang="en-US" sz="910" dirty="0">
                          <a:solidFill>
                            <a:srgbClr val="1F2328"/>
                          </a:solidFill>
                          <a:latin typeface="Aptos" pitchFamily="34" charset="0"/>
                          <a:ea typeface="Aptos" pitchFamily="34" charset="-122"/>
                          <a:cs typeface="Aptos" pitchFamily="34" charset="-120"/>
                        </a:rPr>
                        <a:t>Direction bias†</a:t>
                      </a:r>
                      <a:endParaRPr lang="en-US" sz="91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910" dirty="0">
                          <a:solidFill>
                            <a:srgbClr val="1F2328"/>
                          </a:solidFill>
                          <a:latin typeface="Aptos" pitchFamily="34" charset="0"/>
                          <a:ea typeface="Aptos" pitchFamily="34" charset="-122"/>
                          <a:cs typeface="Aptos" pitchFamily="34" charset="-120"/>
                        </a:rPr>
                        <a:t>dx 0.0019, dy 0.0051</a:t>
                      </a:r>
                      <a:endParaRPr lang="en-US" sz="91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910" dirty="0">
                          <a:solidFill>
                            <a:srgbClr val="1F2328"/>
                          </a:solidFill>
                          <a:latin typeface="Aptos" pitchFamily="34" charset="0"/>
                          <a:ea typeface="Aptos" pitchFamily="34" charset="-122"/>
                          <a:cs typeface="Aptos" pitchFamily="34" charset="-120"/>
                        </a:rPr>
                        <a:t>below 0.01 threshold</a:t>
                      </a:r>
                      <a:endParaRPr lang="en-US" sz="91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bl>
          </a:graphicData>
        </a:graphic>
      </p:graphicFrame>
      <p:sp>
        <p:nvSpPr>
          <p:cNvPr id="10" name="Shape 7"/>
          <p:cNvSpPr/>
          <p:nvPr/>
        </p:nvSpPr>
        <p:spPr>
          <a:xfrm>
            <a:off x="7607808" y="2029968"/>
            <a:ext cx="3584448" cy="1024128"/>
          </a:xfrm>
          <a:prstGeom prst="roundRect">
            <a:avLst>
              <a:gd name="adj" fmla="val 7143"/>
            </a:avLst>
          </a:prstGeom>
          <a:solidFill>
            <a:srgbClr val="FFF9EB"/>
          </a:solidFill>
          <a:ln w="13970">
            <a:solidFill>
              <a:srgbClr val="F2B84B"/>
            </a:solidFill>
            <a:prstDash val="solid"/>
          </a:ln>
        </p:spPr>
      </p:sp>
      <p:sp>
        <p:nvSpPr>
          <p:cNvPr id="11" name="Text 8"/>
          <p:cNvSpPr/>
          <p:nvPr/>
        </p:nvSpPr>
        <p:spPr>
          <a:xfrm>
            <a:off x="7863840" y="2240280"/>
            <a:ext cx="1463040" cy="182880"/>
          </a:xfrm>
          <a:prstGeom prst="rect">
            <a:avLst/>
          </a:prstGeom>
          <a:noFill/>
        </p:spPr>
        <p:txBody>
          <a:bodyPr wrap="square" lIns="635" tIns="635" rIns="635" bIns="635" rtlCol="0" anchor="t">
            <a:normAutofit/>
          </a:bodyPr>
          <a:lstStyle/>
          <a:p>
            <a:pPr marL="0" indent="0" algn="l">
              <a:buNone/>
            </a:pPr>
            <a:r>
              <a:rPr lang="en-US" sz="1020" b="1" dirty="0">
                <a:solidFill>
                  <a:srgbClr val="0B2341"/>
                </a:solidFill>
                <a:latin typeface="Aptos" pitchFamily="34" charset="0"/>
                <a:ea typeface="Aptos" pitchFamily="34" charset="-122"/>
                <a:cs typeface="Aptos" pitchFamily="34" charset="-120"/>
              </a:rPr>
              <a:t>Claim boundary</a:t>
            </a:r>
            <a:endParaRPr lang="en-US" sz="1020" dirty="0"/>
          </a:p>
        </p:txBody>
      </p:sp>
      <p:sp>
        <p:nvSpPr>
          <p:cNvPr id="12" name="Text 9"/>
          <p:cNvSpPr/>
          <p:nvPr/>
        </p:nvSpPr>
        <p:spPr>
          <a:xfrm>
            <a:off x="7863840" y="2542032"/>
            <a:ext cx="2743200" cy="292608"/>
          </a:xfrm>
          <a:prstGeom prst="rect">
            <a:avLst/>
          </a:prstGeom>
          <a:noFill/>
        </p:spPr>
        <p:txBody>
          <a:bodyPr wrap="square" lIns="635" tIns="635" rIns="635" bIns="635" rtlCol="0" anchor="t">
            <a:normAutofit/>
          </a:bodyPr>
          <a:lstStyle/>
          <a:p>
            <a:pPr marL="0" indent="0" algn="l">
              <a:buNone/>
            </a:pPr>
            <a:r>
              <a:rPr lang="en-US" sz="1320" b="1" dirty="0">
                <a:solidFill>
                  <a:srgbClr val="1F2328"/>
                </a:solidFill>
                <a:latin typeface="Aptos" pitchFamily="34" charset="0"/>
                <a:ea typeface="Aptos" pitchFamily="34" charset="-122"/>
                <a:cs typeface="Aptos" pitchFamily="34" charset="-120"/>
              </a:rPr>
              <a:t>These checks show technical usability, not recovery ability.</a:t>
            </a:r>
            <a:endParaRPr lang="en-US" sz="1320" dirty="0"/>
          </a:p>
        </p:txBody>
      </p:sp>
      <p:sp>
        <p:nvSpPr>
          <p:cNvPr id="13" name="Text 10"/>
          <p:cNvSpPr/>
          <p:nvPr/>
        </p:nvSpPr>
        <p:spPr>
          <a:xfrm>
            <a:off x="7726680" y="3419856"/>
            <a:ext cx="3291840" cy="566928"/>
          </a:xfrm>
          <a:prstGeom prst="rect">
            <a:avLst/>
          </a:prstGeom>
          <a:noFill/>
        </p:spPr>
        <p:txBody>
          <a:bodyPr wrap="square" lIns="635" tIns="635" rIns="635" bIns="635" rtlCol="0" anchor="t">
            <a:normAutofit/>
          </a:bodyPr>
          <a:lstStyle/>
          <a:p>
            <a:pPr marL="0" indent="0" algn="l">
              <a:buNone/>
            </a:pPr>
            <a:r>
              <a:rPr lang="en-US" sz="1120" dirty="0">
                <a:solidFill>
                  <a:srgbClr val="526171"/>
                </a:solidFill>
                <a:latin typeface="Aptos" pitchFamily="34" charset="0"/>
                <a:ea typeface="Aptos" pitchFamily="34" charset="-122"/>
                <a:cs typeface="Aptos" pitchFamily="34" charset="-120"/>
              </a:rPr>
              <a:t>Recovery is tested only in the paired refinement experiments: SDEdit first, then conditional residual DDPM.</a:t>
            </a:r>
            <a:endParaRPr lang="en-US" sz="1120" dirty="0"/>
          </a:p>
        </p:txBody>
      </p:sp>
      <p:sp>
        <p:nvSpPr>
          <p:cNvPr id="14" name="Text 11"/>
          <p:cNvSpPr/>
          <p:nvPr/>
        </p:nvSpPr>
        <p:spPr>
          <a:xfrm>
            <a:off x="502920" y="6336792"/>
            <a:ext cx="11155680" cy="146304"/>
          </a:xfrm>
          <a:prstGeom prst="rect">
            <a:avLst/>
          </a:prstGeom>
          <a:noFill/>
        </p:spPr>
        <p:txBody>
          <a:bodyPr wrap="square" lIns="0" tIns="0" rIns="0" bIns="0" rtlCol="0" anchor="ctr"/>
          <a:lstStyle/>
          <a:p>
            <a:pPr marL="0" indent="0">
              <a:buNone/>
            </a:pPr>
            <a:r>
              <a:rPr lang="en-US" sz="750" i="1" dirty="0">
                <a:solidFill>
                  <a:srgbClr val="748094"/>
                </a:solidFill>
                <a:latin typeface="Aptos" pitchFamily="34" charset="0"/>
                <a:ea typeface="Aptos" pitchFamily="34" charset="-122"/>
                <a:cs typeface="Aptos" pitchFamily="34" charset="-120"/>
              </a:rPr>
              <a:t>† Custom internal diagnostics for this experiment; not standardized community metrics.</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8046720" cy="347472"/>
          </a:xfrm>
          <a:prstGeom prst="rect">
            <a:avLst/>
          </a:prstGeom>
          <a:noFill/>
        </p:spPr>
        <p:txBody>
          <a:bodyPr wrap="square" lIns="0" tIns="0" rIns="0" bIns="0" rtlCol="0" anchor="ctr"/>
          <a:lstStyle/>
          <a:p>
            <a:pPr marL="0" indent="0">
              <a:buNone/>
            </a:pPr>
            <a:r>
              <a:rPr lang="en-US" sz="2200" b="1" dirty="0">
                <a:solidFill>
                  <a:srgbClr val="0B2341"/>
                </a:solidFill>
                <a:latin typeface="Aptos" pitchFamily="34" charset="0"/>
                <a:ea typeface="Aptos" pitchFamily="34" charset="-122"/>
                <a:cs typeface="Aptos" pitchFamily="34" charset="-120"/>
              </a:rPr>
              <a:t>Controlled degradation: six error structures, one paired protocol</a:t>
            </a:r>
            <a:endParaRPr lang="en-US" sz="2200" dirty="0"/>
          </a:p>
        </p:txBody>
      </p:sp>
      <p:sp>
        <p:nvSpPr>
          <p:cNvPr id="4" name="Text 2"/>
          <p:cNvSpPr/>
          <p:nvPr/>
        </p:nvSpPr>
        <p:spPr>
          <a:xfrm>
            <a:off x="10287000" y="347472"/>
            <a:ext cx="1371600" cy="237744"/>
          </a:xfrm>
          <a:prstGeom prst="rect">
            <a:avLst/>
          </a:prstGeom>
          <a:noFill/>
        </p:spPr>
        <p:txBody>
          <a:bodyPr wrap="square" lIns="0" tIns="0" rIns="0" bIns="0" rtlCol="0" anchor="ctr"/>
          <a:lstStyle/>
          <a:p>
            <a:pPr marL="0" indent="0" algn="r">
              <a:buNone/>
            </a:pPr>
            <a:r>
              <a:rPr lang="en-US" sz="900" dirty="0">
                <a:solidFill>
                  <a:srgbClr val="526171"/>
                </a:solidFill>
                <a:latin typeface="Aptos" pitchFamily="34" charset="0"/>
                <a:ea typeface="Aptos" pitchFamily="34" charset="-122"/>
                <a:cs typeface="Aptos" pitchFamily="34" charset="-120"/>
              </a:rPr>
              <a:t>6/ 13</a:t>
            </a:r>
            <a:endParaRPr lang="en-US" sz="900" dirty="0"/>
          </a:p>
        </p:txBody>
      </p:sp>
      <p:sp>
        <p:nvSpPr>
          <p:cNvPr id="5" name="Shape 3"/>
          <p:cNvSpPr/>
          <p:nvPr/>
        </p:nvSpPr>
        <p:spPr>
          <a:xfrm>
            <a:off x="502920" y="768096"/>
            <a:ext cx="11173968" cy="0"/>
          </a:xfrm>
          <a:prstGeom prst="line">
            <a:avLst/>
          </a:prstGeom>
          <a:noFill/>
          <a:ln w="8890">
            <a:solidFill>
              <a:srgbClr val="D7DDE5"/>
            </a:solidFill>
            <a:prstDash val="solid"/>
          </a:ln>
        </p:spPr>
      </p:sp>
      <p:sp>
        <p:nvSpPr>
          <p:cNvPr id="6" name="Text 4"/>
          <p:cNvSpPr/>
          <p:nvPr/>
        </p:nvSpPr>
        <p:spPr>
          <a:xfrm>
            <a:off x="502920" y="6519672"/>
            <a:ext cx="6858000" cy="164592"/>
          </a:xfrm>
          <a:prstGeom prst="rect">
            <a:avLst/>
          </a:prstGeom>
          <a:noFill/>
        </p:spPr>
        <p:txBody>
          <a:bodyPr wrap="square" lIns="0" tIns="0" rIns="0" bIns="0" rtlCol="0" anchor="ctr"/>
          <a:lstStyle/>
          <a:p>
            <a:pPr marL="0" indent="0">
              <a:buNone/>
            </a:pPr>
            <a:r>
              <a:rPr lang="en-US" sz="850" dirty="0">
                <a:solidFill>
                  <a:srgbClr val="7B8794"/>
                </a:solidFill>
                <a:latin typeface="Aptos" pitchFamily="34" charset="0"/>
                <a:ea typeface="Aptos" pitchFamily="34" charset="-122"/>
                <a:cs typeface="Aptos" pitchFamily="34" charset="-120"/>
              </a:rPr>
              <a:t>Stage 3 — DDPM-based Indoor Trajectory Refinement</a:t>
            </a:r>
            <a:endParaRPr lang="en-US" sz="850" dirty="0"/>
          </a:p>
        </p:txBody>
      </p:sp>
      <p:pic>
        <p:nvPicPr>
          <p:cNvPr id="8" name="Image 1" descr="/mnt/data/docx_extract/word/media/image4.png"/>
          <p:cNvPicPr>
            <a:picLocks noChangeAspect="1"/>
          </p:cNvPicPr>
          <p:nvPr/>
        </p:nvPicPr>
        <p:blipFill>
          <a:blip r:embed="rId1"/>
          <a:stretch>
            <a:fillRect/>
          </a:stretch>
        </p:blipFill>
        <p:spPr>
          <a:xfrm>
            <a:off x="232410" y="1036320"/>
            <a:ext cx="6325870" cy="4347845"/>
          </a:xfrm>
          <a:prstGeom prst="rect">
            <a:avLst/>
          </a:prstGeom>
        </p:spPr>
      </p:pic>
      <p:sp>
        <p:nvSpPr>
          <p:cNvPr id="15" name="Text 10"/>
          <p:cNvSpPr/>
          <p:nvPr/>
        </p:nvSpPr>
        <p:spPr>
          <a:xfrm>
            <a:off x="502920" y="6336792"/>
            <a:ext cx="11155680" cy="146304"/>
          </a:xfrm>
          <a:prstGeom prst="rect">
            <a:avLst/>
          </a:prstGeom>
          <a:noFill/>
        </p:spPr>
        <p:txBody>
          <a:bodyPr wrap="square" lIns="0" tIns="0" rIns="0" bIns="0" rtlCol="0" anchor="ctr"/>
          <a:lstStyle/>
          <a:p>
            <a:pPr marL="0" indent="0">
              <a:buNone/>
            </a:pPr>
            <a:r>
              <a:rPr lang="en-US" sz="750" i="1" dirty="0">
                <a:solidFill>
                  <a:srgbClr val="748094"/>
                </a:solidFill>
                <a:latin typeface="Aptos" pitchFamily="34" charset="0"/>
                <a:ea typeface="Aptos" pitchFamily="34" charset="-122"/>
                <a:cs typeface="Aptos" pitchFamily="34" charset="-120"/>
              </a:rPr>
              <a:t>Figs. 3–4 from the report. The same clean trajectory is degraded under all six example panels.</a:t>
            </a:r>
            <a:endParaRPr lang="en-US" sz="750" dirty="0"/>
          </a:p>
        </p:txBody>
      </p:sp>
      <p:graphicFrame>
        <p:nvGraphicFramePr>
          <p:cNvPr id="16" name="Table 0"/>
          <p:cNvGraphicFramePr>
            <a:graphicFrameLocks noGrp="1"/>
          </p:cNvGraphicFramePr>
          <p:nvPr>
            <p:custDataLst>
              <p:tags r:id="rId2"/>
            </p:custDataLst>
          </p:nvPr>
        </p:nvGraphicFramePr>
        <p:xfrm>
          <a:off x="6684645" y="2025015"/>
          <a:ext cx="4992370" cy="3063240"/>
        </p:xfrm>
        <a:graphic>
          <a:graphicData uri="http://schemas.openxmlformats.org/drawingml/2006/table">
            <a:tbl>
              <a:tblPr/>
              <a:tblGrid>
                <a:gridCol w="1462083"/>
                <a:gridCol w="1000455"/>
                <a:gridCol w="1000456"/>
                <a:gridCol w="1529080"/>
              </a:tblGrid>
              <a:tr h="334010">
                <a:tc>
                  <a:txBody>
                    <a:bodyPr/>
                    <a:p>
                      <a:pPr marL="0" indent="0">
                        <a:buNone/>
                      </a:pPr>
                      <a:r>
                        <a:rPr lang="en-US" sz="880" dirty="0">
                          <a:solidFill>
                            <a:schemeClr val="bg1"/>
                          </a:solidFill>
                          <a:latin typeface="Aptos" pitchFamily="34" charset="0"/>
                          <a:ea typeface="Aptos" pitchFamily="34" charset="0"/>
                          <a:cs typeface="Aptos" pitchFamily="34" charset="0"/>
                        </a:rPr>
                        <a:t>Degradation</a:t>
                      </a:r>
                      <a:endParaRPr lang="en-US" sz="880" dirty="0">
                        <a:solidFill>
                          <a:schemeClr val="bg1"/>
                        </a:solidFill>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c>
                  <a:txBody>
                    <a:bodyPr/>
                    <a:p>
                      <a:pPr marL="0" indent="0">
                        <a:buNone/>
                      </a:pPr>
                      <a:r>
                        <a:rPr lang="en-US" sz="880" dirty="0">
                          <a:solidFill>
                            <a:schemeClr val="bg1"/>
                          </a:solidFill>
                          <a:latin typeface="Aptos" pitchFamily="34" charset="0"/>
                          <a:ea typeface="Aptos" pitchFamily="34" charset="0"/>
                          <a:cs typeface="Aptos" pitchFamily="34" charset="0"/>
                        </a:rPr>
                        <a:t>ADE</a:t>
                      </a:r>
                      <a:endParaRPr lang="en-US" sz="880" dirty="0">
                        <a:solidFill>
                          <a:schemeClr val="bg1"/>
                        </a:solidFill>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c>
                  <a:txBody>
                    <a:bodyPr/>
                    <a:p>
                      <a:pPr marL="0" indent="0">
                        <a:buNone/>
                      </a:pPr>
                      <a:r>
                        <a:rPr lang="en-US" sz="880" dirty="0">
                          <a:solidFill>
                            <a:schemeClr val="bg1"/>
                          </a:solidFill>
                          <a:latin typeface="Aptos" pitchFamily="34" charset="0"/>
                          <a:ea typeface="Aptos" pitchFamily="34" charset="0"/>
                          <a:cs typeface="Aptos" pitchFamily="34" charset="0"/>
                        </a:rPr>
                        <a:t>RMSE</a:t>
                      </a:r>
                      <a:endParaRPr lang="en-US" sz="880" dirty="0">
                        <a:solidFill>
                          <a:schemeClr val="bg1"/>
                        </a:solidFill>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c>
                  <a:txBody>
                    <a:bodyPr/>
                    <a:p>
                      <a:pPr marL="0" indent="0">
                        <a:buNone/>
                      </a:pPr>
                      <a:r>
                        <a:rPr lang="en-US" sz="880" dirty="0">
                          <a:solidFill>
                            <a:schemeClr val="bg1"/>
                          </a:solidFill>
                          <a:latin typeface="Aptos" pitchFamily="34" charset="0"/>
                          <a:ea typeface="Aptos" pitchFamily="34" charset="0"/>
                          <a:cs typeface="Aptos" pitchFamily="34" charset="0"/>
                        </a:rPr>
                        <a:t>FDE</a:t>
                      </a:r>
                      <a:endParaRPr lang="en-US" sz="880" dirty="0">
                        <a:solidFill>
                          <a:schemeClr val="bg1"/>
                        </a:solidFill>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r>
              <a:tr h="365760">
                <a:tc>
                  <a:txBody>
                    <a:bodyPr/>
                    <a:p>
                      <a:pPr marL="0" indent="0">
                        <a:buNone/>
                      </a:pPr>
                      <a:r>
                        <a:rPr lang="en-US" sz="880" dirty="0">
                          <a:solidFill>
                            <a:srgbClr val="FF0000"/>
                          </a:solidFill>
                          <a:latin typeface="Aptos" pitchFamily="34" charset="0"/>
                          <a:ea typeface="Aptos" pitchFamily="34" charset="0"/>
                          <a:cs typeface="Aptos" pitchFamily="34" charset="0"/>
                        </a:rPr>
                        <a:t>gaussian_medium</a:t>
                      </a:r>
                      <a:endParaRPr lang="en-US" sz="880" dirty="0">
                        <a:solidFill>
                          <a:srgbClr val="FF0000"/>
                        </a:solidFill>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p>
                      <a:pPr marL="0" indent="0">
                        <a:buNone/>
                      </a:pPr>
                      <a:r>
                        <a:rPr lang="en-US" sz="880" dirty="0">
                          <a:solidFill>
                            <a:srgbClr val="FF0000"/>
                          </a:solidFill>
                          <a:latin typeface="Aptos" pitchFamily="34" charset="0"/>
                          <a:ea typeface="Aptos" pitchFamily="34" charset="0"/>
                          <a:cs typeface="Aptos" pitchFamily="34" charset="0"/>
                        </a:rPr>
                        <a:t>0.0626 ± 0.0077</a:t>
                      </a:r>
                      <a:endParaRPr lang="en-US" sz="880" dirty="0">
                        <a:solidFill>
                          <a:srgbClr val="FF0000"/>
                        </a:solidFill>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p>
                      <a:pPr marL="0" indent="0">
                        <a:buNone/>
                      </a:pPr>
                      <a:r>
                        <a:rPr lang="en-US" sz="880" dirty="0">
                          <a:solidFill>
                            <a:srgbClr val="FF0000"/>
                          </a:solidFill>
                          <a:latin typeface="Aptos" pitchFamily="34" charset="0"/>
                          <a:ea typeface="Aptos" pitchFamily="34" charset="0"/>
                          <a:cs typeface="Aptos" pitchFamily="34" charset="0"/>
                        </a:rPr>
                        <a:t>0.0698 ± 0.0081</a:t>
                      </a:r>
                      <a:endParaRPr lang="en-US" sz="880" dirty="0">
                        <a:solidFill>
                          <a:srgbClr val="FF0000"/>
                        </a:solidFill>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p>
                      <a:pPr marL="0" indent="0">
                        <a:buNone/>
                      </a:pPr>
                      <a:r>
                        <a:rPr lang="en-US" sz="880" dirty="0">
                          <a:solidFill>
                            <a:srgbClr val="FF0000"/>
                          </a:solidFill>
                          <a:latin typeface="Aptos" pitchFamily="34" charset="0"/>
                          <a:ea typeface="Aptos" pitchFamily="34" charset="0"/>
                          <a:cs typeface="Aptos" pitchFamily="34" charset="0"/>
                        </a:rPr>
                        <a:t>0.0628 ± 0.0335</a:t>
                      </a:r>
                      <a:endParaRPr lang="en-US" sz="880" dirty="0">
                        <a:solidFill>
                          <a:srgbClr val="FF0000"/>
                        </a:solidFill>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334010">
                <a:tc>
                  <a:txBody>
                    <a:bodyPr/>
                    <a:p>
                      <a:pPr marL="0" indent="0">
                        <a:buNone/>
                      </a:pPr>
                      <a:r>
                        <a:rPr lang="en-US" altLang="en-US" sz="880" dirty="0">
                          <a:solidFill>
                            <a:schemeClr val="accent6"/>
                          </a:solidFill>
                          <a:latin typeface="Aptos" pitchFamily="34" charset="0"/>
                          <a:ea typeface="Aptos" pitchFamily="34" charset="0"/>
                          <a:cs typeface="Aptos" pitchFamily="34" charset="0"/>
                        </a:rPr>
                        <a:t>drift_medium</a:t>
                      </a:r>
                      <a:endParaRPr lang="en-US" altLang="en-US" sz="880" dirty="0">
                        <a:solidFill>
                          <a:schemeClr val="accent6"/>
                        </a:solidFill>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altLang="en-US" sz="880" dirty="0">
                          <a:solidFill>
                            <a:schemeClr val="accent6"/>
                          </a:solidFill>
                          <a:latin typeface="Aptos" pitchFamily="34" charset="0"/>
                          <a:ea typeface="Aptos" pitchFamily="34" charset="0"/>
                          <a:cs typeface="Aptos" pitchFamily="34" charset="0"/>
                        </a:rPr>
                        <a:t>0.0176 ± 0.0069</a:t>
                      </a:r>
                      <a:endParaRPr lang="en-US" altLang="en-US" sz="880" dirty="0">
                        <a:solidFill>
                          <a:schemeClr val="accent6"/>
                        </a:solidFill>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altLang="en-US" sz="880" dirty="0">
                          <a:solidFill>
                            <a:schemeClr val="accent6"/>
                          </a:solidFill>
                          <a:latin typeface="Aptos" pitchFamily="34" charset="0"/>
                          <a:ea typeface="Aptos" pitchFamily="34" charset="0"/>
                          <a:cs typeface="Aptos" pitchFamily="34" charset="0"/>
                        </a:rPr>
                        <a:t>0.0199 ± 0.0076</a:t>
                      </a:r>
                      <a:endParaRPr lang="en-US" altLang="en-US" sz="880" dirty="0">
                        <a:solidFill>
                          <a:schemeClr val="accent6"/>
                        </a:solidFill>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altLang="en-US" sz="880" dirty="0">
                          <a:solidFill>
                            <a:schemeClr val="accent6"/>
                          </a:solidFill>
                          <a:latin typeface="Aptos" pitchFamily="34" charset="0"/>
                          <a:ea typeface="Aptos" pitchFamily="34" charset="0"/>
                          <a:cs typeface="Aptos" pitchFamily="34" charset="0"/>
                        </a:rPr>
                        <a:t>0.0261 ± 0.0131</a:t>
                      </a:r>
                      <a:endParaRPr lang="en-US" altLang="en-US" sz="880" dirty="0">
                        <a:solidFill>
                          <a:schemeClr val="accent6"/>
                        </a:solidFill>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334010">
                <a:tc>
                  <a:txBody>
                    <a:bodyPr/>
                    <a:p>
                      <a:pPr marL="0" indent="0">
                        <a:buNone/>
                      </a:pPr>
                      <a:r>
                        <a:rPr lang="en-US" altLang="en-US" sz="880" dirty="0">
                          <a:latin typeface="Aptos" pitchFamily="34" charset="0"/>
                          <a:ea typeface="Aptos" pitchFamily="34" charset="0"/>
                          <a:cs typeface="Aptos" pitchFamily="34" charset="0"/>
                        </a:rPr>
                        <a:t>jump_medium</a:t>
                      </a:r>
                      <a:endParaRPr lang="en-US" alt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altLang="en-US" sz="880" dirty="0">
                          <a:latin typeface="Aptos" pitchFamily="34" charset="0"/>
                          <a:ea typeface="Aptos" pitchFamily="34" charset="0"/>
                          <a:cs typeface="Aptos" pitchFamily="34" charset="0"/>
                        </a:rPr>
                        <a:t>0.2634 ± 0.0890</a:t>
                      </a:r>
                      <a:endParaRPr lang="en-US" alt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altLang="en-US" sz="880" dirty="0">
                          <a:latin typeface="Aptos" pitchFamily="34" charset="0"/>
                          <a:ea typeface="Aptos" pitchFamily="34" charset="0"/>
                          <a:cs typeface="Aptos" pitchFamily="34" charset="0"/>
                        </a:rPr>
                        <a:t>0.3040 ± 0.0700</a:t>
                      </a:r>
                      <a:endParaRPr lang="en-US" alt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altLang="en-US" sz="880" dirty="0">
                          <a:latin typeface="Aptos" pitchFamily="34" charset="0"/>
                          <a:ea typeface="Aptos" pitchFamily="34" charset="0"/>
                          <a:cs typeface="Aptos" pitchFamily="34" charset="0"/>
                        </a:rPr>
                        <a:t>0.3542 ± 0.0904</a:t>
                      </a:r>
                      <a:endParaRPr lang="en-US" alt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334010">
                <a:tc>
                  <a:txBody>
                    <a:bodyPr/>
                    <a:p>
                      <a:pPr marL="0" indent="0">
                        <a:buNone/>
                      </a:pPr>
                      <a:r>
                        <a:rPr lang="en-US" sz="880" dirty="0">
                          <a:latin typeface="Aptos" pitchFamily="34" charset="0"/>
                          <a:ea typeface="Aptos" pitchFamily="34" charset="0"/>
                          <a:cs typeface="Aptos" pitchFamily="34" charset="0"/>
                        </a:rPr>
                        <a:t>burst_medium</a:t>
                      </a:r>
                      <a:endParaRPr 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sz="880" dirty="0">
                          <a:latin typeface="Aptos" pitchFamily="34" charset="0"/>
                          <a:ea typeface="Aptos" pitchFamily="34" charset="0"/>
                          <a:cs typeface="Aptos" pitchFamily="34" charset="0"/>
                        </a:rPr>
                        <a:t>0.0748 ± 0.0204</a:t>
                      </a:r>
                      <a:endParaRPr 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sz="880" dirty="0">
                          <a:latin typeface="Aptos" pitchFamily="34" charset="0"/>
                          <a:ea typeface="Aptos" pitchFamily="34" charset="0"/>
                          <a:cs typeface="Aptos" pitchFamily="34" charset="0"/>
                        </a:rPr>
                        <a:t>0.1574 ± 0.0431</a:t>
                      </a:r>
                      <a:endParaRPr 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sz="880" dirty="0">
                          <a:latin typeface="Aptos" pitchFamily="34" charset="0"/>
                          <a:ea typeface="Aptos" pitchFamily="34" charset="0"/>
                          <a:cs typeface="Aptos" pitchFamily="34" charset="0"/>
                        </a:rPr>
                        <a:t>0.0425 ± 0.1133</a:t>
                      </a:r>
                      <a:endParaRPr 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334010">
                <a:tc>
                  <a:txBody>
                    <a:bodyPr/>
                    <a:p>
                      <a:pPr marL="0" indent="0">
                        <a:buNone/>
                      </a:pPr>
                      <a:r>
                        <a:rPr lang="en-US" altLang="en-US" sz="880" dirty="0">
                          <a:latin typeface="Aptos" pitchFamily="34" charset="0"/>
                          <a:ea typeface="Aptos" pitchFamily="34" charset="0"/>
                          <a:cs typeface="Aptos" pitchFamily="34" charset="0"/>
                        </a:rPr>
                        <a:t>bias_medium</a:t>
                      </a:r>
                      <a:endParaRPr lang="en-US" alt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altLang="en-US" sz="880" dirty="0">
                          <a:latin typeface="Aptos" pitchFamily="34" charset="0"/>
                          <a:ea typeface="Aptos" pitchFamily="34" charset="0"/>
                          <a:cs typeface="Aptos" pitchFamily="34" charset="0"/>
                        </a:rPr>
                        <a:t>0.1890 ± 0.0957</a:t>
                      </a:r>
                      <a:endParaRPr lang="en-US" alt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altLang="en-US" sz="880" dirty="0">
                          <a:latin typeface="Aptos" pitchFamily="34" charset="0"/>
                          <a:ea typeface="Aptos" pitchFamily="34" charset="0"/>
                          <a:cs typeface="Aptos" pitchFamily="34" charset="0"/>
                        </a:rPr>
                        <a:t>0.1890 ± 0.0957</a:t>
                      </a:r>
                      <a:endParaRPr lang="en-US" alt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altLang="en-US" sz="880" dirty="0">
                          <a:latin typeface="Aptos" pitchFamily="34" charset="0"/>
                          <a:ea typeface="Aptos" pitchFamily="34" charset="0"/>
                          <a:cs typeface="Aptos" pitchFamily="34" charset="0"/>
                        </a:rPr>
                        <a:t>0.1890 ± 0.0957</a:t>
                      </a:r>
                      <a:endParaRPr lang="en-US" alt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334010">
                <a:tc>
                  <a:txBody>
                    <a:bodyPr/>
                    <a:p>
                      <a:pPr marL="0" indent="0">
                        <a:buNone/>
                      </a:pPr>
                      <a:r>
                        <a:rPr lang="en-US" altLang="en-US" sz="880" dirty="0">
                          <a:latin typeface="Aptos" pitchFamily="34" charset="0"/>
                          <a:ea typeface="Aptos" pitchFamily="34" charset="0"/>
                          <a:cs typeface="Aptos" pitchFamily="34" charset="0"/>
                        </a:rPr>
                        <a:t>combined_medium</a:t>
                      </a:r>
                      <a:endParaRPr lang="en-US" alt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altLang="en-US" sz="880" dirty="0">
                          <a:latin typeface="Aptos" pitchFamily="34" charset="0"/>
                          <a:ea typeface="Aptos" pitchFamily="34" charset="0"/>
                          <a:cs typeface="Aptos" pitchFamily="34" charset="0"/>
                        </a:rPr>
                        <a:t>0.1991 ± 0.0867</a:t>
                      </a:r>
                      <a:endParaRPr lang="en-US" alt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altLang="en-US" sz="880" dirty="0">
                          <a:latin typeface="Aptos" pitchFamily="34" charset="0"/>
                          <a:ea typeface="Aptos" pitchFamily="34" charset="0"/>
                          <a:cs typeface="Aptos" pitchFamily="34" charset="0"/>
                        </a:rPr>
                        <a:t>0.2053 ± 0.0848</a:t>
                      </a:r>
                      <a:endParaRPr lang="en-US" alt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altLang="en-US" sz="880" dirty="0">
                          <a:latin typeface="Aptos" pitchFamily="34" charset="0"/>
                          <a:ea typeface="Aptos" pitchFamily="34" charset="0"/>
                          <a:cs typeface="Aptos" pitchFamily="34" charset="0"/>
                        </a:rPr>
                        <a:t>0.2027 ± 0.1051</a:t>
                      </a:r>
                      <a:endParaRPr lang="en-US" alt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8046720" cy="347472"/>
          </a:xfrm>
          <a:prstGeom prst="rect">
            <a:avLst/>
          </a:prstGeom>
          <a:noFill/>
        </p:spPr>
        <p:txBody>
          <a:bodyPr wrap="square" lIns="0" tIns="0" rIns="0" bIns="0" rtlCol="0" anchor="ctr"/>
          <a:lstStyle/>
          <a:p>
            <a:pPr marL="0" indent="0">
              <a:buNone/>
            </a:pPr>
            <a:r>
              <a:rPr lang="en-US" sz="2200" b="1" dirty="0">
                <a:solidFill>
                  <a:srgbClr val="0B2341"/>
                </a:solidFill>
                <a:latin typeface="Aptos" pitchFamily="34" charset="0"/>
                <a:ea typeface="Aptos" pitchFamily="34" charset="-122"/>
                <a:cs typeface="Aptos" pitchFamily="34" charset="-120"/>
              </a:rPr>
              <a:t>Unconditional SDEdit: method, reference, and sweep</a:t>
            </a:r>
            <a:endParaRPr lang="en-US" sz="2200" dirty="0"/>
          </a:p>
        </p:txBody>
      </p:sp>
      <p:sp>
        <p:nvSpPr>
          <p:cNvPr id="4" name="Text 2"/>
          <p:cNvSpPr/>
          <p:nvPr/>
        </p:nvSpPr>
        <p:spPr>
          <a:xfrm>
            <a:off x="10287000" y="347472"/>
            <a:ext cx="1371600" cy="237744"/>
          </a:xfrm>
          <a:prstGeom prst="rect">
            <a:avLst/>
          </a:prstGeom>
          <a:noFill/>
        </p:spPr>
        <p:txBody>
          <a:bodyPr wrap="square" lIns="0" tIns="0" rIns="0" bIns="0" rtlCol="0" anchor="ctr"/>
          <a:lstStyle/>
          <a:p>
            <a:pPr marL="0" indent="0" algn="r">
              <a:buNone/>
            </a:pPr>
            <a:r>
              <a:rPr lang="en-US" sz="900" dirty="0">
                <a:solidFill>
                  <a:srgbClr val="526171"/>
                </a:solidFill>
                <a:latin typeface="Aptos" pitchFamily="34" charset="0"/>
                <a:ea typeface="Aptos" pitchFamily="34" charset="-122"/>
                <a:cs typeface="Aptos" pitchFamily="34" charset="-120"/>
              </a:rPr>
              <a:t>7 / 13</a:t>
            </a:r>
            <a:endParaRPr lang="en-US" sz="900" dirty="0"/>
          </a:p>
        </p:txBody>
      </p:sp>
      <p:sp>
        <p:nvSpPr>
          <p:cNvPr id="5" name="Shape 3"/>
          <p:cNvSpPr/>
          <p:nvPr/>
        </p:nvSpPr>
        <p:spPr>
          <a:xfrm>
            <a:off x="502920" y="768096"/>
            <a:ext cx="11173968" cy="0"/>
          </a:xfrm>
          <a:prstGeom prst="line">
            <a:avLst/>
          </a:prstGeom>
          <a:noFill/>
          <a:ln w="8890">
            <a:solidFill>
              <a:srgbClr val="D7DDE5"/>
            </a:solidFill>
            <a:prstDash val="solid"/>
          </a:ln>
        </p:spPr>
      </p:sp>
      <p:sp>
        <p:nvSpPr>
          <p:cNvPr id="6" name="Text 4"/>
          <p:cNvSpPr/>
          <p:nvPr/>
        </p:nvSpPr>
        <p:spPr>
          <a:xfrm>
            <a:off x="502920" y="6519672"/>
            <a:ext cx="6858000" cy="164592"/>
          </a:xfrm>
          <a:prstGeom prst="rect">
            <a:avLst/>
          </a:prstGeom>
          <a:noFill/>
        </p:spPr>
        <p:txBody>
          <a:bodyPr wrap="square" lIns="0" tIns="0" rIns="0" bIns="0" rtlCol="0" anchor="ctr"/>
          <a:lstStyle/>
          <a:p>
            <a:pPr marL="0" indent="0">
              <a:buNone/>
            </a:pPr>
            <a:r>
              <a:rPr lang="en-US" sz="850" dirty="0">
                <a:solidFill>
                  <a:srgbClr val="7B8794"/>
                </a:solidFill>
                <a:latin typeface="Aptos" pitchFamily="34" charset="0"/>
                <a:ea typeface="Aptos" pitchFamily="34" charset="-122"/>
                <a:cs typeface="Aptos" pitchFamily="34" charset="-120"/>
              </a:rPr>
              <a:t>Stage 3 — DDPM-based Indoor Trajectory Refinement</a:t>
            </a:r>
            <a:endParaRPr lang="en-US" sz="850" dirty="0"/>
          </a:p>
        </p:txBody>
      </p:sp>
      <p:pic>
        <p:nvPicPr>
          <p:cNvPr id="9" name="Image 0" descr="/mnt/data/docx_extract/word/media/image5.png"/>
          <p:cNvPicPr>
            <a:picLocks noChangeAspect="1"/>
          </p:cNvPicPr>
          <p:nvPr/>
        </p:nvPicPr>
        <p:blipFill>
          <a:blip r:embed="rId1"/>
          <a:stretch>
            <a:fillRect/>
          </a:stretch>
        </p:blipFill>
        <p:spPr>
          <a:xfrm>
            <a:off x="712863" y="1014603"/>
            <a:ext cx="4376651" cy="594360"/>
          </a:xfrm>
          <a:prstGeom prst="rect">
            <a:avLst/>
          </a:prstGeom>
        </p:spPr>
      </p:pic>
      <p:sp>
        <p:nvSpPr>
          <p:cNvPr id="10" name="Text 7"/>
          <p:cNvSpPr/>
          <p:nvPr/>
        </p:nvSpPr>
        <p:spPr>
          <a:xfrm>
            <a:off x="713232" y="1728343"/>
            <a:ext cx="2011680" cy="182880"/>
          </a:xfrm>
          <a:prstGeom prst="rect">
            <a:avLst/>
          </a:prstGeom>
          <a:noFill/>
        </p:spPr>
        <p:txBody>
          <a:bodyPr wrap="square" lIns="635" tIns="635" rIns="635" bIns="635" rtlCol="0" anchor="t">
            <a:normAutofit fontScale="90000" lnSpcReduction="20000"/>
          </a:bodyPr>
          <a:lstStyle/>
          <a:p>
            <a:pPr marL="0" indent="0" algn="l">
              <a:buNone/>
            </a:pPr>
            <a:r>
              <a:rPr lang="en-US" sz="1250" b="1" dirty="0">
                <a:solidFill>
                  <a:srgbClr val="0B2341"/>
                </a:solidFill>
                <a:latin typeface="Aptos" pitchFamily="34" charset="0"/>
                <a:ea typeface="Aptos" pitchFamily="34" charset="-122"/>
                <a:cs typeface="Aptos" pitchFamily="34" charset="-120"/>
              </a:rPr>
              <a:t>SDEdit mechanism</a:t>
            </a:r>
            <a:endParaRPr lang="en-US" sz="1250" dirty="0"/>
          </a:p>
        </p:txBody>
      </p:sp>
      <p:sp>
        <p:nvSpPr>
          <p:cNvPr id="11" name="Text 8"/>
          <p:cNvSpPr/>
          <p:nvPr/>
        </p:nvSpPr>
        <p:spPr>
          <a:xfrm>
            <a:off x="713232" y="2290064"/>
            <a:ext cx="5166360" cy="960120"/>
          </a:xfrm>
          <a:prstGeom prst="rect">
            <a:avLst/>
          </a:prstGeom>
          <a:noFill/>
        </p:spPr>
        <p:txBody>
          <a:bodyPr wrap="square" lIns="635" tIns="635" rIns="635" bIns="635" rtlCol="0" anchor="ctr">
            <a:normAutofit/>
          </a:bodyPr>
          <a:lstStyle/>
          <a:p>
            <a:r>
              <a:rPr lang="en-US" sz="1080" dirty="0">
                <a:solidFill>
                  <a:srgbClr val="1F2328"/>
                </a:solidFill>
                <a:latin typeface="Aptos" pitchFamily="34" charset="0"/>
                <a:ea typeface="Aptos" pitchFamily="34" charset="-122"/>
                <a:cs typeface="Aptos" pitchFamily="34" charset="-120"/>
              </a:rPr>
              <a:t>Forward: inject gaussian noise into the degraded trajectory up to t_start.</a:t>
            </a:r>
            <a:endParaRPr lang="en-US" sz="1080" dirty="0"/>
          </a:p>
          <a:p>
            <a:r>
              <a:rPr lang="en-US" sz="1080" dirty="0">
                <a:solidFill>
                  <a:srgbClr val="1F2328"/>
                </a:solidFill>
                <a:latin typeface="Aptos" pitchFamily="34" charset="0"/>
                <a:ea typeface="Aptos" pitchFamily="34" charset="-122"/>
                <a:cs typeface="Aptos" pitchFamily="34" charset="-120"/>
              </a:rPr>
              <a:t>Reverse: denoise with the pretrained DDPM prior back to t = 0.</a:t>
            </a:r>
            <a:endParaRPr lang="en-US" sz="1080" dirty="0"/>
          </a:p>
          <a:p>
            <a:r>
              <a:rPr lang="en-US" sz="1080" dirty="0">
                <a:solidFill>
                  <a:srgbClr val="1F2328"/>
                </a:solidFill>
                <a:latin typeface="Aptos" pitchFamily="34" charset="0"/>
                <a:ea typeface="Aptos" pitchFamily="34" charset="-122"/>
                <a:cs typeface="Aptos" pitchFamily="34" charset="-120"/>
              </a:rPr>
              <a:t>t_start controls the identity-to-prior-drift trade-off.</a:t>
            </a:r>
            <a:endParaRPr lang="en-US" sz="1080" dirty="0"/>
          </a:p>
        </p:txBody>
      </p:sp>
      <p:pic>
        <p:nvPicPr>
          <p:cNvPr id="12" name="Image 1" descr="/mnt/data/docx_extract/word/media/image6.png"/>
          <p:cNvPicPr>
            <a:picLocks noChangeAspect="1"/>
          </p:cNvPicPr>
          <p:nvPr/>
        </p:nvPicPr>
        <p:blipFill>
          <a:blip r:embed="rId2"/>
          <a:stretch>
            <a:fillRect/>
          </a:stretch>
        </p:blipFill>
        <p:spPr>
          <a:xfrm>
            <a:off x="5817870" y="951230"/>
            <a:ext cx="5859145" cy="3072765"/>
          </a:xfrm>
          <a:prstGeom prst="rect">
            <a:avLst/>
          </a:prstGeom>
        </p:spPr>
      </p:pic>
      <p:sp>
        <p:nvSpPr>
          <p:cNvPr id="16" name="Text 12"/>
          <p:cNvSpPr/>
          <p:nvPr/>
        </p:nvSpPr>
        <p:spPr>
          <a:xfrm>
            <a:off x="713232" y="3834003"/>
            <a:ext cx="2103120" cy="164592"/>
          </a:xfrm>
          <a:prstGeom prst="rect">
            <a:avLst/>
          </a:prstGeom>
          <a:noFill/>
        </p:spPr>
        <p:txBody>
          <a:bodyPr wrap="square" lIns="635" tIns="635" rIns="635" bIns="635" rtlCol="0" anchor="t">
            <a:normAutofit fontScale="90000"/>
          </a:bodyPr>
          <a:lstStyle/>
          <a:p>
            <a:pPr marL="0" indent="0" algn="l">
              <a:buNone/>
            </a:pPr>
            <a:r>
              <a:rPr lang="en-US" sz="1050" b="1" dirty="0">
                <a:solidFill>
                  <a:srgbClr val="0B2341"/>
                </a:solidFill>
                <a:latin typeface="Aptos" pitchFamily="34" charset="0"/>
                <a:ea typeface="Aptos" pitchFamily="34" charset="-122"/>
                <a:cs typeface="Aptos" pitchFamily="34" charset="-120"/>
              </a:rPr>
              <a:t>Why gaussian_medium first?</a:t>
            </a:r>
            <a:endParaRPr lang="en-US" sz="1050" dirty="0"/>
          </a:p>
        </p:txBody>
      </p:sp>
      <p:sp>
        <p:nvSpPr>
          <p:cNvPr id="17" name="Text 13"/>
          <p:cNvSpPr/>
          <p:nvPr/>
        </p:nvSpPr>
        <p:spPr>
          <a:xfrm>
            <a:off x="713232" y="4080256"/>
            <a:ext cx="5029200" cy="420624"/>
          </a:xfrm>
          <a:prstGeom prst="rect">
            <a:avLst/>
          </a:prstGeom>
          <a:noFill/>
        </p:spPr>
        <p:txBody>
          <a:bodyPr wrap="square" lIns="635" tIns="635" rIns="635" bIns="635" rtlCol="0" anchor="t">
            <a:normAutofit/>
          </a:bodyPr>
          <a:lstStyle/>
          <a:p>
            <a:pPr marL="0" indent="0" algn="l">
              <a:buNone/>
            </a:pPr>
            <a:r>
              <a:rPr lang="en-US" sz="1040" dirty="0">
                <a:solidFill>
                  <a:srgbClr val="1F2328"/>
                </a:solidFill>
                <a:latin typeface="Aptos" pitchFamily="34" charset="0"/>
                <a:ea typeface="Aptos" pitchFamily="34" charset="-122"/>
                <a:cs typeface="Aptos" pitchFamily="34" charset="-120"/>
              </a:rPr>
              <a:t>It is the most favourable condition for SDEdit because DDPM forward perturbation is gaussian. If prior-only editing can help, it should help here first.</a:t>
            </a:r>
            <a:endParaRPr lang="en-US" sz="1040" dirty="0"/>
          </a:p>
        </p:txBody>
      </p:sp>
      <p:sp>
        <p:nvSpPr>
          <p:cNvPr id="18" name="Text 14"/>
          <p:cNvSpPr/>
          <p:nvPr/>
        </p:nvSpPr>
        <p:spPr>
          <a:xfrm>
            <a:off x="502920" y="6336792"/>
            <a:ext cx="11155680" cy="146304"/>
          </a:xfrm>
          <a:prstGeom prst="rect">
            <a:avLst/>
          </a:prstGeom>
          <a:noFill/>
        </p:spPr>
        <p:txBody>
          <a:bodyPr wrap="square" lIns="0" tIns="0" rIns="0" bIns="0" rtlCol="0" anchor="ctr"/>
          <a:lstStyle/>
          <a:p>
            <a:pPr marL="0" indent="0">
              <a:buNone/>
            </a:pPr>
            <a:r>
              <a:rPr lang="en-US" sz="750" i="1" dirty="0">
                <a:solidFill>
                  <a:srgbClr val="748094"/>
                </a:solidFill>
                <a:latin typeface="Aptos" pitchFamily="34" charset="0"/>
                <a:ea typeface="Aptos" pitchFamily="34" charset="-122"/>
                <a:cs typeface="Aptos" pitchFamily="34" charset="-120"/>
              </a:rPr>
              <a:t>SDEdit reference: Meng et al., “SDEdit: Guided Image Synthesis and Editing with Stochastic Differential Equations,” ICLR 2022. DDPM reference: Ho et al., NeurIPS 2020.</a:t>
            </a:r>
            <a:endParaRPr lang="en-US" sz="750" dirty="0"/>
          </a:p>
        </p:txBody>
      </p:sp>
      <p:graphicFrame>
        <p:nvGraphicFramePr>
          <p:cNvPr id="19" name="Table 0"/>
          <p:cNvGraphicFramePr>
            <a:graphicFrameLocks noGrp="1"/>
          </p:cNvGraphicFramePr>
          <p:nvPr>
            <p:custDataLst>
              <p:tags r:id="rId3"/>
            </p:custDataLst>
          </p:nvPr>
        </p:nvGraphicFramePr>
        <p:xfrm>
          <a:off x="6031992" y="4024122"/>
          <a:ext cx="5257800" cy="1884045"/>
        </p:xfrm>
        <a:graphic>
          <a:graphicData uri="http://schemas.openxmlformats.org/drawingml/2006/table">
            <a:tbl>
              <a:tblPr/>
              <a:tblGrid>
                <a:gridCol w="1737360"/>
                <a:gridCol w="1188720"/>
                <a:gridCol w="1188720"/>
                <a:gridCol w="1143000"/>
              </a:tblGrid>
              <a:tr h="313690">
                <a:tc>
                  <a:txBody>
                    <a:bodyPr/>
                    <a:p>
                      <a:pPr marL="0" indent="0">
                        <a:buNone/>
                      </a:pPr>
                      <a:r>
                        <a:rPr lang="en-US" sz="880" dirty="0">
                          <a:solidFill>
                            <a:schemeClr val="bg1"/>
                          </a:solidFill>
                          <a:latin typeface="Times New Roman Regular" panose="02020503050405090304" charset="0"/>
                          <a:ea typeface="Aptos" pitchFamily="34" charset="0"/>
                          <a:cs typeface="Times New Roman Regular" panose="02020503050405090304" charset="0"/>
                        </a:rPr>
                        <a:t>method</a:t>
                      </a:r>
                      <a:endParaRPr lang="en-US" sz="880" dirty="0">
                        <a:solidFill>
                          <a:schemeClr val="bg1"/>
                        </a:solidFill>
                        <a:latin typeface="Times New Roman Regular" panose="02020503050405090304" charset="0"/>
                        <a:ea typeface="Aptos" pitchFamily="34" charset="0"/>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c>
                  <a:txBody>
                    <a:bodyPr/>
                    <a:p>
                      <a:pPr marL="0" indent="0">
                        <a:buNone/>
                      </a:pPr>
                      <a:r>
                        <a:rPr lang="en-US" sz="880" dirty="0">
                          <a:solidFill>
                            <a:schemeClr val="bg1"/>
                          </a:solidFill>
                          <a:latin typeface="Times New Roman Regular" panose="02020503050405090304" charset="0"/>
                          <a:ea typeface="Aptos" pitchFamily="34" charset="0"/>
                          <a:cs typeface="Times New Roman Regular" panose="02020503050405090304" charset="0"/>
                        </a:rPr>
                        <a:t>t_start</a:t>
                      </a:r>
                      <a:endParaRPr lang="en-US" sz="880" dirty="0">
                        <a:solidFill>
                          <a:schemeClr val="bg1"/>
                        </a:solidFill>
                        <a:latin typeface="Times New Roman Regular" panose="02020503050405090304" charset="0"/>
                        <a:ea typeface="Aptos" pitchFamily="34" charset="0"/>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c>
                  <a:txBody>
                    <a:bodyPr/>
                    <a:p>
                      <a:pPr marL="0" indent="0">
                        <a:buNone/>
                      </a:pPr>
                      <a:r>
                        <a:rPr lang="en-US" sz="880" dirty="0">
                          <a:solidFill>
                            <a:schemeClr val="bg1"/>
                          </a:solidFill>
                          <a:latin typeface="Times New Roman Regular" panose="02020503050405090304" charset="0"/>
                          <a:ea typeface="Aptos" pitchFamily="34" charset="0"/>
                          <a:cs typeface="Times New Roman Regular" panose="02020503050405090304" charset="0"/>
                        </a:rPr>
                        <a:t>ADE mean ± std</a:t>
                      </a:r>
                      <a:endParaRPr lang="en-US" sz="880" dirty="0">
                        <a:solidFill>
                          <a:schemeClr val="bg1"/>
                        </a:solidFill>
                        <a:latin typeface="Times New Roman Regular" panose="02020503050405090304" charset="0"/>
                        <a:ea typeface="Aptos" pitchFamily="34" charset="0"/>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c>
                  <a:txBody>
                    <a:bodyPr/>
                    <a:p>
                      <a:pPr marL="0" indent="0">
                        <a:buNone/>
                      </a:pPr>
                      <a:r>
                        <a:rPr lang="en-US" sz="880" dirty="0">
                          <a:solidFill>
                            <a:schemeClr val="bg1"/>
                          </a:solidFill>
                          <a:latin typeface="Times New Roman Regular" panose="02020503050405090304" charset="0"/>
                          <a:ea typeface="Aptos" pitchFamily="34" charset="0"/>
                          <a:cs typeface="Times New Roman Regular" panose="02020503050405090304" charset="0"/>
                        </a:rPr>
                        <a:t>improved_fraction_ADE</a:t>
                      </a:r>
                      <a:endParaRPr lang="en-US" sz="880" dirty="0">
                        <a:solidFill>
                          <a:schemeClr val="bg1"/>
                        </a:solidFill>
                        <a:latin typeface="Times New Roman Regular" panose="02020503050405090304" charset="0"/>
                        <a:ea typeface="Aptos" pitchFamily="34" charset="0"/>
                        <a:cs typeface="Times New Roman Regular" panose="0202050305040509030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r>
              <a:tr h="314325">
                <a:tc>
                  <a:txBody>
                    <a:bodyPr/>
                    <a:p>
                      <a:pPr marL="0" indent="0">
                        <a:buNone/>
                      </a:pPr>
                      <a:r>
                        <a:rPr lang="en-US" sz="880" dirty="0">
                          <a:latin typeface="Aptos" pitchFamily="34" charset="0"/>
                          <a:ea typeface="Aptos" pitchFamily="34" charset="0"/>
                          <a:cs typeface="Aptos" pitchFamily="34" charset="0"/>
                        </a:rPr>
                        <a:t>noisy_input</a:t>
                      </a:r>
                      <a:endParaRPr 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p>
                      <a:pPr marL="0" indent="0">
                        <a:buNone/>
                      </a:pPr>
                      <a:r>
                        <a:rPr lang="en-US" sz="880" dirty="0">
                          <a:latin typeface="Aptos" pitchFamily="34" charset="0"/>
                          <a:ea typeface="Aptos" pitchFamily="34" charset="0"/>
                          <a:cs typeface="Aptos" pitchFamily="34" charset="0"/>
                        </a:rPr>
                        <a:t>-1</a:t>
                      </a:r>
                      <a:endParaRPr 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p>
                      <a:pPr marL="0" indent="0">
                        <a:buNone/>
                      </a:pPr>
                      <a:r>
                        <a:rPr lang="en-US" sz="880" dirty="0">
                          <a:latin typeface="Aptos" pitchFamily="34" charset="0"/>
                          <a:ea typeface="Aptos" pitchFamily="34" charset="0"/>
                          <a:cs typeface="Aptos" pitchFamily="34" charset="0"/>
                        </a:rPr>
                        <a:t>0.0625666 ± 0.0077235</a:t>
                      </a:r>
                      <a:endParaRPr 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p>
                      <a:pPr marL="0" indent="0">
                        <a:buNone/>
                      </a:pPr>
                      <a:r>
                        <a:rPr lang="en-US" sz="880" dirty="0">
                          <a:latin typeface="Aptos" pitchFamily="34" charset="0"/>
                          <a:ea typeface="Aptos" pitchFamily="34" charset="0"/>
                          <a:cs typeface="Aptos" pitchFamily="34" charset="0"/>
                        </a:rPr>
                        <a:t>0.000</a:t>
                      </a:r>
                      <a:endParaRPr 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359410">
                <a:tc>
                  <a:txBody>
                    <a:bodyPr/>
                    <a:p>
                      <a:pPr marL="0" indent="0">
                        <a:buNone/>
                      </a:pPr>
                      <a:r>
                        <a:rPr lang="en-US" altLang="en-US" sz="880" dirty="0">
                          <a:latin typeface="Aptos" pitchFamily="34" charset="0"/>
                          <a:ea typeface="Aptos" pitchFamily="34" charset="0"/>
                          <a:cs typeface="Aptos" pitchFamily="34" charset="0"/>
                        </a:rPr>
                        <a:t>sdedit_t1</a:t>
                      </a:r>
                      <a:endParaRPr lang="en-US" alt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altLang="en-US" sz="880" dirty="0">
                          <a:latin typeface="Aptos" pitchFamily="34" charset="0"/>
                          <a:ea typeface="Aptos" pitchFamily="34" charset="0"/>
                          <a:cs typeface="Aptos" pitchFamily="34" charset="0"/>
                        </a:rPr>
                        <a:t>1</a:t>
                      </a:r>
                      <a:endParaRPr lang="en-US" alt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altLang="en-US" sz="880" dirty="0">
                          <a:latin typeface="Aptos" pitchFamily="34" charset="0"/>
                          <a:ea typeface="Aptos" pitchFamily="34" charset="0"/>
                          <a:cs typeface="Aptos" pitchFamily="34" charset="0"/>
                        </a:rPr>
                        <a:t>0.0612772 ± 0.0078860</a:t>
                      </a:r>
                      <a:endParaRPr lang="en-US" alt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altLang="en-US" sz="880" dirty="0">
                          <a:latin typeface="Aptos" pitchFamily="34" charset="0"/>
                          <a:ea typeface="Aptos" pitchFamily="34" charset="0"/>
                          <a:cs typeface="Aptos" pitchFamily="34" charset="0"/>
                        </a:rPr>
                        <a:t>0.795</a:t>
                      </a:r>
                      <a:endParaRPr lang="en-US" alt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313944">
                <a:tc>
                  <a:txBody>
                    <a:bodyPr/>
                    <a:p>
                      <a:pPr marL="0" indent="0">
                        <a:buNone/>
                      </a:pPr>
                      <a:r>
                        <a:rPr lang="en-US" altLang="en-US" sz="880" dirty="0">
                          <a:solidFill>
                            <a:srgbClr val="FF0000"/>
                          </a:solidFill>
                          <a:latin typeface="Aptos" pitchFamily="34" charset="0"/>
                          <a:ea typeface="Aptos" pitchFamily="34" charset="0"/>
                          <a:cs typeface="Aptos" pitchFamily="34" charset="0"/>
                        </a:rPr>
                        <a:t>sdedit_t2</a:t>
                      </a:r>
                      <a:endParaRPr lang="en-US" altLang="en-US" sz="880" dirty="0">
                        <a:solidFill>
                          <a:srgbClr val="FF0000"/>
                        </a:solidFill>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altLang="en-US" sz="880" dirty="0">
                          <a:solidFill>
                            <a:srgbClr val="FF0000"/>
                          </a:solidFill>
                          <a:latin typeface="Aptos" pitchFamily="34" charset="0"/>
                          <a:ea typeface="Aptos" pitchFamily="34" charset="0"/>
                          <a:cs typeface="Aptos" pitchFamily="34" charset="0"/>
                        </a:rPr>
                        <a:t>2</a:t>
                      </a:r>
                      <a:endParaRPr lang="en-US" altLang="en-US" sz="880" dirty="0">
                        <a:solidFill>
                          <a:srgbClr val="FF0000"/>
                        </a:solidFill>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altLang="en-US" sz="880" dirty="0">
                          <a:solidFill>
                            <a:srgbClr val="FF0000"/>
                          </a:solidFill>
                          <a:latin typeface="Aptos" pitchFamily="34" charset="0"/>
                          <a:ea typeface="Aptos" pitchFamily="34" charset="0"/>
                          <a:cs typeface="Aptos" pitchFamily="34" charset="0"/>
                        </a:rPr>
                        <a:t>0.0608118 ± 0.0083935</a:t>
                      </a:r>
                      <a:endParaRPr lang="en-US" altLang="en-US" sz="880" dirty="0">
                        <a:solidFill>
                          <a:srgbClr val="FF0000"/>
                        </a:solidFill>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altLang="en-US" sz="880" dirty="0">
                          <a:solidFill>
                            <a:srgbClr val="FF0000"/>
                          </a:solidFill>
                          <a:latin typeface="Aptos" pitchFamily="34" charset="0"/>
                          <a:ea typeface="Aptos" pitchFamily="34" charset="0"/>
                          <a:cs typeface="Aptos" pitchFamily="34" charset="0"/>
                        </a:rPr>
                        <a:t>0.765</a:t>
                      </a:r>
                      <a:endParaRPr lang="en-US" altLang="en-US" sz="880" dirty="0">
                        <a:solidFill>
                          <a:srgbClr val="FF0000"/>
                        </a:solidFill>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313944">
                <a:tc>
                  <a:txBody>
                    <a:bodyPr/>
                    <a:p>
                      <a:pPr marL="0" indent="0">
                        <a:buNone/>
                      </a:pPr>
                      <a:r>
                        <a:rPr lang="en-US" sz="880" dirty="0">
                          <a:latin typeface="Aptos" pitchFamily="34" charset="0"/>
                          <a:ea typeface="Aptos" pitchFamily="34" charset="0"/>
                          <a:cs typeface="Aptos" pitchFamily="34" charset="0"/>
                        </a:rPr>
                        <a:t>sdedit_t3</a:t>
                      </a:r>
                      <a:endParaRPr 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sz="880" dirty="0">
                          <a:latin typeface="Aptos" pitchFamily="34" charset="0"/>
                          <a:ea typeface="Aptos" pitchFamily="34" charset="0"/>
                          <a:cs typeface="Aptos" pitchFamily="34" charset="0"/>
                        </a:rPr>
                        <a:t>3</a:t>
                      </a:r>
                      <a:endParaRPr 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sz="880" dirty="0">
                          <a:latin typeface="Aptos" pitchFamily="34" charset="0"/>
                          <a:ea typeface="Aptos" pitchFamily="34" charset="0"/>
                          <a:cs typeface="Aptos" pitchFamily="34" charset="0"/>
                        </a:rPr>
                        <a:t>0.0609506 ± 0.0096328</a:t>
                      </a:r>
                      <a:endParaRPr 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sz="880" dirty="0">
                          <a:latin typeface="Aptos" pitchFamily="34" charset="0"/>
                          <a:ea typeface="Aptos" pitchFamily="34" charset="0"/>
                          <a:cs typeface="Aptos" pitchFamily="34" charset="0"/>
                        </a:rPr>
                        <a:t>0.700</a:t>
                      </a:r>
                      <a:endParaRPr 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313944">
                <a:tc>
                  <a:txBody>
                    <a:bodyPr/>
                    <a:p>
                      <a:pPr marL="0" indent="0">
                        <a:buNone/>
                      </a:pPr>
                      <a:r>
                        <a:rPr lang="en-US" altLang="en-US" sz="880" dirty="0">
                          <a:latin typeface="Aptos" pitchFamily="34" charset="0"/>
                          <a:ea typeface="Aptos" pitchFamily="34" charset="0"/>
                          <a:cs typeface="Aptos" pitchFamily="34" charset="0"/>
                        </a:rPr>
                        <a:t>sdedit_t5</a:t>
                      </a:r>
                      <a:endParaRPr lang="en-US" alt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altLang="en-US" sz="880" dirty="0">
                          <a:latin typeface="Aptos" pitchFamily="34" charset="0"/>
                          <a:ea typeface="Aptos" pitchFamily="34" charset="0"/>
                          <a:cs typeface="Aptos" pitchFamily="34" charset="0"/>
                        </a:rPr>
                        <a:t>5</a:t>
                      </a:r>
                      <a:endParaRPr lang="en-US" alt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altLang="en-US" sz="880" dirty="0">
                          <a:latin typeface="Aptos" pitchFamily="34" charset="0"/>
                          <a:ea typeface="Aptos" pitchFamily="34" charset="0"/>
                          <a:cs typeface="Aptos" pitchFamily="34" charset="0"/>
                        </a:rPr>
                        <a:t>0.0630930 ± 0.0135656</a:t>
                      </a:r>
                      <a:endParaRPr lang="en-US" alt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altLang="en-US" sz="880" dirty="0">
                          <a:latin typeface="Aptos" pitchFamily="34" charset="0"/>
                          <a:ea typeface="Aptos" pitchFamily="34" charset="0"/>
                          <a:cs typeface="Aptos" pitchFamily="34" charset="0"/>
                        </a:rPr>
                        <a:t>0.575</a:t>
                      </a:r>
                      <a:endParaRPr lang="en-US" alt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8046720" cy="347472"/>
          </a:xfrm>
          <a:prstGeom prst="rect">
            <a:avLst/>
          </a:prstGeom>
          <a:noFill/>
        </p:spPr>
        <p:txBody>
          <a:bodyPr wrap="square" lIns="0" tIns="0" rIns="0" bIns="0" rtlCol="0" anchor="ctr"/>
          <a:lstStyle/>
          <a:p>
            <a:pPr marL="0" indent="0">
              <a:buNone/>
            </a:pPr>
            <a:r>
              <a:rPr lang="en-US" sz="2200" b="1" dirty="0">
                <a:solidFill>
                  <a:srgbClr val="0B2341"/>
                </a:solidFill>
                <a:latin typeface="Aptos" pitchFamily="34" charset="0"/>
                <a:ea typeface="Aptos" pitchFamily="34" charset="-122"/>
                <a:cs typeface="Aptos" pitchFamily="34" charset="-120"/>
              </a:rPr>
              <a:t>Prior-only ceiling under gaussian degradation</a:t>
            </a:r>
            <a:endParaRPr lang="en-US" sz="2200" dirty="0"/>
          </a:p>
        </p:txBody>
      </p:sp>
      <p:sp>
        <p:nvSpPr>
          <p:cNvPr id="4" name="Text 2"/>
          <p:cNvSpPr/>
          <p:nvPr/>
        </p:nvSpPr>
        <p:spPr>
          <a:xfrm>
            <a:off x="10287000" y="347472"/>
            <a:ext cx="1371600" cy="237744"/>
          </a:xfrm>
          <a:prstGeom prst="rect">
            <a:avLst/>
          </a:prstGeom>
          <a:noFill/>
        </p:spPr>
        <p:txBody>
          <a:bodyPr wrap="square" lIns="0" tIns="0" rIns="0" bIns="0" rtlCol="0" anchor="ctr"/>
          <a:lstStyle/>
          <a:p>
            <a:pPr marL="0" indent="0" algn="r">
              <a:buNone/>
            </a:pPr>
            <a:r>
              <a:rPr lang="en-US" sz="900" dirty="0">
                <a:solidFill>
                  <a:srgbClr val="526171"/>
                </a:solidFill>
                <a:latin typeface="Aptos" pitchFamily="34" charset="0"/>
                <a:ea typeface="Aptos" pitchFamily="34" charset="-122"/>
                <a:cs typeface="Aptos" pitchFamily="34" charset="-120"/>
              </a:rPr>
              <a:t>8 / 13</a:t>
            </a:r>
            <a:endParaRPr lang="en-US" sz="900" dirty="0"/>
          </a:p>
        </p:txBody>
      </p:sp>
      <p:sp>
        <p:nvSpPr>
          <p:cNvPr id="5" name="Shape 3"/>
          <p:cNvSpPr/>
          <p:nvPr/>
        </p:nvSpPr>
        <p:spPr>
          <a:xfrm>
            <a:off x="502920" y="768096"/>
            <a:ext cx="11173968" cy="0"/>
          </a:xfrm>
          <a:prstGeom prst="line">
            <a:avLst/>
          </a:prstGeom>
          <a:noFill/>
          <a:ln w="8890">
            <a:solidFill>
              <a:srgbClr val="D7DDE5"/>
            </a:solidFill>
            <a:prstDash val="solid"/>
          </a:ln>
        </p:spPr>
      </p:sp>
      <p:sp>
        <p:nvSpPr>
          <p:cNvPr id="6" name="Text 4"/>
          <p:cNvSpPr/>
          <p:nvPr/>
        </p:nvSpPr>
        <p:spPr>
          <a:xfrm>
            <a:off x="502920" y="6519672"/>
            <a:ext cx="6858000" cy="164592"/>
          </a:xfrm>
          <a:prstGeom prst="rect">
            <a:avLst/>
          </a:prstGeom>
          <a:noFill/>
        </p:spPr>
        <p:txBody>
          <a:bodyPr wrap="square" lIns="0" tIns="0" rIns="0" bIns="0" rtlCol="0" anchor="ctr"/>
          <a:lstStyle/>
          <a:p>
            <a:pPr marL="0" indent="0">
              <a:buNone/>
            </a:pPr>
            <a:r>
              <a:rPr lang="en-US" sz="850" dirty="0">
                <a:solidFill>
                  <a:srgbClr val="7B8794"/>
                </a:solidFill>
                <a:latin typeface="Aptos" pitchFamily="34" charset="0"/>
                <a:ea typeface="Aptos" pitchFamily="34" charset="-122"/>
                <a:cs typeface="Aptos" pitchFamily="34" charset="-120"/>
              </a:rPr>
              <a:t>Stage 3 — DDPM-based Indoor Trajectory Refinement</a:t>
            </a:r>
            <a:endParaRPr lang="en-US" sz="850" dirty="0"/>
          </a:p>
        </p:txBody>
      </p:sp>
      <p:pic>
        <p:nvPicPr>
          <p:cNvPr id="7" name="Image 0" descr="/mnt/data/docx_extract/word/media/image7.png"/>
          <p:cNvPicPr>
            <a:picLocks noChangeAspect="1"/>
          </p:cNvPicPr>
          <p:nvPr/>
        </p:nvPicPr>
        <p:blipFill>
          <a:blip r:embed="rId1"/>
          <a:stretch>
            <a:fillRect/>
          </a:stretch>
        </p:blipFill>
        <p:spPr>
          <a:xfrm>
            <a:off x="676656" y="1061128"/>
            <a:ext cx="5715000" cy="2138847"/>
          </a:xfrm>
          <a:prstGeom prst="rect">
            <a:avLst/>
          </a:prstGeom>
        </p:spPr>
      </p:pic>
      <p:graphicFrame>
        <p:nvGraphicFramePr>
          <p:cNvPr id="9" name="Table 0"/>
          <p:cNvGraphicFramePr>
            <a:graphicFrameLocks noGrp="1"/>
          </p:cNvGraphicFramePr>
          <p:nvPr/>
        </p:nvGraphicFramePr>
        <p:xfrm>
          <a:off x="758952" y="3703320"/>
          <a:ext cx="5486400" cy="1783080"/>
        </p:xfrm>
        <a:graphic>
          <a:graphicData uri="http://schemas.openxmlformats.org/drawingml/2006/table">
            <a:tbl>
              <a:tblPr/>
              <a:tblGrid>
                <a:gridCol w="2011680"/>
                <a:gridCol w="1325880"/>
                <a:gridCol w="1097280"/>
                <a:gridCol w="1051560"/>
              </a:tblGrid>
              <a:tr h="297180">
                <a:tc>
                  <a:txBody>
                    <a:bodyPr/>
                    <a:lstStyle/>
                    <a:p>
                      <a:pPr marL="0" indent="0">
                        <a:buNone/>
                      </a:pPr>
                      <a:r>
                        <a:rPr lang="en-US" sz="940" b="1" dirty="0">
                          <a:solidFill>
                            <a:srgbClr val="FFFFFF"/>
                          </a:solidFill>
                          <a:latin typeface="Aptos" pitchFamily="34" charset="0"/>
                          <a:ea typeface="Aptos" pitchFamily="34" charset="-122"/>
                          <a:cs typeface="Aptos" pitchFamily="34" charset="-120"/>
                        </a:rPr>
                        <a:t>Method</a:t>
                      </a:r>
                      <a:endParaRPr lang="en-US" sz="94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c>
                  <a:txBody>
                    <a:bodyPr/>
                    <a:lstStyle/>
                    <a:p>
                      <a:pPr marL="0" indent="0">
                        <a:buNone/>
                      </a:pPr>
                      <a:r>
                        <a:rPr lang="en-US" sz="940" b="1" dirty="0">
                          <a:solidFill>
                            <a:srgbClr val="FFFFFF"/>
                          </a:solidFill>
                          <a:latin typeface="Aptos" pitchFamily="34" charset="0"/>
                          <a:ea typeface="Aptos" pitchFamily="34" charset="-122"/>
                          <a:cs typeface="Aptos" pitchFamily="34" charset="-120"/>
                        </a:rPr>
                        <a:t>ADE (m)</a:t>
                      </a:r>
                      <a:endParaRPr lang="en-US" sz="94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c>
                  <a:txBody>
                    <a:bodyPr/>
                    <a:lstStyle/>
                    <a:p>
                      <a:pPr marL="0" indent="0">
                        <a:buNone/>
                      </a:pPr>
                      <a:r>
                        <a:rPr lang="en-US" sz="940" b="1" dirty="0">
                          <a:solidFill>
                            <a:srgbClr val="FFFFFF"/>
                          </a:solidFill>
                          <a:latin typeface="Aptos" pitchFamily="34" charset="0"/>
                          <a:ea typeface="Aptos" pitchFamily="34" charset="-122"/>
                          <a:cs typeface="Aptos" pitchFamily="34" charset="-120"/>
                        </a:rPr>
                        <a:t>Δ vs noisy</a:t>
                      </a:r>
                      <a:endParaRPr lang="en-US" sz="94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c>
                  <a:txBody>
                    <a:bodyPr/>
                    <a:lstStyle/>
                    <a:p>
                      <a:pPr marL="0" indent="0">
                        <a:buNone/>
                      </a:pPr>
                      <a:r>
                        <a:rPr lang="en-US" sz="940" b="1" dirty="0">
                          <a:solidFill>
                            <a:srgbClr val="FFFFFF"/>
                          </a:solidFill>
                          <a:latin typeface="Aptos" pitchFamily="34" charset="0"/>
                          <a:ea typeface="Aptos" pitchFamily="34" charset="-122"/>
                          <a:cs typeface="Aptos" pitchFamily="34" charset="-120"/>
                        </a:rPr>
                        <a:t>Improved</a:t>
                      </a:r>
                      <a:endParaRPr lang="en-US" sz="94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r>
              <a:tr h="297180">
                <a:tc>
                  <a:txBody>
                    <a:bodyPr/>
                    <a:lstStyle/>
                    <a:p>
                      <a:pPr marL="0" indent="0">
                        <a:buNone/>
                      </a:pPr>
                      <a:r>
                        <a:rPr lang="en-US" sz="940" dirty="0">
                          <a:solidFill>
                            <a:srgbClr val="1F2328"/>
                          </a:solidFill>
                          <a:latin typeface="Aptos" pitchFamily="34" charset="0"/>
                          <a:ea typeface="Aptos" pitchFamily="34" charset="-122"/>
                          <a:cs typeface="Aptos" pitchFamily="34" charset="-120"/>
                        </a:rPr>
                        <a:t>noisy_input</a:t>
                      </a:r>
                      <a:endParaRPr lang="en-US" sz="940" dirty="0">
                        <a:solidFill>
                          <a:srgbClr val="1F2328"/>
                        </a:solidFill>
                        <a:latin typeface="Aptos" pitchFamily="34" charset="0"/>
                        <a:ea typeface="Aptos" pitchFamily="34" charset="-122"/>
                        <a:cs typeface="Aptos" pitchFamily="34" charset="-12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940" dirty="0">
                          <a:solidFill>
                            <a:srgbClr val="1F2328"/>
                          </a:solidFill>
                          <a:latin typeface="Aptos" pitchFamily="34" charset="0"/>
                          <a:ea typeface="Aptos" pitchFamily="34" charset="-122"/>
                          <a:cs typeface="Aptos" pitchFamily="34" charset="-120"/>
                        </a:rPr>
                        <a:t>0.0626 ± 0.0077</a:t>
                      </a:r>
                      <a:endParaRPr lang="en-US" sz="94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940" dirty="0">
                          <a:solidFill>
                            <a:srgbClr val="1F2328"/>
                          </a:solidFill>
                          <a:latin typeface="Aptos" pitchFamily="34" charset="0"/>
                          <a:ea typeface="Aptos" pitchFamily="34" charset="-122"/>
                          <a:cs typeface="Aptos" pitchFamily="34" charset="-120"/>
                        </a:rPr>
                        <a:t>—</a:t>
                      </a:r>
                      <a:endParaRPr lang="en-US" sz="94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940" dirty="0">
                          <a:solidFill>
                            <a:srgbClr val="1F2328"/>
                          </a:solidFill>
                          <a:latin typeface="Aptos" pitchFamily="34" charset="0"/>
                          <a:ea typeface="Aptos" pitchFamily="34" charset="-122"/>
                          <a:cs typeface="Aptos" pitchFamily="34" charset="-120"/>
                        </a:rPr>
                        <a:t>—</a:t>
                      </a:r>
                      <a:endParaRPr lang="en-US" sz="94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297180">
                <a:tc>
                  <a:txBody>
                    <a:bodyPr/>
                    <a:p>
                      <a:pPr marL="0" indent="0">
                        <a:buNone/>
                      </a:pPr>
                      <a:r>
                        <a:rPr lang="en-US" altLang="en-US" sz="940" dirty="0">
                          <a:solidFill>
                            <a:srgbClr val="1F2328"/>
                          </a:solidFill>
                          <a:latin typeface="Aptos" pitchFamily="34" charset="0"/>
                          <a:ea typeface="Aptos" pitchFamily="34" charset="-122"/>
                          <a:cs typeface="Aptos" pitchFamily="34" charset="-120"/>
                        </a:rPr>
                        <a:t>Linear interpolation</a:t>
                      </a:r>
                      <a:endParaRPr lang="en-US" altLang="en-US" sz="940" dirty="0">
                        <a:solidFill>
                          <a:srgbClr val="1F2328"/>
                        </a:solidFill>
                        <a:latin typeface="Aptos" pitchFamily="34" charset="0"/>
                        <a:ea typeface="Aptos" pitchFamily="34" charset="-122"/>
                        <a:cs typeface="Aptos" pitchFamily="34" charset="-12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p>
                      <a:pPr marL="0" indent="0">
                        <a:buNone/>
                      </a:pPr>
                      <a:r>
                        <a:rPr lang="en-US" altLang="en-US" sz="940" dirty="0">
                          <a:latin typeface="Aptos" pitchFamily="34" charset="0"/>
                          <a:ea typeface="Aptos" pitchFamily="34" charset="0"/>
                          <a:cs typeface="Aptos" pitchFamily="34" charset="0"/>
                        </a:rPr>
                        <a:t>0.0626 ± 0.0077</a:t>
                      </a:r>
                      <a:endParaRPr lang="en-US" altLang="en-US" sz="94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p>
                      <a:pPr marL="0" indent="0">
                        <a:buNone/>
                      </a:pPr>
                      <a:r>
                        <a:rPr lang="en-US" altLang="en-US" sz="940" dirty="0">
                          <a:latin typeface="Aptos" pitchFamily="34" charset="0"/>
                          <a:ea typeface="Aptos" pitchFamily="34" charset="0"/>
                          <a:cs typeface="Aptos" pitchFamily="34" charset="0"/>
                        </a:rPr>
                        <a:t>0.0%</a:t>
                      </a:r>
                      <a:endParaRPr lang="en-US" altLang="en-US" sz="94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p>
                      <a:pPr marL="0" indent="0">
                        <a:buNone/>
                      </a:pPr>
                      <a:r>
                        <a:rPr lang="en-US" altLang="en-US" sz="940" dirty="0">
                          <a:latin typeface="Aptos" pitchFamily="34" charset="0"/>
                          <a:ea typeface="Aptos" pitchFamily="34" charset="0"/>
                          <a:cs typeface="Aptos" pitchFamily="34" charset="0"/>
                        </a:rPr>
                        <a:t>0.000</a:t>
                      </a:r>
                      <a:endParaRPr lang="en-US" altLang="en-US" sz="94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297180">
                <a:tc>
                  <a:txBody>
                    <a:bodyPr/>
                    <a:p>
                      <a:pPr marL="0" indent="0">
                        <a:buNone/>
                      </a:pPr>
                      <a:r>
                        <a:rPr lang="en-US" altLang="en-US" sz="940" dirty="0">
                          <a:solidFill>
                            <a:srgbClr val="1F2328"/>
                          </a:solidFill>
                          <a:latin typeface="Aptos" pitchFamily="34" charset="0"/>
                          <a:ea typeface="Aptos" pitchFamily="34" charset="-122"/>
                          <a:cs typeface="Aptos" pitchFamily="34" charset="-120"/>
                        </a:rPr>
                        <a:t>Savitzky-Golay</a:t>
                      </a:r>
                      <a:endParaRPr lang="en-US" altLang="en-US" sz="940" dirty="0">
                        <a:solidFill>
                          <a:srgbClr val="1F2328"/>
                        </a:solidFill>
                        <a:latin typeface="Aptos" pitchFamily="34" charset="0"/>
                        <a:ea typeface="Aptos" pitchFamily="34" charset="-122"/>
                        <a:cs typeface="Aptos" pitchFamily="34" charset="-12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p>
                      <a:pPr marL="0" indent="0">
                        <a:buNone/>
                      </a:pPr>
                      <a:r>
                        <a:rPr lang="en-US" altLang="en-US" sz="940" dirty="0">
                          <a:latin typeface="Aptos" pitchFamily="34" charset="0"/>
                          <a:ea typeface="Aptos" pitchFamily="34" charset="0"/>
                          <a:cs typeface="Aptos" pitchFamily="34" charset="0"/>
                        </a:rPr>
                        <a:t>0.0656 ± 0.0328</a:t>
                      </a:r>
                      <a:endParaRPr lang="en-US" altLang="en-US" sz="94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p>
                      <a:pPr marL="0" indent="0">
                        <a:buNone/>
                      </a:pPr>
                      <a:r>
                        <a:rPr lang="en-US" altLang="en-US" sz="940" dirty="0">
                          <a:latin typeface="Aptos" pitchFamily="34" charset="0"/>
                          <a:ea typeface="Aptos" pitchFamily="34" charset="0"/>
                          <a:cs typeface="Aptos" pitchFamily="34" charset="0"/>
                        </a:rPr>
                        <a:t>+4.9%</a:t>
                      </a:r>
                      <a:endParaRPr lang="en-US" altLang="en-US" sz="94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p>
                      <a:pPr marL="0" indent="0">
                        <a:buNone/>
                      </a:pPr>
                      <a:r>
                        <a:rPr lang="en-US" altLang="en-US" sz="940" dirty="0">
                          <a:latin typeface="Aptos" pitchFamily="34" charset="0"/>
                          <a:ea typeface="Aptos" pitchFamily="34" charset="0"/>
                          <a:cs typeface="Aptos" pitchFamily="34" charset="0"/>
                        </a:rPr>
                        <a:t>0.720</a:t>
                      </a:r>
                      <a:endParaRPr lang="en-US" altLang="en-US" sz="94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297180">
                <a:tc>
                  <a:txBody>
                    <a:bodyPr/>
                    <a:lstStyle/>
                    <a:p>
                      <a:pPr marL="0" indent="0">
                        <a:buNone/>
                      </a:pPr>
                      <a:r>
                        <a:rPr lang="en-US" sz="940" dirty="0">
                          <a:solidFill>
                            <a:srgbClr val="1F2328"/>
                          </a:solidFill>
                          <a:latin typeface="Aptos" pitchFamily="34" charset="0"/>
                          <a:ea typeface="Aptos" pitchFamily="34" charset="-122"/>
                          <a:cs typeface="Aptos" pitchFamily="34" charset="-120"/>
                        </a:rPr>
                        <a:t>Kalman CV</a:t>
                      </a:r>
                      <a:endParaRPr lang="en-US" sz="94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940" dirty="0">
                          <a:solidFill>
                            <a:srgbClr val="1F2328"/>
                          </a:solidFill>
                          <a:latin typeface="Aptos" pitchFamily="34" charset="0"/>
                          <a:ea typeface="Aptos" pitchFamily="34" charset="-122"/>
                          <a:cs typeface="Aptos" pitchFamily="34" charset="-120"/>
                        </a:rPr>
                        <a:t>0.0850 ± 0.0281</a:t>
                      </a:r>
                      <a:endParaRPr lang="en-US" sz="94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940" dirty="0">
                          <a:solidFill>
                            <a:srgbClr val="1F2328"/>
                          </a:solidFill>
                          <a:latin typeface="Aptos" pitchFamily="34" charset="0"/>
                          <a:ea typeface="Aptos" pitchFamily="34" charset="-122"/>
                          <a:cs typeface="Aptos" pitchFamily="34" charset="-120"/>
                        </a:rPr>
                        <a:t>+35.9%</a:t>
                      </a:r>
                      <a:endParaRPr lang="en-US" sz="94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940" dirty="0">
                          <a:solidFill>
                            <a:srgbClr val="1F2328"/>
                          </a:solidFill>
                          <a:latin typeface="Aptos" pitchFamily="34" charset="0"/>
                          <a:ea typeface="Aptos" pitchFamily="34" charset="-122"/>
                          <a:cs typeface="Aptos" pitchFamily="34" charset="-120"/>
                        </a:rPr>
                        <a:t>0.235</a:t>
                      </a:r>
                      <a:endParaRPr lang="en-US" sz="94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297180">
                <a:tc>
                  <a:txBody>
                    <a:bodyPr/>
                    <a:lstStyle/>
                    <a:p>
                      <a:pPr marL="0" indent="0">
                        <a:buNone/>
                      </a:pPr>
                      <a:r>
                        <a:rPr lang="en-US" sz="940" dirty="0">
                          <a:solidFill>
                            <a:srgbClr val="1F2328"/>
                          </a:solidFill>
                          <a:latin typeface="Aptos" pitchFamily="34" charset="0"/>
                          <a:ea typeface="Aptos" pitchFamily="34" charset="-122"/>
                          <a:cs typeface="Aptos" pitchFamily="34" charset="-120"/>
                        </a:rPr>
                        <a:t>Uncond. SDEdit (t=2)</a:t>
                      </a:r>
                      <a:endParaRPr lang="en-US" sz="94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940" dirty="0">
                          <a:solidFill>
                            <a:srgbClr val="1F2328"/>
                          </a:solidFill>
                          <a:latin typeface="Aptos" pitchFamily="34" charset="0"/>
                          <a:ea typeface="Aptos" pitchFamily="34" charset="-122"/>
                          <a:cs typeface="Aptos" pitchFamily="34" charset="-120"/>
                        </a:rPr>
                        <a:t>0.0608 ± 0.0084</a:t>
                      </a:r>
                      <a:endParaRPr lang="en-US" sz="94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940" dirty="0">
                          <a:solidFill>
                            <a:srgbClr val="1F2328"/>
                          </a:solidFill>
                          <a:latin typeface="Aptos" pitchFamily="34" charset="0"/>
                          <a:ea typeface="Aptos" pitchFamily="34" charset="-122"/>
                          <a:cs typeface="Aptos" pitchFamily="34" charset="-120"/>
                        </a:rPr>
                        <a:t>−2.8%</a:t>
                      </a:r>
                      <a:endParaRPr lang="en-US" sz="94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940" dirty="0">
                          <a:solidFill>
                            <a:srgbClr val="1F2328"/>
                          </a:solidFill>
                          <a:latin typeface="Aptos" pitchFamily="34" charset="0"/>
                          <a:ea typeface="Aptos" pitchFamily="34" charset="-122"/>
                          <a:cs typeface="Aptos" pitchFamily="34" charset="-120"/>
                        </a:rPr>
                        <a:t>0.765</a:t>
                      </a:r>
                      <a:endParaRPr lang="en-US" sz="94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bl>
          </a:graphicData>
        </a:graphic>
      </p:graphicFrame>
      <p:sp>
        <p:nvSpPr>
          <p:cNvPr id="8" name="Text 5"/>
          <p:cNvSpPr/>
          <p:nvPr/>
        </p:nvSpPr>
        <p:spPr>
          <a:xfrm>
            <a:off x="6784848" y="1024128"/>
            <a:ext cx="2468880" cy="219456"/>
          </a:xfrm>
          <a:prstGeom prst="rect">
            <a:avLst/>
          </a:prstGeom>
          <a:noFill/>
        </p:spPr>
        <p:txBody>
          <a:bodyPr wrap="square" lIns="635" tIns="635" rIns="635" bIns="635" rtlCol="0" anchor="t">
            <a:normAutofit/>
          </a:bodyPr>
          <a:lstStyle/>
          <a:p>
            <a:pPr marL="0" indent="0" algn="l">
              <a:buNone/>
            </a:pPr>
            <a:r>
              <a:rPr lang="en-US" sz="1300" b="1" dirty="0">
                <a:solidFill>
                  <a:srgbClr val="0B2341"/>
                </a:solidFill>
                <a:latin typeface="Aptos" pitchFamily="34" charset="0"/>
                <a:ea typeface="Aptos" pitchFamily="34" charset="-122"/>
                <a:cs typeface="Aptos" pitchFamily="34" charset="-120"/>
              </a:rPr>
              <a:t>How to read this result</a:t>
            </a:r>
            <a:endParaRPr lang="en-US" sz="1300" dirty="0"/>
          </a:p>
        </p:txBody>
      </p:sp>
      <p:sp>
        <p:nvSpPr>
          <p:cNvPr id="10" name="Text 6"/>
          <p:cNvSpPr/>
          <p:nvPr/>
        </p:nvSpPr>
        <p:spPr>
          <a:xfrm>
            <a:off x="6784848" y="1408176"/>
            <a:ext cx="4480560" cy="1234440"/>
          </a:xfrm>
          <a:prstGeom prst="rect">
            <a:avLst/>
          </a:prstGeom>
          <a:noFill/>
        </p:spPr>
        <p:txBody>
          <a:bodyPr wrap="square" lIns="635" tIns="635" rIns="635" bIns="635" rtlCol="0" anchor="ctr">
            <a:normAutofit/>
          </a:bodyPr>
          <a:lstStyle/>
          <a:p>
            <a:r>
              <a:rPr lang="en-US" sz="1140" dirty="0">
                <a:solidFill>
                  <a:srgbClr val="1F2328"/>
                </a:solidFill>
                <a:latin typeface="Aptos" pitchFamily="34" charset="0"/>
                <a:ea typeface="Aptos" pitchFamily="34" charset="-122"/>
                <a:cs typeface="Aptos" pitchFamily="34" charset="-120"/>
              </a:rPr>
              <a:t>SDEdit improves systematically, but the effect size is small.</a:t>
            </a:r>
            <a:endParaRPr lang="en-US" sz="1140" dirty="0"/>
          </a:p>
          <a:p>
            <a:r>
              <a:rPr lang="en-US" sz="1140" dirty="0">
                <a:solidFill>
                  <a:srgbClr val="1F2328"/>
                </a:solidFill>
                <a:latin typeface="Aptos" pitchFamily="34" charset="0"/>
                <a:ea typeface="Aptos" pitchFamily="34" charset="-122"/>
                <a:cs typeface="Aptos" pitchFamily="34" charset="-120"/>
              </a:rPr>
              <a:t>Kalman CV is a warning: it becomes smoother but ADE worsens by 35.9%.</a:t>
            </a:r>
            <a:endParaRPr lang="en-US" sz="1140" dirty="0"/>
          </a:p>
          <a:p>
            <a:r>
              <a:rPr lang="en-US" sz="1140" dirty="0">
                <a:solidFill>
                  <a:srgbClr val="1F2328"/>
                </a:solidFill>
                <a:latin typeface="Aptos" pitchFamily="34" charset="0"/>
                <a:ea typeface="Aptos" pitchFamily="34" charset="-122"/>
                <a:cs typeface="Aptos" pitchFamily="34" charset="-120"/>
              </a:rPr>
              <a:t>This is the ceiling of prior-only refinement before adding observation conditioning.</a:t>
            </a:r>
            <a:endParaRPr lang="en-US" sz="1140" dirty="0"/>
          </a:p>
        </p:txBody>
      </p:sp>
      <p:sp>
        <p:nvSpPr>
          <p:cNvPr id="11" name="Shape 7"/>
          <p:cNvSpPr/>
          <p:nvPr/>
        </p:nvSpPr>
        <p:spPr>
          <a:xfrm>
            <a:off x="6784848" y="2999232"/>
            <a:ext cx="4480560" cy="841248"/>
          </a:xfrm>
          <a:prstGeom prst="roundRect">
            <a:avLst>
              <a:gd name="adj" fmla="val 8696"/>
            </a:avLst>
          </a:prstGeom>
          <a:solidFill>
            <a:srgbClr val="F6FAFF"/>
          </a:solidFill>
          <a:ln w="13970">
            <a:solidFill>
              <a:srgbClr val="9BBCE3"/>
            </a:solidFill>
            <a:prstDash val="solid"/>
          </a:ln>
        </p:spPr>
      </p:sp>
      <p:sp>
        <p:nvSpPr>
          <p:cNvPr id="12" name="Text 8"/>
          <p:cNvSpPr/>
          <p:nvPr/>
        </p:nvSpPr>
        <p:spPr>
          <a:xfrm>
            <a:off x="7013448" y="3172968"/>
            <a:ext cx="1280160" cy="164592"/>
          </a:xfrm>
          <a:prstGeom prst="rect">
            <a:avLst/>
          </a:prstGeom>
          <a:noFill/>
        </p:spPr>
        <p:txBody>
          <a:bodyPr wrap="square" lIns="635" tIns="635" rIns="635" bIns="635" rtlCol="0" anchor="t">
            <a:normAutofit/>
          </a:bodyPr>
          <a:lstStyle/>
          <a:p>
            <a:pPr marL="0" indent="0" algn="l">
              <a:buNone/>
            </a:pPr>
            <a:r>
              <a:rPr lang="en-US" sz="1020" b="1" dirty="0">
                <a:solidFill>
                  <a:srgbClr val="0B2341"/>
                </a:solidFill>
                <a:latin typeface="Aptos" pitchFamily="34" charset="0"/>
                <a:ea typeface="Aptos" pitchFamily="34" charset="-122"/>
                <a:cs typeface="Aptos" pitchFamily="34" charset="-120"/>
              </a:rPr>
              <a:t>Interpretation</a:t>
            </a:r>
            <a:endParaRPr lang="en-US" sz="1020" dirty="0"/>
          </a:p>
        </p:txBody>
      </p:sp>
      <p:sp>
        <p:nvSpPr>
          <p:cNvPr id="13" name="Text 9"/>
          <p:cNvSpPr/>
          <p:nvPr/>
        </p:nvSpPr>
        <p:spPr>
          <a:xfrm>
            <a:off x="8366760" y="3099816"/>
            <a:ext cx="2560320" cy="347472"/>
          </a:xfrm>
          <a:prstGeom prst="rect">
            <a:avLst/>
          </a:prstGeom>
          <a:noFill/>
        </p:spPr>
        <p:txBody>
          <a:bodyPr wrap="square" lIns="635" tIns="635" rIns="635" bIns="635" rtlCol="0" anchor="t">
            <a:normAutofit/>
          </a:bodyPr>
          <a:lstStyle/>
          <a:p>
            <a:pPr marL="0" indent="0" algn="l">
              <a:buNone/>
            </a:pPr>
            <a:r>
              <a:rPr lang="en-US" sz="1100" b="1" dirty="0">
                <a:solidFill>
                  <a:srgbClr val="1F2328"/>
                </a:solidFill>
                <a:latin typeface="Aptos" pitchFamily="34" charset="0"/>
                <a:ea typeface="Aptos" pitchFamily="34" charset="-122"/>
                <a:cs typeface="Aptos" pitchFamily="34" charset="-120"/>
              </a:rPr>
              <a:t>The prior can nudge a trajectory toward plausibility, but it is still weakly tied to this observation.</a:t>
            </a:r>
            <a:endParaRPr lang="en-US" sz="1100" dirty="0"/>
          </a:p>
        </p:txBody>
      </p:sp>
      <p:sp>
        <p:nvSpPr>
          <p:cNvPr id="14" name="Text 10"/>
          <p:cNvSpPr/>
          <p:nvPr/>
        </p:nvSpPr>
        <p:spPr>
          <a:xfrm>
            <a:off x="502920" y="6336792"/>
            <a:ext cx="11155680" cy="146304"/>
          </a:xfrm>
          <a:prstGeom prst="rect">
            <a:avLst/>
          </a:prstGeom>
          <a:noFill/>
        </p:spPr>
        <p:txBody>
          <a:bodyPr wrap="square" lIns="0" tIns="0" rIns="0" bIns="0" rtlCol="0" anchor="ctr"/>
          <a:lstStyle/>
          <a:p>
            <a:pPr marL="0" indent="0">
              <a:buNone/>
            </a:pPr>
            <a:r>
              <a:rPr lang="en-US" sz="750" i="1" dirty="0">
                <a:solidFill>
                  <a:srgbClr val="748094"/>
                </a:solidFill>
                <a:latin typeface="Aptos" pitchFamily="34" charset="0"/>
                <a:ea typeface="Aptos" pitchFamily="34" charset="-122"/>
                <a:cs typeface="Aptos" pitchFamily="34" charset="-120"/>
              </a:rPr>
              <a:t>Report Table 5; N = 200; spread is across trajectories after seed averaging.</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8046720" cy="347472"/>
          </a:xfrm>
          <a:prstGeom prst="rect">
            <a:avLst/>
          </a:prstGeom>
          <a:noFill/>
        </p:spPr>
        <p:txBody>
          <a:bodyPr wrap="square" lIns="0" tIns="0" rIns="0" bIns="0" rtlCol="0" anchor="ctr"/>
          <a:lstStyle/>
          <a:p>
            <a:pPr marL="0" indent="0">
              <a:buNone/>
            </a:pPr>
            <a:r>
              <a:rPr lang="en-US" sz="2200" b="1" dirty="0">
                <a:solidFill>
                  <a:srgbClr val="0B2341"/>
                </a:solidFill>
                <a:latin typeface="Aptos" pitchFamily="34" charset="0"/>
                <a:ea typeface="Aptos" pitchFamily="34" charset="-122"/>
                <a:cs typeface="Aptos" pitchFamily="34" charset="-120"/>
              </a:rPr>
              <a:t>Conditional residual DDPM: the interface is changed, not just the model</a:t>
            </a:r>
            <a:endParaRPr lang="en-US" sz="2200" dirty="0"/>
          </a:p>
        </p:txBody>
      </p:sp>
      <p:sp>
        <p:nvSpPr>
          <p:cNvPr id="4" name="Text 2"/>
          <p:cNvSpPr/>
          <p:nvPr/>
        </p:nvSpPr>
        <p:spPr>
          <a:xfrm>
            <a:off x="10287000" y="347472"/>
            <a:ext cx="1371600" cy="237744"/>
          </a:xfrm>
          <a:prstGeom prst="rect">
            <a:avLst/>
          </a:prstGeom>
          <a:noFill/>
        </p:spPr>
        <p:txBody>
          <a:bodyPr wrap="square" lIns="0" tIns="0" rIns="0" bIns="0" rtlCol="0" anchor="ctr"/>
          <a:lstStyle/>
          <a:p>
            <a:pPr marL="0" indent="0" algn="r">
              <a:buNone/>
            </a:pPr>
            <a:r>
              <a:rPr lang="en-US" sz="900" dirty="0">
                <a:solidFill>
                  <a:srgbClr val="526171"/>
                </a:solidFill>
                <a:latin typeface="Aptos" pitchFamily="34" charset="0"/>
                <a:ea typeface="Aptos" pitchFamily="34" charset="-122"/>
                <a:cs typeface="Aptos" pitchFamily="34" charset="-120"/>
              </a:rPr>
              <a:t>9 / 13</a:t>
            </a:r>
            <a:endParaRPr lang="en-US" sz="900" dirty="0"/>
          </a:p>
        </p:txBody>
      </p:sp>
      <p:sp>
        <p:nvSpPr>
          <p:cNvPr id="5" name="Shape 3"/>
          <p:cNvSpPr/>
          <p:nvPr/>
        </p:nvSpPr>
        <p:spPr>
          <a:xfrm>
            <a:off x="502920" y="768096"/>
            <a:ext cx="11173968" cy="0"/>
          </a:xfrm>
          <a:prstGeom prst="line">
            <a:avLst/>
          </a:prstGeom>
          <a:noFill/>
          <a:ln w="8890">
            <a:solidFill>
              <a:srgbClr val="D7DDE5"/>
            </a:solidFill>
            <a:prstDash val="solid"/>
          </a:ln>
        </p:spPr>
      </p:sp>
      <p:sp>
        <p:nvSpPr>
          <p:cNvPr id="6" name="Text 4"/>
          <p:cNvSpPr/>
          <p:nvPr/>
        </p:nvSpPr>
        <p:spPr>
          <a:xfrm>
            <a:off x="502920" y="6519672"/>
            <a:ext cx="6858000" cy="164592"/>
          </a:xfrm>
          <a:prstGeom prst="rect">
            <a:avLst/>
          </a:prstGeom>
          <a:noFill/>
        </p:spPr>
        <p:txBody>
          <a:bodyPr wrap="square" lIns="0" tIns="0" rIns="0" bIns="0" rtlCol="0" anchor="ctr"/>
          <a:lstStyle/>
          <a:p>
            <a:pPr marL="0" indent="0">
              <a:buNone/>
            </a:pPr>
            <a:r>
              <a:rPr lang="en-US" sz="850" dirty="0">
                <a:solidFill>
                  <a:srgbClr val="7B8794"/>
                </a:solidFill>
                <a:latin typeface="Aptos" pitchFamily="34" charset="0"/>
                <a:ea typeface="Aptos" pitchFamily="34" charset="-122"/>
                <a:cs typeface="Aptos" pitchFamily="34" charset="-120"/>
              </a:rPr>
              <a:t>Stage 3 — DDPM-based Indoor Trajectory Refinement</a:t>
            </a:r>
            <a:endParaRPr lang="en-US" sz="850" dirty="0"/>
          </a:p>
        </p:txBody>
      </p:sp>
      <p:sp>
        <p:nvSpPr>
          <p:cNvPr id="7" name="Text 5"/>
          <p:cNvSpPr/>
          <p:nvPr/>
        </p:nvSpPr>
        <p:spPr>
          <a:xfrm>
            <a:off x="713232" y="987552"/>
            <a:ext cx="2011680" cy="219456"/>
          </a:xfrm>
          <a:prstGeom prst="rect">
            <a:avLst/>
          </a:prstGeom>
          <a:noFill/>
        </p:spPr>
        <p:txBody>
          <a:bodyPr wrap="square" lIns="635" tIns="635" rIns="635" bIns="635" rtlCol="0" anchor="t">
            <a:normAutofit/>
          </a:bodyPr>
          <a:lstStyle/>
          <a:p>
            <a:pPr marL="0" indent="0" algn="l">
              <a:buNone/>
            </a:pPr>
            <a:r>
              <a:rPr lang="en-US" sz="1300" b="1" dirty="0">
                <a:solidFill>
                  <a:srgbClr val="0B2341"/>
                </a:solidFill>
                <a:latin typeface="Aptos" pitchFamily="34" charset="0"/>
                <a:ea typeface="Aptos" pitchFamily="34" charset="-122"/>
                <a:cs typeface="Aptos" pitchFamily="34" charset="-120"/>
              </a:rPr>
              <a:t>Interface change</a:t>
            </a:r>
            <a:endParaRPr lang="en-US" sz="1300" dirty="0"/>
          </a:p>
        </p:txBody>
      </p:sp>
      <p:graphicFrame>
        <p:nvGraphicFramePr>
          <p:cNvPr id="10" name="Table 0"/>
          <p:cNvGraphicFramePr>
            <a:graphicFrameLocks noGrp="1"/>
          </p:cNvGraphicFramePr>
          <p:nvPr/>
        </p:nvGraphicFramePr>
        <p:xfrm>
          <a:off x="713232" y="1371600"/>
          <a:ext cx="5806440" cy="1783080"/>
        </p:xfrm>
        <a:graphic>
          <a:graphicData uri="http://schemas.openxmlformats.org/drawingml/2006/table">
            <a:tbl>
              <a:tblPr/>
              <a:tblGrid>
                <a:gridCol w="2880360"/>
                <a:gridCol w="2926080"/>
              </a:tblGrid>
              <a:tr h="594360">
                <a:tc>
                  <a:txBody>
                    <a:bodyPr/>
                    <a:lstStyle/>
                    <a:p>
                      <a:pPr marL="0" indent="0">
                        <a:buNone/>
                      </a:pPr>
                      <a:r>
                        <a:rPr lang="en-US" sz="920" b="1" dirty="0">
                          <a:solidFill>
                            <a:srgbClr val="FFFFFF"/>
                          </a:solidFill>
                          <a:latin typeface="Aptos" pitchFamily="34" charset="0"/>
                          <a:ea typeface="Aptos" pitchFamily="34" charset="-122"/>
                          <a:cs typeface="Aptos" pitchFamily="34" charset="-120"/>
                        </a:rPr>
                        <a:t>Prior-only SDEdit</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c>
                  <a:txBody>
                    <a:bodyPr/>
                    <a:lstStyle/>
                    <a:p>
                      <a:pPr marL="0" indent="0">
                        <a:buNone/>
                      </a:pPr>
                      <a:r>
                        <a:rPr lang="en-US" sz="920" b="1" dirty="0">
                          <a:solidFill>
                            <a:srgbClr val="FFFFFF"/>
                          </a:solidFill>
                          <a:latin typeface="Aptos" pitchFamily="34" charset="0"/>
                          <a:ea typeface="Aptos" pitchFamily="34" charset="-122"/>
                          <a:cs typeface="Aptos" pitchFamily="34" charset="-120"/>
                        </a:rPr>
                        <a:t>Conditional residual DDPM</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r>
              <a:tr h="594360">
                <a:tc>
                  <a:txBody>
                    <a:bodyPr/>
                    <a:lstStyle/>
                    <a:p>
                      <a:pPr marL="0" indent="0">
                        <a:buNone/>
                      </a:pPr>
                      <a:r>
                        <a:rPr lang="en-US" sz="920" dirty="0">
                          <a:solidFill>
                            <a:srgbClr val="1F2328"/>
                          </a:solidFill>
                          <a:latin typeface="Aptos" pitchFamily="34" charset="0"/>
                          <a:ea typeface="Aptos" pitchFamily="34" charset="-122"/>
                          <a:cs typeface="Aptos" pitchFamily="34" charset="-120"/>
                        </a:rPr>
                        <a:t>Edits with a learned prior, but no explicit observation-specific correction channel.</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920" dirty="0">
                          <a:solidFill>
                            <a:srgbClr val="1F2328"/>
                          </a:solidFill>
                          <a:latin typeface="Aptos" pitchFamily="34" charset="0"/>
                          <a:ea typeface="Aptos" pitchFamily="34" charset="-122"/>
                          <a:cs typeface="Aptos" pitchFamily="34" charset="-120"/>
                        </a:rPr>
                        <a:t>Receives the degraded trajectory as condition and predicts the correction residual.</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594360">
                <a:tc>
                  <a:txBody>
                    <a:bodyPr/>
                    <a:lstStyle/>
                    <a:p>
                      <a:pPr marL="0" indent="0">
                        <a:buNone/>
                      </a:pPr>
                      <a:r>
                        <a:rPr lang="en-US" sz="920" dirty="0">
                          <a:solidFill>
                            <a:srgbClr val="1F2328"/>
                          </a:solidFill>
                          <a:latin typeface="Aptos" pitchFamily="34" charset="0"/>
                          <a:ea typeface="Aptos" pitchFamily="34" charset="-122"/>
                          <a:cs typeface="Aptos" pitchFamily="34" charset="-120"/>
                        </a:rPr>
                        <a:t>Can become plausible without being correct for this input.</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920" dirty="0">
                          <a:solidFill>
                            <a:srgbClr val="1F2328"/>
                          </a:solidFill>
                          <a:latin typeface="Aptos" pitchFamily="34" charset="0"/>
                          <a:ea typeface="Aptos" pitchFamily="34" charset="-122"/>
                          <a:cs typeface="Aptos" pitchFamily="34" charset="-120"/>
                        </a:rPr>
                        <a:t>Asks: given this degraded trajectory, where is it off, and by how much?</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bl>
          </a:graphicData>
        </a:graphic>
      </p:graphicFrame>
      <p:sp>
        <p:nvSpPr>
          <p:cNvPr id="9" name="Text 6"/>
          <p:cNvSpPr/>
          <p:nvPr/>
        </p:nvSpPr>
        <p:spPr>
          <a:xfrm>
            <a:off x="713232" y="3511296"/>
            <a:ext cx="1371600" cy="182880"/>
          </a:xfrm>
          <a:prstGeom prst="rect">
            <a:avLst/>
          </a:prstGeom>
          <a:noFill/>
        </p:spPr>
        <p:txBody>
          <a:bodyPr wrap="square" lIns="635" tIns="635" rIns="635" bIns="635" rtlCol="0" anchor="t">
            <a:normAutofit/>
          </a:bodyPr>
          <a:lstStyle/>
          <a:p>
            <a:pPr marL="0" indent="0" algn="l">
              <a:buNone/>
            </a:pPr>
            <a:r>
              <a:rPr lang="en-US" sz="1250" b="1" dirty="0">
                <a:solidFill>
                  <a:srgbClr val="0B2341"/>
                </a:solidFill>
                <a:latin typeface="Aptos" pitchFamily="34" charset="0"/>
                <a:ea typeface="Aptos" pitchFamily="34" charset="-122"/>
                <a:cs typeface="Aptos" pitchFamily="34" charset="-120"/>
              </a:rPr>
              <a:t>Residual target</a:t>
            </a:r>
            <a:endParaRPr lang="en-US" sz="1250" dirty="0"/>
          </a:p>
        </p:txBody>
      </p:sp>
      <p:pic>
        <p:nvPicPr>
          <p:cNvPr id="8" name="Image 0" descr="/mnt/data/docx_extract/word/media/image8.png"/>
          <p:cNvPicPr>
            <a:picLocks noChangeAspect="1"/>
          </p:cNvPicPr>
          <p:nvPr/>
        </p:nvPicPr>
        <p:blipFill>
          <a:blip r:embed="rId1"/>
          <a:stretch>
            <a:fillRect/>
          </a:stretch>
        </p:blipFill>
        <p:spPr>
          <a:xfrm>
            <a:off x="737834" y="3767328"/>
            <a:ext cx="3516957" cy="749808"/>
          </a:xfrm>
          <a:prstGeom prst="rect">
            <a:avLst/>
          </a:prstGeom>
        </p:spPr>
      </p:pic>
      <p:sp>
        <p:nvSpPr>
          <p:cNvPr id="11" name="Text 7"/>
          <p:cNvSpPr/>
          <p:nvPr/>
        </p:nvSpPr>
        <p:spPr>
          <a:xfrm>
            <a:off x="4617720" y="3703320"/>
            <a:ext cx="1234440" cy="164592"/>
          </a:xfrm>
          <a:prstGeom prst="rect">
            <a:avLst/>
          </a:prstGeom>
          <a:noFill/>
        </p:spPr>
        <p:txBody>
          <a:bodyPr wrap="square" lIns="635" tIns="635" rIns="635" bIns="635" rtlCol="0" anchor="t">
            <a:normAutofit/>
          </a:bodyPr>
          <a:lstStyle/>
          <a:p>
            <a:pPr marL="0" indent="0" algn="l">
              <a:buNone/>
            </a:pPr>
            <a:r>
              <a:rPr lang="en-US" sz="1050" b="1" dirty="0">
                <a:solidFill>
                  <a:srgbClr val="0B2341"/>
                </a:solidFill>
                <a:latin typeface="Aptos" pitchFamily="34" charset="0"/>
                <a:ea typeface="Aptos" pitchFamily="34" charset="-122"/>
                <a:cs typeface="Aptos" pitchFamily="34" charset="-120"/>
              </a:rPr>
              <a:t>Why residual?</a:t>
            </a:r>
            <a:endParaRPr lang="en-US" sz="1050" dirty="0"/>
          </a:p>
        </p:txBody>
      </p:sp>
      <p:sp>
        <p:nvSpPr>
          <p:cNvPr id="12" name="Text 8"/>
          <p:cNvSpPr/>
          <p:nvPr/>
        </p:nvSpPr>
        <p:spPr>
          <a:xfrm>
            <a:off x="4617720" y="3986784"/>
            <a:ext cx="2331720" cy="493776"/>
          </a:xfrm>
          <a:prstGeom prst="rect">
            <a:avLst/>
          </a:prstGeom>
          <a:noFill/>
        </p:spPr>
        <p:txBody>
          <a:bodyPr wrap="square" lIns="635" tIns="635" rIns="635" bIns="635" rtlCol="0" anchor="t">
            <a:normAutofit/>
          </a:bodyPr>
          <a:lstStyle/>
          <a:p>
            <a:pPr marL="0" indent="0" algn="l">
              <a:buNone/>
            </a:pPr>
            <a:r>
              <a:rPr lang="en-US" sz="1040" dirty="0">
                <a:solidFill>
                  <a:srgbClr val="1F2328"/>
                </a:solidFill>
                <a:latin typeface="Aptos" pitchFamily="34" charset="0"/>
                <a:ea typeface="Aptos" pitchFamily="34" charset="-122"/>
                <a:cs typeface="Aptos" pitchFamily="34" charset="-120"/>
              </a:rPr>
              <a:t>Predict the correction, not the whole clean trajectory from scratch. The condition is the degraded observation, not ground-truth leakage.</a:t>
            </a:r>
            <a:endParaRPr lang="en-US" sz="1040" dirty="0"/>
          </a:p>
        </p:txBody>
      </p:sp>
      <p:sp>
        <p:nvSpPr>
          <p:cNvPr id="13" name="Shape 9"/>
          <p:cNvSpPr/>
          <p:nvPr/>
        </p:nvSpPr>
        <p:spPr>
          <a:xfrm>
            <a:off x="7150608" y="1261872"/>
            <a:ext cx="4315968" cy="2240280"/>
          </a:xfrm>
          <a:prstGeom prst="roundRect">
            <a:avLst>
              <a:gd name="adj" fmla="val 3265"/>
            </a:avLst>
          </a:prstGeom>
          <a:solidFill>
            <a:srgbClr val="FFF9EB"/>
          </a:solidFill>
          <a:ln w="13970">
            <a:solidFill>
              <a:srgbClr val="F2B84B"/>
            </a:solidFill>
            <a:prstDash val="solid"/>
          </a:ln>
        </p:spPr>
      </p:sp>
      <p:sp>
        <p:nvSpPr>
          <p:cNvPr id="14" name="Text 10"/>
          <p:cNvSpPr/>
          <p:nvPr/>
        </p:nvSpPr>
        <p:spPr>
          <a:xfrm>
            <a:off x="7424928" y="1517904"/>
            <a:ext cx="1371600" cy="182880"/>
          </a:xfrm>
          <a:prstGeom prst="rect">
            <a:avLst/>
          </a:prstGeom>
          <a:noFill/>
        </p:spPr>
        <p:txBody>
          <a:bodyPr wrap="square" lIns="635" tIns="635" rIns="635" bIns="635" rtlCol="0" anchor="t">
            <a:normAutofit/>
          </a:bodyPr>
          <a:lstStyle/>
          <a:p>
            <a:pPr marL="0" indent="0" algn="l">
              <a:buNone/>
            </a:pPr>
            <a:r>
              <a:rPr lang="en-US" sz="1050" b="1" dirty="0">
                <a:solidFill>
                  <a:srgbClr val="0B2341"/>
                </a:solidFill>
                <a:latin typeface="Aptos" pitchFamily="34" charset="0"/>
                <a:ea typeface="Aptos" pitchFamily="34" charset="-122"/>
                <a:cs typeface="Aptos" pitchFamily="34" charset="-120"/>
              </a:rPr>
              <a:t>Literature link</a:t>
            </a:r>
            <a:endParaRPr lang="en-US" sz="1050" dirty="0"/>
          </a:p>
        </p:txBody>
      </p:sp>
      <p:sp>
        <p:nvSpPr>
          <p:cNvPr id="15" name="Text 11"/>
          <p:cNvSpPr/>
          <p:nvPr/>
        </p:nvSpPr>
        <p:spPr>
          <a:xfrm>
            <a:off x="7424928" y="1847088"/>
            <a:ext cx="3566160" cy="960120"/>
          </a:xfrm>
          <a:prstGeom prst="rect">
            <a:avLst/>
          </a:prstGeom>
          <a:noFill/>
        </p:spPr>
        <p:txBody>
          <a:bodyPr wrap="square" lIns="635" tIns="635" rIns="635" bIns="635" rtlCol="0" anchor="ctr">
            <a:normAutofit/>
          </a:bodyPr>
          <a:lstStyle/>
          <a:p>
            <a:r>
              <a:rPr lang="en-US" sz="1020" dirty="0">
                <a:solidFill>
                  <a:srgbClr val="1F2328"/>
                </a:solidFill>
                <a:latin typeface="Aptos" pitchFamily="34" charset="0"/>
                <a:ea typeface="Aptos" pitchFamily="34" charset="-122"/>
                <a:cs typeface="Aptos" pitchFamily="34" charset="-120"/>
              </a:rPr>
              <a:t>DDPM formulation: Ho et al. 2020.</a:t>
            </a:r>
            <a:endParaRPr lang="en-US" sz="1020" dirty="0"/>
          </a:p>
          <a:p>
            <a:r>
              <a:rPr lang="en-US" sz="1020" dirty="0">
                <a:solidFill>
                  <a:srgbClr val="1F2328"/>
                </a:solidFill>
                <a:latin typeface="Aptos" pitchFamily="34" charset="0"/>
                <a:ea typeface="Aptos" pitchFamily="34" charset="-122"/>
                <a:cs typeface="Aptos" pitchFamily="34" charset="-120"/>
              </a:rPr>
              <a:t>SDEdit diagnostic: Meng et al. 2022.</a:t>
            </a:r>
            <a:endParaRPr lang="en-US" sz="1020" dirty="0"/>
          </a:p>
          <a:p>
            <a:r>
              <a:rPr lang="en-US" sz="1020" dirty="0">
                <a:solidFill>
                  <a:srgbClr val="1F2328"/>
                </a:solidFill>
                <a:latin typeface="Aptos" pitchFamily="34" charset="0"/>
                <a:ea typeface="Aptos" pitchFamily="34" charset="-122"/>
                <a:cs typeface="Aptos" pitchFamily="34" charset="-120"/>
              </a:rPr>
              <a:t>Conditional time-series diffusion direction: SSSD-style imputation ideas.</a:t>
            </a:r>
            <a:endParaRPr lang="en-US" sz="1020" dirty="0"/>
          </a:p>
        </p:txBody>
      </p:sp>
      <p:sp>
        <p:nvSpPr>
          <p:cNvPr id="16" name="Text 12"/>
          <p:cNvSpPr/>
          <p:nvPr/>
        </p:nvSpPr>
        <p:spPr>
          <a:xfrm>
            <a:off x="7424928" y="2971800"/>
            <a:ext cx="3474720" cy="292608"/>
          </a:xfrm>
          <a:prstGeom prst="rect">
            <a:avLst/>
          </a:prstGeom>
          <a:noFill/>
        </p:spPr>
        <p:txBody>
          <a:bodyPr wrap="square" lIns="635" tIns="635" rIns="635" bIns="635" rtlCol="0" anchor="t">
            <a:normAutofit/>
          </a:bodyPr>
          <a:lstStyle/>
          <a:p>
            <a:pPr marL="0" indent="0" algn="l">
              <a:buNone/>
            </a:pPr>
            <a:r>
              <a:rPr lang="en-US" sz="1020" b="1" dirty="0">
                <a:solidFill>
                  <a:srgbClr val="1F2328"/>
                </a:solidFill>
                <a:latin typeface="Aptos" pitchFamily="34" charset="0"/>
                <a:ea typeface="Aptos" pitchFamily="34" charset="-122"/>
                <a:cs typeface="Aptos" pitchFamily="34" charset="-120"/>
              </a:rPr>
              <a:t>Here, conditioning is the tested variable: the data, metric, and gaussian evaluation set stay matched.</a:t>
            </a:r>
            <a:endParaRPr lang="en-US" sz="1020" dirty="0"/>
          </a:p>
        </p:txBody>
      </p:sp>
      <p:sp>
        <p:nvSpPr>
          <p:cNvPr id="17" name="Text 13"/>
          <p:cNvSpPr/>
          <p:nvPr/>
        </p:nvSpPr>
        <p:spPr>
          <a:xfrm>
            <a:off x="502920" y="6336792"/>
            <a:ext cx="11155680" cy="146304"/>
          </a:xfrm>
          <a:prstGeom prst="rect">
            <a:avLst/>
          </a:prstGeom>
          <a:noFill/>
        </p:spPr>
        <p:txBody>
          <a:bodyPr wrap="square" lIns="0" tIns="0" rIns="0" bIns="0" rtlCol="0" anchor="ctr"/>
          <a:lstStyle/>
          <a:p>
            <a:pPr marL="0" indent="0">
              <a:buNone/>
            </a:pPr>
            <a:r>
              <a:rPr lang="en-US" sz="750" i="1" dirty="0">
                <a:solidFill>
                  <a:srgbClr val="748094"/>
                </a:solidFill>
                <a:latin typeface="Aptos" pitchFamily="34" charset="0"/>
                <a:ea typeface="Aptos" pitchFamily="34" charset="-122"/>
                <a:cs typeface="Aptos" pitchFamily="34" charset="-120"/>
              </a:rPr>
              <a:t>Ho et al., DDPM, NeurIPS 2020; Meng et al., SDEdit, ICLR 2022; Alcaraz &amp; Strodthoff, SSSD, TMLR 2023.</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8046720" cy="347472"/>
          </a:xfrm>
          <a:prstGeom prst="rect">
            <a:avLst/>
          </a:prstGeom>
          <a:noFill/>
        </p:spPr>
        <p:txBody>
          <a:bodyPr wrap="square" lIns="0" tIns="0" rIns="0" bIns="0" rtlCol="0" anchor="ctr"/>
          <a:lstStyle/>
          <a:p>
            <a:pPr marL="0" indent="0">
              <a:buNone/>
            </a:pPr>
            <a:r>
              <a:rPr lang="en-US" sz="2200" b="1" dirty="0">
                <a:solidFill>
                  <a:srgbClr val="0B2341"/>
                </a:solidFill>
                <a:latin typeface="Aptos" pitchFamily="34" charset="0"/>
                <a:ea typeface="Aptos" pitchFamily="34" charset="-122"/>
                <a:cs typeface="Aptos" pitchFamily="34" charset="-120"/>
              </a:rPr>
              <a:t>Matched gaussian evidence: conditioning gives the larger gain</a:t>
            </a:r>
            <a:endParaRPr lang="en-US" sz="2200" dirty="0"/>
          </a:p>
        </p:txBody>
      </p:sp>
      <p:sp>
        <p:nvSpPr>
          <p:cNvPr id="4" name="Text 2"/>
          <p:cNvSpPr/>
          <p:nvPr/>
        </p:nvSpPr>
        <p:spPr>
          <a:xfrm>
            <a:off x="10287000" y="347472"/>
            <a:ext cx="1371600" cy="237744"/>
          </a:xfrm>
          <a:prstGeom prst="rect">
            <a:avLst/>
          </a:prstGeom>
          <a:noFill/>
        </p:spPr>
        <p:txBody>
          <a:bodyPr wrap="square" lIns="0" tIns="0" rIns="0" bIns="0" rtlCol="0" anchor="ctr"/>
          <a:lstStyle/>
          <a:p>
            <a:pPr marL="0" indent="0" algn="r">
              <a:buNone/>
            </a:pPr>
            <a:r>
              <a:rPr lang="en-US" sz="900" dirty="0">
                <a:solidFill>
                  <a:srgbClr val="526171"/>
                </a:solidFill>
                <a:latin typeface="Aptos" pitchFamily="34" charset="0"/>
                <a:ea typeface="Aptos" pitchFamily="34" charset="-122"/>
                <a:cs typeface="Aptos" pitchFamily="34" charset="-120"/>
              </a:rPr>
              <a:t>10 / 13</a:t>
            </a:r>
            <a:endParaRPr lang="en-US" sz="900" dirty="0"/>
          </a:p>
        </p:txBody>
      </p:sp>
      <p:sp>
        <p:nvSpPr>
          <p:cNvPr id="5" name="Shape 3"/>
          <p:cNvSpPr/>
          <p:nvPr/>
        </p:nvSpPr>
        <p:spPr>
          <a:xfrm>
            <a:off x="502920" y="768096"/>
            <a:ext cx="11173968" cy="0"/>
          </a:xfrm>
          <a:prstGeom prst="line">
            <a:avLst/>
          </a:prstGeom>
          <a:noFill/>
          <a:ln w="8890">
            <a:solidFill>
              <a:srgbClr val="D7DDE5"/>
            </a:solidFill>
            <a:prstDash val="solid"/>
          </a:ln>
        </p:spPr>
      </p:sp>
      <p:sp>
        <p:nvSpPr>
          <p:cNvPr id="6" name="Text 4"/>
          <p:cNvSpPr/>
          <p:nvPr/>
        </p:nvSpPr>
        <p:spPr>
          <a:xfrm>
            <a:off x="502920" y="6519672"/>
            <a:ext cx="6858000" cy="164592"/>
          </a:xfrm>
          <a:prstGeom prst="rect">
            <a:avLst/>
          </a:prstGeom>
          <a:noFill/>
        </p:spPr>
        <p:txBody>
          <a:bodyPr wrap="square" lIns="0" tIns="0" rIns="0" bIns="0" rtlCol="0" anchor="ctr"/>
          <a:lstStyle/>
          <a:p>
            <a:pPr marL="0" indent="0">
              <a:buNone/>
            </a:pPr>
            <a:r>
              <a:rPr lang="en-US" sz="850" dirty="0">
                <a:solidFill>
                  <a:srgbClr val="7B8794"/>
                </a:solidFill>
                <a:latin typeface="Aptos" pitchFamily="34" charset="0"/>
                <a:ea typeface="Aptos" pitchFamily="34" charset="-122"/>
                <a:cs typeface="Aptos" pitchFamily="34" charset="-120"/>
              </a:rPr>
              <a:t>Stage 3 — DDPM-based Indoor Trajectory Refinement</a:t>
            </a:r>
            <a:endParaRPr lang="en-US" sz="850" dirty="0"/>
          </a:p>
        </p:txBody>
      </p:sp>
      <p:pic>
        <p:nvPicPr>
          <p:cNvPr id="7" name="Image 0" descr="/mnt/data/docx_extract/word/media/image9.png"/>
          <p:cNvPicPr>
            <a:picLocks noChangeAspect="1"/>
          </p:cNvPicPr>
          <p:nvPr/>
        </p:nvPicPr>
        <p:blipFill>
          <a:blip r:embed="rId1"/>
          <a:stretch>
            <a:fillRect/>
          </a:stretch>
        </p:blipFill>
        <p:spPr>
          <a:xfrm>
            <a:off x="435610" y="951865"/>
            <a:ext cx="6322695" cy="2282190"/>
          </a:xfrm>
          <a:prstGeom prst="rect">
            <a:avLst/>
          </a:prstGeom>
        </p:spPr>
      </p:pic>
      <p:graphicFrame>
        <p:nvGraphicFramePr>
          <p:cNvPr id="11" name="Table 0"/>
          <p:cNvGraphicFramePr>
            <a:graphicFrameLocks noGrp="1"/>
          </p:cNvGraphicFramePr>
          <p:nvPr>
            <p:custDataLst>
              <p:tags r:id="rId2"/>
            </p:custDataLst>
          </p:nvPr>
        </p:nvGraphicFramePr>
        <p:xfrm>
          <a:off x="516255" y="3670300"/>
          <a:ext cx="5638165" cy="2013585"/>
        </p:xfrm>
        <a:graphic>
          <a:graphicData uri="http://schemas.openxmlformats.org/drawingml/2006/table">
            <a:tbl>
              <a:tblPr/>
              <a:tblGrid>
                <a:gridCol w="1818005"/>
                <a:gridCol w="1543050"/>
                <a:gridCol w="1063625"/>
                <a:gridCol w="1213485"/>
              </a:tblGrid>
              <a:tr h="287655">
                <a:tc>
                  <a:txBody>
                    <a:bodyPr/>
                    <a:lstStyle/>
                    <a:p>
                      <a:pPr marL="0" indent="0">
                        <a:buNone/>
                      </a:pPr>
                      <a:r>
                        <a:rPr lang="en-US" sz="960" b="1" dirty="0">
                          <a:solidFill>
                            <a:srgbClr val="FFFFFF"/>
                          </a:solidFill>
                          <a:latin typeface="Aptos" pitchFamily="34" charset="0"/>
                          <a:ea typeface="Aptos" pitchFamily="34" charset="-122"/>
                          <a:cs typeface="Aptos" pitchFamily="34" charset="-120"/>
                        </a:rPr>
                        <a:t>Method</a:t>
                      </a:r>
                      <a:endParaRPr lang="en-US" sz="96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c>
                  <a:txBody>
                    <a:bodyPr/>
                    <a:lstStyle/>
                    <a:p>
                      <a:pPr marL="0" indent="0">
                        <a:buNone/>
                      </a:pPr>
                      <a:r>
                        <a:rPr lang="en-US" sz="960" b="1" dirty="0">
                          <a:solidFill>
                            <a:srgbClr val="FFFFFF"/>
                          </a:solidFill>
                          <a:latin typeface="Aptos" pitchFamily="34" charset="0"/>
                          <a:ea typeface="Aptos" pitchFamily="34" charset="-122"/>
                          <a:cs typeface="Aptos" pitchFamily="34" charset="-120"/>
                        </a:rPr>
                        <a:t>ADE</a:t>
                      </a:r>
                      <a:endParaRPr lang="en-US" sz="96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c>
                  <a:txBody>
                    <a:bodyPr/>
                    <a:lstStyle/>
                    <a:p>
                      <a:pPr marL="0" indent="0">
                        <a:buNone/>
                      </a:pPr>
                      <a:r>
                        <a:rPr lang="en-US" sz="960" b="1" dirty="0">
                          <a:solidFill>
                            <a:srgbClr val="FFFFFF"/>
                          </a:solidFill>
                          <a:latin typeface="Aptos" pitchFamily="34" charset="0"/>
                          <a:ea typeface="Aptos" pitchFamily="34" charset="-122"/>
                          <a:cs typeface="Aptos" pitchFamily="34" charset="-120"/>
                        </a:rPr>
                        <a:t>Δ vs noisy</a:t>
                      </a:r>
                      <a:endParaRPr lang="en-US" sz="96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c>
                  <a:txBody>
                    <a:bodyPr/>
                    <a:p>
                      <a:pPr marL="0" indent="0">
                        <a:buNone/>
                      </a:pPr>
                      <a:r>
                        <a:rPr lang="en-US" altLang="en-US" sz="960" dirty="0">
                          <a:solidFill>
                            <a:schemeClr val="bg1"/>
                          </a:solidFill>
                          <a:latin typeface="Aptos" pitchFamily="34" charset="0"/>
                          <a:ea typeface="Aptos" pitchFamily="34" charset="0"/>
                          <a:cs typeface="Aptos" pitchFamily="34" charset="0"/>
                        </a:rPr>
                        <a:t>Improved</a:t>
                      </a:r>
                      <a:endParaRPr lang="en-US" altLang="en-US" sz="960" dirty="0">
                        <a:solidFill>
                          <a:schemeClr val="bg1"/>
                        </a:solidFill>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r>
              <a:tr h="287655">
                <a:tc>
                  <a:txBody>
                    <a:bodyPr/>
                    <a:lstStyle/>
                    <a:p>
                      <a:pPr marL="0" indent="0">
                        <a:buNone/>
                      </a:pPr>
                      <a:r>
                        <a:rPr lang="en-US" sz="960" dirty="0">
                          <a:solidFill>
                            <a:srgbClr val="1F2328"/>
                          </a:solidFill>
                          <a:latin typeface="Aptos" pitchFamily="34" charset="0"/>
                          <a:ea typeface="Aptos" pitchFamily="34" charset="-122"/>
                          <a:cs typeface="Aptos" pitchFamily="34" charset="-120"/>
                        </a:rPr>
                        <a:t>No refinement</a:t>
                      </a:r>
                      <a:endParaRPr lang="en-US" sz="96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960" dirty="0">
                          <a:solidFill>
                            <a:srgbClr val="1F2328"/>
                          </a:solidFill>
                          <a:latin typeface="Aptos" pitchFamily="34" charset="0"/>
                          <a:ea typeface="Aptos" pitchFamily="34" charset="-122"/>
                          <a:cs typeface="Aptos" pitchFamily="34" charset="-120"/>
                        </a:rPr>
                        <a:t>0.0626</a:t>
                      </a:r>
                      <a:endParaRPr lang="en-US" sz="96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960" dirty="0">
                          <a:solidFill>
                            <a:srgbClr val="1F2328"/>
                          </a:solidFill>
                          <a:latin typeface="Aptos" pitchFamily="34" charset="0"/>
                          <a:ea typeface="Aptos" pitchFamily="34" charset="-122"/>
                          <a:cs typeface="Aptos" pitchFamily="34" charset="-120"/>
                        </a:rPr>
                        <a:t>—</a:t>
                      </a:r>
                      <a:endParaRPr lang="en-US" sz="96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p>
                      <a:pPr marL="0" indent="0">
                        <a:buNone/>
                      </a:pPr>
                      <a:r>
                        <a:rPr lang="en-US" sz="960" dirty="0">
                          <a:solidFill>
                            <a:srgbClr val="1F2328"/>
                          </a:solidFill>
                          <a:latin typeface="Aptos" pitchFamily="34" charset="0"/>
                          <a:ea typeface="Aptos" pitchFamily="34" charset="-122"/>
                          <a:cs typeface="Aptos" pitchFamily="34" charset="-120"/>
                          <a:sym typeface="+mn-ea"/>
                        </a:rPr>
                        <a:t>—</a:t>
                      </a:r>
                      <a:endParaRPr lang="en-US" altLang="en-US" sz="96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287655">
                <a:tc>
                  <a:txBody>
                    <a:bodyPr/>
                    <a:p>
                      <a:pPr marL="0" indent="0">
                        <a:buNone/>
                      </a:pPr>
                      <a:r>
                        <a:rPr lang="en-US" altLang="en-US" sz="960" dirty="0">
                          <a:latin typeface="Aptos" pitchFamily="34" charset="0"/>
                          <a:ea typeface="Aptos" pitchFamily="34" charset="0"/>
                          <a:cs typeface="Aptos" pitchFamily="34" charset="0"/>
                        </a:rPr>
                        <a:t>Linear interpolation</a:t>
                      </a:r>
                      <a:endParaRPr lang="en-US" altLang="en-US" sz="96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p>
                      <a:pPr marL="0" indent="0">
                        <a:buNone/>
                      </a:pPr>
                      <a:r>
                        <a:rPr lang="en-US" altLang="en-US" sz="960" dirty="0">
                          <a:latin typeface="Aptos" pitchFamily="34" charset="0"/>
                          <a:ea typeface="Aptos" pitchFamily="34" charset="0"/>
                          <a:cs typeface="Aptos" pitchFamily="34" charset="0"/>
                        </a:rPr>
                        <a:t>0.0626 ± 0.0077</a:t>
                      </a:r>
                      <a:endParaRPr lang="en-US" altLang="en-US" sz="96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p>
                      <a:pPr marL="0" indent="0">
                        <a:buNone/>
                      </a:pPr>
                      <a:r>
                        <a:rPr lang="en-US" altLang="en-US" sz="960" dirty="0">
                          <a:latin typeface="Aptos" pitchFamily="34" charset="0"/>
                          <a:ea typeface="Aptos" pitchFamily="34" charset="0"/>
                          <a:cs typeface="Aptos" pitchFamily="34" charset="0"/>
                        </a:rPr>
                        <a:t>0.0%</a:t>
                      </a:r>
                      <a:endParaRPr lang="en-US" altLang="en-US" sz="96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p>
                      <a:pPr marL="0" indent="0">
                        <a:buNone/>
                      </a:pPr>
                      <a:r>
                        <a:rPr lang="en-US" altLang="en-US" sz="960" dirty="0">
                          <a:latin typeface="Aptos" pitchFamily="34" charset="0"/>
                          <a:ea typeface="Aptos" pitchFamily="34" charset="0"/>
                          <a:cs typeface="Aptos" pitchFamily="34" charset="0"/>
                        </a:rPr>
                        <a:t>0.000</a:t>
                      </a:r>
                      <a:endParaRPr lang="en-US" altLang="en-US" sz="96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287655">
                <a:tc>
                  <a:txBody>
                    <a:bodyPr/>
                    <a:p>
                      <a:pPr marL="0" indent="0">
                        <a:buNone/>
                      </a:pPr>
                      <a:r>
                        <a:rPr lang="en-US" altLang="en-US" sz="960" dirty="0">
                          <a:latin typeface="Aptos" pitchFamily="34" charset="0"/>
                          <a:ea typeface="Aptos" pitchFamily="34" charset="0"/>
                          <a:cs typeface="Aptos" pitchFamily="34" charset="0"/>
                        </a:rPr>
                        <a:t>Savitzky-Golay</a:t>
                      </a:r>
                      <a:endParaRPr lang="en-US" altLang="en-US" sz="96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p>
                      <a:pPr marL="0" indent="0">
                        <a:buNone/>
                      </a:pPr>
                      <a:r>
                        <a:rPr lang="en-US" altLang="en-US" sz="960" dirty="0">
                          <a:latin typeface="Aptos" pitchFamily="34" charset="0"/>
                          <a:ea typeface="Aptos" pitchFamily="34" charset="0"/>
                          <a:cs typeface="Aptos" pitchFamily="34" charset="0"/>
                        </a:rPr>
                        <a:t>0.0656 ± 0.0328</a:t>
                      </a:r>
                      <a:endParaRPr lang="en-US" altLang="en-US" sz="96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p>
                      <a:pPr marL="0" indent="0">
                        <a:buNone/>
                      </a:pPr>
                      <a:r>
                        <a:rPr lang="en-US" altLang="en-US" sz="960" dirty="0">
                          <a:latin typeface="Aptos" pitchFamily="34" charset="0"/>
                          <a:ea typeface="Aptos" pitchFamily="34" charset="0"/>
                          <a:cs typeface="Aptos" pitchFamily="34" charset="0"/>
                        </a:rPr>
                        <a:t>+4.9%</a:t>
                      </a:r>
                      <a:endParaRPr lang="en-US" altLang="en-US" sz="96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p>
                      <a:pPr marL="0" indent="0">
                        <a:buNone/>
                      </a:pPr>
                      <a:r>
                        <a:rPr lang="en-US" altLang="en-US" sz="960" dirty="0">
                          <a:latin typeface="Aptos" pitchFamily="34" charset="0"/>
                          <a:ea typeface="Aptos" pitchFamily="34" charset="0"/>
                          <a:cs typeface="Aptos" pitchFamily="34" charset="0"/>
                        </a:rPr>
                        <a:t>0.720</a:t>
                      </a:r>
                      <a:endParaRPr lang="en-US" altLang="en-US" sz="96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287655">
                <a:tc>
                  <a:txBody>
                    <a:bodyPr/>
                    <a:p>
                      <a:pPr marL="0" indent="0">
                        <a:buNone/>
                      </a:pPr>
                      <a:r>
                        <a:rPr lang="en-US" altLang="en-US" sz="960" dirty="0">
                          <a:latin typeface="Aptos" pitchFamily="34" charset="0"/>
                          <a:ea typeface="Aptos" pitchFamily="34" charset="0"/>
                          <a:cs typeface="Aptos" pitchFamily="34" charset="0"/>
                        </a:rPr>
                        <a:t>Kalman CV</a:t>
                      </a:r>
                      <a:endParaRPr lang="en-US" altLang="en-US" sz="96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p>
                      <a:pPr marL="0" indent="0">
                        <a:buNone/>
                      </a:pPr>
                      <a:r>
                        <a:rPr lang="en-US" altLang="en-US" sz="960" dirty="0">
                          <a:latin typeface="Aptos" pitchFamily="34" charset="0"/>
                          <a:ea typeface="Aptos" pitchFamily="34" charset="0"/>
                          <a:cs typeface="Aptos" pitchFamily="34" charset="0"/>
                        </a:rPr>
                        <a:t>0.0850 ± 0.0281</a:t>
                      </a:r>
                      <a:endParaRPr lang="en-US" altLang="en-US" sz="96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p>
                      <a:pPr marL="0" indent="0">
                        <a:buNone/>
                      </a:pPr>
                      <a:r>
                        <a:rPr lang="en-US" altLang="en-US" sz="960" dirty="0">
                          <a:latin typeface="Aptos" pitchFamily="34" charset="0"/>
                          <a:ea typeface="Aptos" pitchFamily="34" charset="0"/>
                          <a:cs typeface="Aptos" pitchFamily="34" charset="0"/>
                        </a:rPr>
                        <a:t>+35.9%</a:t>
                      </a:r>
                      <a:endParaRPr lang="en-US" altLang="en-US" sz="96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p>
                      <a:pPr marL="0" indent="0">
                        <a:buNone/>
                      </a:pPr>
                      <a:r>
                        <a:rPr lang="en-US" altLang="en-US" sz="960" dirty="0">
                          <a:latin typeface="Aptos" pitchFamily="34" charset="0"/>
                          <a:ea typeface="Aptos" pitchFamily="34" charset="0"/>
                          <a:cs typeface="Aptos" pitchFamily="34" charset="0"/>
                        </a:rPr>
                        <a:t>0.235</a:t>
                      </a:r>
                      <a:endParaRPr lang="en-US" altLang="en-US" sz="96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287655">
                <a:tc>
                  <a:txBody>
                    <a:bodyPr/>
                    <a:lstStyle/>
                    <a:p>
                      <a:pPr marL="0" indent="0">
                        <a:buNone/>
                      </a:pPr>
                      <a:r>
                        <a:rPr lang="en-US" sz="960" dirty="0">
                          <a:solidFill>
                            <a:srgbClr val="1F2328"/>
                          </a:solidFill>
                          <a:latin typeface="Aptos" pitchFamily="34" charset="0"/>
                          <a:ea typeface="Aptos" pitchFamily="34" charset="-122"/>
                          <a:cs typeface="Aptos" pitchFamily="34" charset="-120"/>
                        </a:rPr>
                        <a:t>Unconditional SDEdit</a:t>
                      </a:r>
                      <a:endParaRPr lang="en-US" sz="96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960" dirty="0">
                          <a:solidFill>
                            <a:srgbClr val="1F2328"/>
                          </a:solidFill>
                          <a:latin typeface="Aptos" pitchFamily="34" charset="0"/>
                          <a:ea typeface="Aptos" pitchFamily="34" charset="-122"/>
                          <a:cs typeface="Aptos" pitchFamily="34" charset="-120"/>
                        </a:rPr>
                        <a:t>0.0608</a:t>
                      </a:r>
                      <a:endParaRPr lang="en-US" sz="96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960" dirty="0">
                          <a:solidFill>
                            <a:srgbClr val="1F2328"/>
                          </a:solidFill>
                          <a:latin typeface="Aptos" pitchFamily="34" charset="0"/>
                          <a:ea typeface="Aptos" pitchFamily="34" charset="-122"/>
                          <a:cs typeface="Aptos" pitchFamily="34" charset="-120"/>
                        </a:rPr>
                        <a:t>−2.80%</a:t>
                      </a:r>
                      <a:endParaRPr lang="en-US" sz="96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p>
                      <a:pPr marL="0" indent="0">
                        <a:buNone/>
                      </a:pPr>
                      <a:r>
                        <a:rPr lang="en-US" altLang="en-US" sz="960" dirty="0">
                          <a:latin typeface="Aptos" pitchFamily="34" charset="0"/>
                          <a:ea typeface="Aptos" pitchFamily="34" charset="0"/>
                          <a:cs typeface="Aptos" pitchFamily="34" charset="0"/>
                        </a:rPr>
                        <a:t>0.765</a:t>
                      </a:r>
                      <a:endParaRPr lang="en-US" altLang="en-US" sz="96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287655">
                <a:tc>
                  <a:txBody>
                    <a:bodyPr/>
                    <a:lstStyle/>
                    <a:p>
                      <a:pPr marL="0" indent="0">
                        <a:buNone/>
                      </a:pPr>
                      <a:r>
                        <a:rPr lang="en-US" sz="960" dirty="0">
                          <a:solidFill>
                            <a:srgbClr val="1F2328"/>
                          </a:solidFill>
                          <a:latin typeface="Aptos" pitchFamily="34" charset="0"/>
                          <a:ea typeface="Aptos" pitchFamily="34" charset="-122"/>
                          <a:cs typeface="Aptos" pitchFamily="34" charset="-120"/>
                        </a:rPr>
                        <a:t>Conditional residual DDPM</a:t>
                      </a:r>
                      <a:endParaRPr lang="en-US" sz="96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960" dirty="0">
                          <a:solidFill>
                            <a:srgbClr val="1F2328"/>
                          </a:solidFill>
                          <a:latin typeface="Aptos" pitchFamily="34" charset="0"/>
                          <a:ea typeface="Aptos" pitchFamily="34" charset="-122"/>
                          <a:cs typeface="Aptos" pitchFamily="34" charset="-120"/>
                        </a:rPr>
                        <a:t>0.0557</a:t>
                      </a:r>
                      <a:endParaRPr lang="en-US" sz="96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960" dirty="0">
                          <a:solidFill>
                            <a:srgbClr val="1F2328"/>
                          </a:solidFill>
                          <a:latin typeface="Aptos" pitchFamily="34" charset="0"/>
                          <a:ea typeface="Aptos" pitchFamily="34" charset="-122"/>
                          <a:cs typeface="Aptos" pitchFamily="34" charset="-120"/>
                        </a:rPr>
                        <a:t>−10.98%</a:t>
                      </a:r>
                      <a:endParaRPr lang="en-US" sz="96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p>
                      <a:pPr marL="0" indent="0">
                        <a:buNone/>
                      </a:pPr>
                      <a:r>
                        <a:rPr lang="en-US" altLang="en-US" sz="960" dirty="0">
                          <a:latin typeface="Aptos" pitchFamily="34" charset="0"/>
                          <a:ea typeface="Aptos" pitchFamily="34" charset="0"/>
                          <a:cs typeface="Aptos" pitchFamily="34" charset="0"/>
                        </a:rPr>
                        <a:t>0.730</a:t>
                      </a:r>
                      <a:endParaRPr lang="en-US" altLang="en-US" sz="96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bl>
          </a:graphicData>
        </a:graphic>
      </p:graphicFrame>
      <p:sp>
        <p:nvSpPr>
          <p:cNvPr id="9" name="Shape 5"/>
          <p:cNvSpPr/>
          <p:nvPr/>
        </p:nvSpPr>
        <p:spPr>
          <a:xfrm>
            <a:off x="6812280" y="3717925"/>
            <a:ext cx="2423160" cy="1115568"/>
          </a:xfrm>
          <a:prstGeom prst="roundRect">
            <a:avLst>
              <a:gd name="adj" fmla="val 6557"/>
            </a:avLst>
          </a:prstGeom>
          <a:solidFill>
            <a:srgbClr val="FFF9EB"/>
          </a:solidFill>
          <a:ln w="13970">
            <a:solidFill>
              <a:srgbClr val="F2B84B"/>
            </a:solidFill>
            <a:prstDash val="solid"/>
          </a:ln>
        </p:spPr>
      </p:sp>
      <p:sp>
        <p:nvSpPr>
          <p:cNvPr id="10" name="Text 6"/>
          <p:cNvSpPr/>
          <p:nvPr/>
        </p:nvSpPr>
        <p:spPr>
          <a:xfrm>
            <a:off x="7196328" y="3864229"/>
            <a:ext cx="1645920" cy="347472"/>
          </a:xfrm>
          <a:prstGeom prst="rect">
            <a:avLst/>
          </a:prstGeom>
          <a:noFill/>
        </p:spPr>
        <p:txBody>
          <a:bodyPr wrap="square" lIns="635" tIns="635" rIns="635" bIns="635" rtlCol="0" anchor="t">
            <a:normAutofit/>
          </a:bodyPr>
          <a:lstStyle/>
          <a:p>
            <a:pPr marL="0" indent="0" algn="ctr">
              <a:buNone/>
            </a:pPr>
            <a:r>
              <a:rPr lang="en-US" sz="2400" b="1" dirty="0">
                <a:solidFill>
                  <a:srgbClr val="0B2341"/>
                </a:solidFill>
                <a:latin typeface="Aptos" pitchFamily="34" charset="0"/>
                <a:ea typeface="Aptos" pitchFamily="34" charset="-122"/>
                <a:cs typeface="Aptos" pitchFamily="34" charset="-120"/>
              </a:rPr>
              <a:t>−10.98%</a:t>
            </a:r>
            <a:endParaRPr lang="en-US" sz="2400" dirty="0"/>
          </a:p>
        </p:txBody>
      </p:sp>
      <p:sp>
        <p:nvSpPr>
          <p:cNvPr id="8" name="Text 7"/>
          <p:cNvSpPr/>
          <p:nvPr/>
        </p:nvSpPr>
        <p:spPr>
          <a:xfrm>
            <a:off x="7159752" y="4339717"/>
            <a:ext cx="1737360" cy="146304"/>
          </a:xfrm>
          <a:prstGeom prst="rect">
            <a:avLst/>
          </a:prstGeom>
          <a:noFill/>
        </p:spPr>
        <p:txBody>
          <a:bodyPr wrap="square" lIns="635" tIns="635" rIns="635" bIns="635" rtlCol="0" anchor="t">
            <a:normAutofit/>
          </a:bodyPr>
          <a:lstStyle/>
          <a:p>
            <a:pPr marL="0" indent="0" algn="ctr">
              <a:buNone/>
            </a:pPr>
            <a:r>
              <a:rPr lang="en-US" sz="950" b="1" dirty="0">
                <a:solidFill>
                  <a:srgbClr val="526171"/>
                </a:solidFill>
                <a:latin typeface="Aptos" pitchFamily="34" charset="0"/>
                <a:ea typeface="Aptos" pitchFamily="34" charset="-122"/>
                <a:cs typeface="Aptos" pitchFamily="34" charset="-120"/>
              </a:rPr>
              <a:t>ADE vs no refinement</a:t>
            </a:r>
            <a:endParaRPr lang="en-US" sz="950" dirty="0"/>
          </a:p>
        </p:txBody>
      </p:sp>
      <p:sp>
        <p:nvSpPr>
          <p:cNvPr id="12" name="Shape 8"/>
          <p:cNvSpPr/>
          <p:nvPr/>
        </p:nvSpPr>
        <p:spPr>
          <a:xfrm>
            <a:off x="9509760" y="3717925"/>
            <a:ext cx="2423160" cy="1115568"/>
          </a:xfrm>
          <a:prstGeom prst="roundRect">
            <a:avLst>
              <a:gd name="adj" fmla="val 6557"/>
            </a:avLst>
          </a:prstGeom>
          <a:solidFill>
            <a:srgbClr val="F6FAFF"/>
          </a:solidFill>
          <a:ln w="13970">
            <a:solidFill>
              <a:srgbClr val="9BBCE3"/>
            </a:solidFill>
            <a:prstDash val="solid"/>
          </a:ln>
        </p:spPr>
      </p:sp>
      <p:sp>
        <p:nvSpPr>
          <p:cNvPr id="13" name="Text 9"/>
          <p:cNvSpPr/>
          <p:nvPr/>
        </p:nvSpPr>
        <p:spPr>
          <a:xfrm>
            <a:off x="9902952" y="3873373"/>
            <a:ext cx="1645920" cy="347472"/>
          </a:xfrm>
          <a:prstGeom prst="rect">
            <a:avLst/>
          </a:prstGeom>
          <a:noFill/>
        </p:spPr>
        <p:txBody>
          <a:bodyPr wrap="square" lIns="635" tIns="635" rIns="635" bIns="635" rtlCol="0" anchor="t">
            <a:normAutofit/>
          </a:bodyPr>
          <a:lstStyle/>
          <a:p>
            <a:pPr marL="0" indent="0" algn="ctr">
              <a:buNone/>
            </a:pPr>
            <a:r>
              <a:rPr lang="en-US" sz="2400" b="1" dirty="0">
                <a:solidFill>
                  <a:srgbClr val="0B2341"/>
                </a:solidFill>
                <a:latin typeface="Aptos" pitchFamily="34" charset="0"/>
                <a:ea typeface="Aptos" pitchFamily="34" charset="-122"/>
                <a:cs typeface="Aptos" pitchFamily="34" charset="-120"/>
              </a:rPr>
              <a:t>+8.41%</a:t>
            </a:r>
            <a:endParaRPr lang="en-US" sz="2400" dirty="0"/>
          </a:p>
        </p:txBody>
      </p:sp>
      <p:sp>
        <p:nvSpPr>
          <p:cNvPr id="14" name="Text 10"/>
          <p:cNvSpPr/>
          <p:nvPr/>
        </p:nvSpPr>
        <p:spPr>
          <a:xfrm>
            <a:off x="9902952" y="4339717"/>
            <a:ext cx="1645920" cy="146304"/>
          </a:xfrm>
          <a:prstGeom prst="rect">
            <a:avLst/>
          </a:prstGeom>
          <a:noFill/>
        </p:spPr>
        <p:txBody>
          <a:bodyPr wrap="square" lIns="635" tIns="635" rIns="635" bIns="635" rtlCol="0" anchor="t">
            <a:normAutofit/>
          </a:bodyPr>
          <a:lstStyle/>
          <a:p>
            <a:pPr marL="0" indent="0" algn="ctr">
              <a:buNone/>
            </a:pPr>
            <a:r>
              <a:rPr lang="en-US" sz="950" b="1" dirty="0">
                <a:solidFill>
                  <a:srgbClr val="526171"/>
                </a:solidFill>
                <a:latin typeface="Aptos" pitchFamily="34" charset="0"/>
                <a:ea typeface="Aptos" pitchFamily="34" charset="-122"/>
                <a:cs typeface="Aptos" pitchFamily="34" charset="-120"/>
              </a:rPr>
              <a:t>relative to SDEdit</a:t>
            </a:r>
            <a:endParaRPr lang="en-US" sz="950" dirty="0"/>
          </a:p>
        </p:txBody>
      </p:sp>
      <p:sp>
        <p:nvSpPr>
          <p:cNvPr id="15" name="Text 11"/>
          <p:cNvSpPr/>
          <p:nvPr/>
        </p:nvSpPr>
        <p:spPr>
          <a:xfrm>
            <a:off x="7040880" y="1060704"/>
            <a:ext cx="2286000" cy="228600"/>
          </a:xfrm>
          <a:prstGeom prst="rect">
            <a:avLst/>
          </a:prstGeom>
          <a:noFill/>
        </p:spPr>
        <p:txBody>
          <a:bodyPr wrap="square" lIns="635" tIns="635" rIns="635" bIns="635" rtlCol="0" anchor="t">
            <a:normAutofit/>
          </a:bodyPr>
          <a:lstStyle/>
          <a:p>
            <a:pPr marL="0" indent="0" algn="l">
              <a:buNone/>
            </a:pPr>
            <a:r>
              <a:rPr lang="en-US" sz="1300" b="1" dirty="0">
                <a:solidFill>
                  <a:srgbClr val="0B2341"/>
                </a:solidFill>
                <a:latin typeface="Aptos" pitchFamily="34" charset="0"/>
                <a:ea typeface="Aptos" pitchFamily="34" charset="-122"/>
                <a:cs typeface="Aptos" pitchFamily="34" charset="-120"/>
              </a:rPr>
              <a:t>Claim supported here</a:t>
            </a:r>
            <a:endParaRPr lang="en-US" sz="1300" dirty="0"/>
          </a:p>
        </p:txBody>
      </p:sp>
      <p:sp>
        <p:nvSpPr>
          <p:cNvPr id="16" name="Text 12"/>
          <p:cNvSpPr/>
          <p:nvPr/>
        </p:nvSpPr>
        <p:spPr>
          <a:xfrm>
            <a:off x="7040880" y="1417320"/>
            <a:ext cx="3977640" cy="749808"/>
          </a:xfrm>
          <a:prstGeom prst="rect">
            <a:avLst/>
          </a:prstGeom>
          <a:noFill/>
        </p:spPr>
        <p:txBody>
          <a:bodyPr wrap="square" lIns="635" tIns="635" rIns="635" bIns="635" rtlCol="0" anchor="t">
            <a:normAutofit/>
          </a:bodyPr>
          <a:lstStyle/>
          <a:p>
            <a:pPr marL="0" indent="0" algn="l">
              <a:buNone/>
            </a:pPr>
            <a:r>
              <a:rPr lang="en-US" sz="1140" dirty="0">
                <a:solidFill>
                  <a:srgbClr val="1F2328"/>
                </a:solidFill>
                <a:latin typeface="Aptos" pitchFamily="34" charset="0"/>
                <a:ea typeface="Aptos" pitchFamily="34" charset="-122"/>
                <a:cs typeface="Aptos" pitchFamily="34" charset="-120"/>
              </a:rPr>
              <a:t>Under matched gaussian degradation, observation conditioning gives a clearly larger ADE reduction than prior-only editing. The result supports the interface-level part of the hypothesis.</a:t>
            </a:r>
            <a:endParaRPr lang="en-US" sz="1140" dirty="0"/>
          </a:p>
        </p:txBody>
      </p:sp>
      <p:sp>
        <p:nvSpPr>
          <p:cNvPr id="17" name="Text 13"/>
          <p:cNvSpPr/>
          <p:nvPr/>
        </p:nvSpPr>
        <p:spPr>
          <a:xfrm>
            <a:off x="7040880" y="2487168"/>
            <a:ext cx="2468880" cy="228600"/>
          </a:xfrm>
          <a:prstGeom prst="rect">
            <a:avLst/>
          </a:prstGeom>
          <a:noFill/>
        </p:spPr>
        <p:txBody>
          <a:bodyPr wrap="square" lIns="635" tIns="635" rIns="635" bIns="635" rtlCol="0" anchor="t">
            <a:normAutofit/>
          </a:bodyPr>
          <a:lstStyle/>
          <a:p>
            <a:pPr marL="0" indent="0" algn="l">
              <a:buNone/>
            </a:pPr>
            <a:r>
              <a:rPr lang="en-US" sz="1300" b="1" dirty="0">
                <a:solidFill>
                  <a:srgbClr val="0B2341"/>
                </a:solidFill>
                <a:latin typeface="Aptos" pitchFamily="34" charset="0"/>
                <a:ea typeface="Aptos" pitchFamily="34" charset="-122"/>
                <a:cs typeface="Aptos" pitchFamily="34" charset="-120"/>
              </a:rPr>
              <a:t>Claim not supported yet</a:t>
            </a:r>
            <a:endParaRPr lang="en-US" sz="1300" dirty="0"/>
          </a:p>
        </p:txBody>
      </p:sp>
      <p:sp>
        <p:nvSpPr>
          <p:cNvPr id="18" name="Text 14"/>
          <p:cNvSpPr/>
          <p:nvPr/>
        </p:nvSpPr>
        <p:spPr>
          <a:xfrm>
            <a:off x="7040880" y="2834640"/>
            <a:ext cx="3840480" cy="347472"/>
          </a:xfrm>
          <a:prstGeom prst="rect">
            <a:avLst/>
          </a:prstGeom>
          <a:noFill/>
        </p:spPr>
        <p:txBody>
          <a:bodyPr wrap="square" lIns="635" tIns="635" rIns="635" bIns="635" rtlCol="0" anchor="t">
            <a:normAutofit/>
          </a:bodyPr>
          <a:lstStyle/>
          <a:p>
            <a:pPr marL="0" indent="0" algn="l">
              <a:buNone/>
            </a:pPr>
            <a:r>
              <a:rPr lang="en-US" sz="1140" b="1" dirty="0">
                <a:solidFill>
                  <a:srgbClr val="1F2328"/>
                </a:solidFill>
                <a:latin typeface="Aptos" pitchFamily="34" charset="0"/>
                <a:ea typeface="Aptos" pitchFamily="34" charset="-122"/>
                <a:cs typeface="Aptos" pitchFamily="34" charset="-120"/>
              </a:rPr>
              <a:t>This does not prove broad sensor-error robustness. That needs cross-degradation testing.</a:t>
            </a:r>
            <a:endParaRPr lang="en-US" sz="1140" dirty="0"/>
          </a:p>
        </p:txBody>
      </p:sp>
      <p:sp>
        <p:nvSpPr>
          <p:cNvPr id="19" name="Text 15"/>
          <p:cNvSpPr/>
          <p:nvPr/>
        </p:nvSpPr>
        <p:spPr>
          <a:xfrm>
            <a:off x="502920" y="6336792"/>
            <a:ext cx="11155680" cy="146304"/>
          </a:xfrm>
          <a:prstGeom prst="rect">
            <a:avLst/>
          </a:prstGeom>
          <a:noFill/>
        </p:spPr>
        <p:txBody>
          <a:bodyPr wrap="square" lIns="0" tIns="0" rIns="0" bIns="0" rtlCol="0" anchor="ctr"/>
          <a:lstStyle/>
          <a:p>
            <a:pPr marL="0" indent="0">
              <a:buNone/>
            </a:pPr>
            <a:r>
              <a:rPr lang="en-US" sz="750" i="1" dirty="0">
                <a:solidFill>
                  <a:srgbClr val="748094"/>
                </a:solidFill>
                <a:latin typeface="Aptos" pitchFamily="34" charset="0"/>
                <a:ea typeface="Aptos" pitchFamily="34" charset="-122"/>
                <a:cs typeface="Aptos" pitchFamily="34" charset="-120"/>
              </a:rPr>
              <a:t>Report Table 6 and Fig. 7; same N = 200 gaussian_medium degraded trajectories.</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8046720" cy="347472"/>
          </a:xfrm>
          <a:prstGeom prst="rect">
            <a:avLst/>
          </a:prstGeom>
          <a:noFill/>
        </p:spPr>
        <p:txBody>
          <a:bodyPr wrap="square" lIns="0" tIns="0" rIns="0" bIns="0" rtlCol="0" anchor="ctr"/>
          <a:lstStyle/>
          <a:p>
            <a:pPr marL="0" indent="0">
              <a:buNone/>
            </a:pPr>
            <a:r>
              <a:rPr lang="en-US" sz="2200" b="1" dirty="0">
                <a:solidFill>
                  <a:srgbClr val="0B2341"/>
                </a:solidFill>
                <a:latin typeface="Aptos" pitchFamily="34" charset="0"/>
                <a:ea typeface="Aptos" pitchFamily="34" charset="-122"/>
                <a:cs typeface="Aptos" pitchFamily="34" charset="-120"/>
              </a:rPr>
              <a:t>Cross-degradation test: the failures are structured</a:t>
            </a:r>
            <a:endParaRPr lang="en-US" sz="2200" dirty="0"/>
          </a:p>
        </p:txBody>
      </p:sp>
      <p:sp>
        <p:nvSpPr>
          <p:cNvPr id="4" name="Text 2"/>
          <p:cNvSpPr/>
          <p:nvPr/>
        </p:nvSpPr>
        <p:spPr>
          <a:xfrm>
            <a:off x="10287000" y="347472"/>
            <a:ext cx="1371600" cy="237744"/>
          </a:xfrm>
          <a:prstGeom prst="rect">
            <a:avLst/>
          </a:prstGeom>
          <a:noFill/>
        </p:spPr>
        <p:txBody>
          <a:bodyPr wrap="square" lIns="0" tIns="0" rIns="0" bIns="0" rtlCol="0" anchor="ctr"/>
          <a:lstStyle/>
          <a:p>
            <a:pPr marL="0" indent="0" algn="r">
              <a:buNone/>
            </a:pPr>
            <a:r>
              <a:rPr lang="en-US" sz="900" dirty="0">
                <a:solidFill>
                  <a:srgbClr val="526171"/>
                </a:solidFill>
                <a:latin typeface="Aptos" pitchFamily="34" charset="0"/>
                <a:ea typeface="Aptos" pitchFamily="34" charset="-122"/>
                <a:cs typeface="Aptos" pitchFamily="34" charset="-120"/>
              </a:rPr>
              <a:t>11 / 13</a:t>
            </a:r>
            <a:endParaRPr lang="en-US" sz="900" dirty="0"/>
          </a:p>
        </p:txBody>
      </p:sp>
      <p:sp>
        <p:nvSpPr>
          <p:cNvPr id="5" name="Shape 3"/>
          <p:cNvSpPr/>
          <p:nvPr/>
        </p:nvSpPr>
        <p:spPr>
          <a:xfrm>
            <a:off x="502920" y="768096"/>
            <a:ext cx="11173968" cy="0"/>
          </a:xfrm>
          <a:prstGeom prst="line">
            <a:avLst/>
          </a:prstGeom>
          <a:noFill/>
          <a:ln w="8890">
            <a:solidFill>
              <a:srgbClr val="D7DDE5"/>
            </a:solidFill>
            <a:prstDash val="solid"/>
          </a:ln>
        </p:spPr>
      </p:sp>
      <p:sp>
        <p:nvSpPr>
          <p:cNvPr id="6" name="Text 4"/>
          <p:cNvSpPr/>
          <p:nvPr/>
        </p:nvSpPr>
        <p:spPr>
          <a:xfrm>
            <a:off x="502920" y="6519672"/>
            <a:ext cx="6858000" cy="164592"/>
          </a:xfrm>
          <a:prstGeom prst="rect">
            <a:avLst/>
          </a:prstGeom>
          <a:noFill/>
        </p:spPr>
        <p:txBody>
          <a:bodyPr wrap="square" lIns="0" tIns="0" rIns="0" bIns="0" rtlCol="0" anchor="ctr"/>
          <a:lstStyle/>
          <a:p>
            <a:pPr marL="0" indent="0">
              <a:buNone/>
            </a:pPr>
            <a:r>
              <a:rPr lang="en-US" sz="850" dirty="0">
                <a:solidFill>
                  <a:srgbClr val="7B8794"/>
                </a:solidFill>
                <a:latin typeface="Aptos" pitchFamily="34" charset="0"/>
                <a:ea typeface="Aptos" pitchFamily="34" charset="-122"/>
                <a:cs typeface="Aptos" pitchFamily="34" charset="-120"/>
              </a:rPr>
              <a:t>Stage 3 — DDPM-based Indoor Trajectory Refinement</a:t>
            </a:r>
            <a:endParaRPr lang="en-US" sz="850" dirty="0"/>
          </a:p>
        </p:txBody>
      </p:sp>
      <p:pic>
        <p:nvPicPr>
          <p:cNvPr id="7" name="Image 0" descr="/mnt/data/docx_extract/word/media/image10.png"/>
          <p:cNvPicPr>
            <a:picLocks noChangeAspect="1"/>
          </p:cNvPicPr>
          <p:nvPr/>
        </p:nvPicPr>
        <p:blipFill>
          <a:blip r:embed="rId1"/>
          <a:stretch>
            <a:fillRect/>
          </a:stretch>
        </p:blipFill>
        <p:spPr>
          <a:xfrm>
            <a:off x="603504" y="1344459"/>
            <a:ext cx="5138928" cy="2962075"/>
          </a:xfrm>
          <a:prstGeom prst="rect">
            <a:avLst/>
          </a:prstGeom>
        </p:spPr>
      </p:pic>
      <p:sp>
        <p:nvSpPr>
          <p:cNvPr id="8" name="Text 5"/>
          <p:cNvSpPr/>
          <p:nvPr/>
        </p:nvSpPr>
        <p:spPr>
          <a:xfrm>
            <a:off x="6172200" y="987552"/>
            <a:ext cx="4754880" cy="228600"/>
          </a:xfrm>
          <a:prstGeom prst="rect">
            <a:avLst/>
          </a:prstGeom>
          <a:noFill/>
        </p:spPr>
        <p:txBody>
          <a:bodyPr wrap="square" lIns="635" tIns="635" rIns="635" bIns="635" rtlCol="0" anchor="t">
            <a:normAutofit/>
          </a:bodyPr>
          <a:lstStyle/>
          <a:p>
            <a:pPr marL="0" indent="0" algn="l">
              <a:buNone/>
            </a:pPr>
            <a:r>
              <a:rPr lang="en-US" sz="1300" b="1" dirty="0">
                <a:solidFill>
                  <a:srgbClr val="0B2341"/>
                </a:solidFill>
                <a:latin typeface="Aptos" pitchFamily="34" charset="0"/>
                <a:ea typeface="Aptos" pitchFamily="34" charset="-122"/>
                <a:cs typeface="Aptos" pitchFamily="34" charset="-120"/>
              </a:rPr>
              <a:t>One gaussian-trained conditional model, six test conditions</a:t>
            </a:r>
            <a:endParaRPr lang="en-US" sz="1300" dirty="0"/>
          </a:p>
        </p:txBody>
      </p:sp>
      <p:graphicFrame>
        <p:nvGraphicFramePr>
          <p:cNvPr id="12" name="Table 0"/>
          <p:cNvGraphicFramePr>
            <a:graphicFrameLocks noGrp="1"/>
          </p:cNvGraphicFramePr>
          <p:nvPr/>
        </p:nvGraphicFramePr>
        <p:xfrm>
          <a:off x="6172200" y="1417320"/>
          <a:ext cx="5166360" cy="2331721"/>
        </p:xfrm>
        <a:graphic>
          <a:graphicData uri="http://schemas.openxmlformats.org/drawingml/2006/table">
            <a:tbl>
              <a:tblPr/>
              <a:tblGrid>
                <a:gridCol w="868680"/>
                <a:gridCol w="1280160"/>
                <a:gridCol w="3017520"/>
              </a:tblGrid>
              <a:tr h="333103">
                <a:tc>
                  <a:txBody>
                    <a:bodyPr/>
                    <a:lstStyle/>
                    <a:p>
                      <a:pPr marL="0" indent="0">
                        <a:buNone/>
                      </a:pPr>
                      <a:r>
                        <a:rPr lang="en-US" sz="870" b="1" dirty="0">
                          <a:solidFill>
                            <a:srgbClr val="FFFFFF"/>
                          </a:solidFill>
                          <a:latin typeface="Aptos" pitchFamily="34" charset="0"/>
                          <a:ea typeface="Aptos" pitchFamily="34" charset="-122"/>
                          <a:cs typeface="Aptos" pitchFamily="34" charset="-120"/>
                        </a:rPr>
                        <a:t>Case</a:t>
                      </a:r>
                      <a:endParaRPr lang="en-US" sz="87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c>
                  <a:txBody>
                    <a:bodyPr/>
                    <a:lstStyle/>
                    <a:p>
                      <a:pPr marL="0" indent="0">
                        <a:buNone/>
                      </a:pPr>
                      <a:r>
                        <a:rPr lang="en-US" sz="870" b="1" dirty="0">
                          <a:solidFill>
                            <a:srgbClr val="FFFFFF"/>
                          </a:solidFill>
                          <a:latin typeface="Aptos" pitchFamily="34" charset="0"/>
                          <a:ea typeface="Aptos" pitchFamily="34" charset="-122"/>
                          <a:cs typeface="Aptos" pitchFamily="34" charset="-120"/>
                        </a:rPr>
                        <a:t>Observed result</a:t>
                      </a:r>
                      <a:endParaRPr lang="en-US" sz="87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c>
                  <a:txBody>
                    <a:bodyPr/>
                    <a:lstStyle/>
                    <a:p>
                      <a:pPr marL="0" indent="0">
                        <a:buNone/>
                      </a:pPr>
                      <a:r>
                        <a:rPr lang="en-US" sz="870" b="1" dirty="0">
                          <a:solidFill>
                            <a:srgbClr val="FFFFFF"/>
                          </a:solidFill>
                          <a:latin typeface="Aptos" pitchFamily="34" charset="0"/>
                          <a:ea typeface="Aptos" pitchFamily="34" charset="-122"/>
                          <a:cs typeface="Aptos" pitchFamily="34" charset="-120"/>
                        </a:rPr>
                        <a:t>Likely reason</a:t>
                      </a:r>
                      <a:endParaRPr lang="en-US" sz="87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r>
              <a:tr h="333103">
                <a:tc>
                  <a:txBody>
                    <a:bodyPr/>
                    <a:lstStyle/>
                    <a:p>
                      <a:pPr marL="0" indent="0">
                        <a:buNone/>
                      </a:pPr>
                      <a:r>
                        <a:rPr lang="en-US" sz="870" dirty="0">
                          <a:solidFill>
                            <a:srgbClr val="1F2328"/>
                          </a:solidFill>
                          <a:latin typeface="Aptos" pitchFamily="34" charset="0"/>
                          <a:ea typeface="Aptos" pitchFamily="34" charset="-122"/>
                          <a:cs typeface="Aptos" pitchFamily="34" charset="-120"/>
                        </a:rPr>
                        <a:t>Gaussian</a:t>
                      </a:r>
                      <a:endParaRPr lang="en-US" sz="87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870" dirty="0">
                          <a:solidFill>
                            <a:srgbClr val="1F2328"/>
                          </a:solidFill>
                          <a:latin typeface="Aptos" pitchFamily="34" charset="0"/>
                          <a:ea typeface="Aptos" pitchFamily="34" charset="-122"/>
                          <a:cs typeface="Aptos" pitchFamily="34" charset="-120"/>
                        </a:rPr>
                        <a:t>improves</a:t>
                      </a:r>
                      <a:endParaRPr lang="en-US" sz="87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870" dirty="0">
                          <a:solidFill>
                            <a:srgbClr val="1F2328"/>
                          </a:solidFill>
                          <a:latin typeface="Aptos" pitchFamily="34" charset="0"/>
                          <a:ea typeface="Aptos" pitchFamily="34" charset="-122"/>
                          <a:cs typeface="Aptos" pitchFamily="34" charset="-120"/>
                        </a:rPr>
                        <a:t>training and test corruption match</a:t>
                      </a:r>
                      <a:endParaRPr lang="en-US" sz="87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333103">
                <a:tc>
                  <a:txBody>
                    <a:bodyPr/>
                    <a:lstStyle/>
                    <a:p>
                      <a:pPr marL="0" indent="0">
                        <a:buNone/>
                      </a:pPr>
                      <a:r>
                        <a:rPr lang="en-US" sz="870" dirty="0">
                          <a:solidFill>
                            <a:srgbClr val="1F2328"/>
                          </a:solidFill>
                          <a:latin typeface="Aptos" pitchFamily="34" charset="0"/>
                          <a:ea typeface="Aptos" pitchFamily="34" charset="-122"/>
                          <a:cs typeface="Aptos" pitchFamily="34" charset="-120"/>
                        </a:rPr>
                        <a:t>Jump</a:t>
                      </a:r>
                      <a:endParaRPr lang="en-US" sz="87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870" dirty="0">
                          <a:solidFill>
                            <a:srgbClr val="1F2328"/>
                          </a:solidFill>
                          <a:latin typeface="Aptos" pitchFamily="34" charset="0"/>
                          <a:ea typeface="Aptos" pitchFamily="34" charset="-122"/>
                          <a:cs typeface="Aptos" pitchFamily="34" charset="-120"/>
                        </a:rPr>
                        <a:t>improves</a:t>
                      </a:r>
                      <a:endParaRPr lang="en-US" sz="87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870" dirty="0">
                          <a:solidFill>
                            <a:srgbClr val="1F2328"/>
                          </a:solidFill>
                          <a:latin typeface="Aptos" pitchFamily="34" charset="0"/>
                          <a:ea typeface="Aptos" pitchFamily="34" charset="-122"/>
                          <a:cs typeface="Aptos" pitchFamily="34" charset="-120"/>
                        </a:rPr>
                        <a:t>sparse offsets resemble extreme residuals</a:t>
                      </a:r>
                      <a:endParaRPr lang="en-US" sz="87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333103">
                <a:tc>
                  <a:txBody>
                    <a:bodyPr/>
                    <a:lstStyle/>
                    <a:p>
                      <a:pPr marL="0" indent="0">
                        <a:buNone/>
                      </a:pPr>
                      <a:r>
                        <a:rPr lang="en-US" sz="870" dirty="0">
                          <a:solidFill>
                            <a:srgbClr val="1F2328"/>
                          </a:solidFill>
                          <a:latin typeface="Aptos" pitchFamily="34" charset="0"/>
                          <a:ea typeface="Aptos" pitchFamily="34" charset="-122"/>
                          <a:cs typeface="Aptos" pitchFamily="34" charset="-120"/>
                        </a:rPr>
                        <a:t>Drift</a:t>
                      </a:r>
                      <a:endParaRPr lang="en-US" sz="87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870" dirty="0">
                          <a:solidFill>
                            <a:srgbClr val="1F2328"/>
                          </a:solidFill>
                          <a:latin typeface="Aptos" pitchFamily="34" charset="0"/>
                          <a:ea typeface="Aptos" pitchFamily="34" charset="-122"/>
                          <a:cs typeface="Aptos" pitchFamily="34" charset="-120"/>
                        </a:rPr>
                        <a:t>worse</a:t>
                      </a:r>
                      <a:endParaRPr lang="en-US" sz="87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870" dirty="0">
                          <a:solidFill>
                            <a:srgbClr val="1F2328"/>
                          </a:solidFill>
                          <a:latin typeface="Aptos" pitchFamily="34" charset="0"/>
                          <a:ea typeface="Aptos" pitchFamily="34" charset="-122"/>
                          <a:cs typeface="Aptos" pitchFamily="34" charset="-120"/>
                        </a:rPr>
                        <a:t>over-corrects an already mild error</a:t>
                      </a:r>
                      <a:endParaRPr lang="en-US" sz="87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333103">
                <a:tc>
                  <a:txBody>
                    <a:bodyPr/>
                    <a:lstStyle/>
                    <a:p>
                      <a:pPr marL="0" indent="0">
                        <a:buNone/>
                      </a:pPr>
                      <a:r>
                        <a:rPr lang="en-US" sz="870" dirty="0">
                          <a:solidFill>
                            <a:srgbClr val="1F2328"/>
                          </a:solidFill>
                          <a:latin typeface="Aptos" pitchFamily="34" charset="0"/>
                          <a:ea typeface="Aptos" pitchFamily="34" charset="-122"/>
                          <a:cs typeface="Aptos" pitchFamily="34" charset="-120"/>
                        </a:rPr>
                        <a:t>Burst</a:t>
                      </a:r>
                      <a:endParaRPr lang="en-US" sz="87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870" dirty="0">
                          <a:solidFill>
                            <a:srgbClr val="1F2328"/>
                          </a:solidFill>
                          <a:latin typeface="Aptos" pitchFamily="34" charset="0"/>
                          <a:ea typeface="Aptos" pitchFamily="34" charset="-122"/>
                          <a:cs typeface="Aptos" pitchFamily="34" charset="-120"/>
                        </a:rPr>
                        <a:t>worse</a:t>
                      </a:r>
                      <a:endParaRPr lang="en-US" sz="87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870" dirty="0">
                          <a:solidFill>
                            <a:srgbClr val="1F2328"/>
                          </a:solidFill>
                          <a:latin typeface="Aptos" pitchFamily="34" charset="0"/>
                          <a:ea typeface="Aptos" pitchFamily="34" charset="-122"/>
                          <a:cs typeface="Aptos" pitchFamily="34" charset="-120"/>
                        </a:rPr>
                        <a:t>local high-noise frames ≠ uniform gaussian residual</a:t>
                      </a:r>
                      <a:endParaRPr lang="en-US" sz="87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333103">
                <a:tc>
                  <a:txBody>
                    <a:bodyPr/>
                    <a:lstStyle/>
                    <a:p>
                      <a:pPr marL="0" indent="0">
                        <a:buNone/>
                      </a:pPr>
                      <a:r>
                        <a:rPr lang="en-US" sz="870" dirty="0">
                          <a:solidFill>
                            <a:srgbClr val="1F2328"/>
                          </a:solidFill>
                          <a:latin typeface="Aptos" pitchFamily="34" charset="0"/>
                          <a:ea typeface="Aptos" pitchFamily="34" charset="-122"/>
                          <a:cs typeface="Aptos" pitchFamily="34" charset="-120"/>
                        </a:rPr>
                        <a:t>Bias</a:t>
                      </a:r>
                      <a:endParaRPr lang="en-US" sz="87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870" dirty="0">
                          <a:solidFill>
                            <a:srgbClr val="1F2328"/>
                          </a:solidFill>
                          <a:latin typeface="Aptos" pitchFamily="34" charset="0"/>
                          <a:ea typeface="Aptos" pitchFamily="34" charset="-122"/>
                          <a:cs typeface="Aptos" pitchFamily="34" charset="-120"/>
                        </a:rPr>
                        <a:t>near unchanged</a:t>
                      </a:r>
                      <a:endParaRPr lang="en-US" sz="87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870" dirty="0">
                          <a:solidFill>
                            <a:srgbClr val="1F2328"/>
                          </a:solidFill>
                          <a:latin typeface="Aptos" pitchFamily="34" charset="0"/>
                          <a:ea typeface="Aptos" pitchFamily="34" charset="-122"/>
                          <a:cs typeface="Aptos" pitchFamily="34" charset="-120"/>
                        </a:rPr>
                        <a:t>constant offset cancels in relative displacement</a:t>
                      </a:r>
                      <a:endParaRPr lang="en-US" sz="87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333103">
                <a:tc>
                  <a:txBody>
                    <a:bodyPr/>
                    <a:lstStyle/>
                    <a:p>
                      <a:pPr marL="0" indent="0">
                        <a:buNone/>
                      </a:pPr>
                      <a:r>
                        <a:rPr lang="en-US" sz="870" dirty="0">
                          <a:solidFill>
                            <a:srgbClr val="1F2328"/>
                          </a:solidFill>
                          <a:latin typeface="Aptos" pitchFamily="34" charset="0"/>
                          <a:ea typeface="Aptos" pitchFamily="34" charset="-122"/>
                          <a:cs typeface="Aptos" pitchFamily="34" charset="-120"/>
                        </a:rPr>
                        <a:t>Combined</a:t>
                      </a:r>
                      <a:endParaRPr lang="en-US" sz="87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870" dirty="0">
                          <a:solidFill>
                            <a:srgbClr val="1F2328"/>
                          </a:solidFill>
                          <a:latin typeface="Aptos" pitchFamily="34" charset="0"/>
                          <a:ea typeface="Aptos" pitchFamily="34" charset="-122"/>
                          <a:cs typeface="Aptos" pitchFamily="34" charset="-120"/>
                        </a:rPr>
                        <a:t>weak</a:t>
                      </a:r>
                      <a:endParaRPr lang="en-US" sz="87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870" dirty="0">
                          <a:solidFill>
                            <a:srgbClr val="1F2328"/>
                          </a:solidFill>
                          <a:latin typeface="Aptos" pitchFamily="34" charset="0"/>
                          <a:ea typeface="Aptos" pitchFamily="34" charset="-122"/>
                          <a:cs typeface="Aptos" pitchFamily="34" charset="-120"/>
                        </a:rPr>
                        <a:t>mixed error exceeds current interface</a:t>
                      </a:r>
                      <a:endParaRPr lang="en-US" sz="87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bl>
          </a:graphicData>
        </a:graphic>
      </p:graphicFrame>
      <p:sp>
        <p:nvSpPr>
          <p:cNvPr id="10" name="Shape 6"/>
          <p:cNvSpPr/>
          <p:nvPr/>
        </p:nvSpPr>
        <p:spPr>
          <a:xfrm>
            <a:off x="6172200" y="4023360"/>
            <a:ext cx="5138928" cy="822960"/>
          </a:xfrm>
          <a:prstGeom prst="roundRect">
            <a:avLst>
              <a:gd name="adj" fmla="val 8889"/>
            </a:avLst>
          </a:prstGeom>
          <a:solidFill>
            <a:srgbClr val="FFF9EB"/>
          </a:solidFill>
          <a:ln w="13970">
            <a:solidFill>
              <a:srgbClr val="F2B84B"/>
            </a:solidFill>
            <a:prstDash val="solid"/>
          </a:ln>
        </p:spPr>
      </p:sp>
      <p:sp>
        <p:nvSpPr>
          <p:cNvPr id="11" name="Text 7"/>
          <p:cNvSpPr/>
          <p:nvPr/>
        </p:nvSpPr>
        <p:spPr>
          <a:xfrm>
            <a:off x="6400800" y="4187952"/>
            <a:ext cx="1234440" cy="164592"/>
          </a:xfrm>
          <a:prstGeom prst="rect">
            <a:avLst/>
          </a:prstGeom>
          <a:noFill/>
        </p:spPr>
        <p:txBody>
          <a:bodyPr wrap="square" lIns="635" tIns="635" rIns="635" bIns="635" rtlCol="0" anchor="t">
            <a:normAutofit/>
          </a:bodyPr>
          <a:lstStyle/>
          <a:p>
            <a:pPr marL="0" indent="0" algn="l">
              <a:buNone/>
            </a:pPr>
            <a:r>
              <a:rPr lang="en-US" sz="1020" b="1" dirty="0">
                <a:solidFill>
                  <a:srgbClr val="0B2341"/>
                </a:solidFill>
                <a:latin typeface="Aptos" pitchFamily="34" charset="0"/>
                <a:ea typeface="Aptos" pitchFamily="34" charset="-122"/>
                <a:cs typeface="Aptos" pitchFamily="34" charset="-120"/>
              </a:rPr>
              <a:t>Interpretation</a:t>
            </a:r>
            <a:endParaRPr lang="en-US" sz="1020" dirty="0"/>
          </a:p>
        </p:txBody>
      </p:sp>
      <p:sp>
        <p:nvSpPr>
          <p:cNvPr id="9" name="Text 8"/>
          <p:cNvSpPr/>
          <p:nvPr/>
        </p:nvSpPr>
        <p:spPr>
          <a:xfrm>
            <a:off x="7772400" y="4114800"/>
            <a:ext cx="3090672" cy="384048"/>
          </a:xfrm>
          <a:prstGeom prst="rect">
            <a:avLst/>
          </a:prstGeom>
          <a:noFill/>
        </p:spPr>
        <p:txBody>
          <a:bodyPr wrap="square" lIns="635" tIns="635" rIns="635" bIns="635" rtlCol="0" anchor="t">
            <a:normAutofit/>
          </a:bodyPr>
          <a:lstStyle/>
          <a:p>
            <a:pPr marL="0" indent="0" algn="l">
              <a:buNone/>
            </a:pPr>
            <a:r>
              <a:rPr lang="en-US" sz="1120" b="1" dirty="0">
                <a:solidFill>
                  <a:srgbClr val="1F2328"/>
                </a:solidFill>
                <a:latin typeface="Aptos" pitchFamily="34" charset="0"/>
                <a:ea typeface="Aptos" pitchFamily="34" charset="-122"/>
                <a:cs typeface="Aptos" pitchFamily="34" charset="-120"/>
              </a:rPr>
              <a:t>Conditioning helps only when the corruption model, representation, and test error structure are aligned.</a:t>
            </a:r>
            <a:endParaRPr lang="en-US" sz="1120" dirty="0"/>
          </a:p>
        </p:txBody>
      </p:sp>
      <p:sp>
        <p:nvSpPr>
          <p:cNvPr id="13" name="Text 9"/>
          <p:cNvSpPr/>
          <p:nvPr/>
        </p:nvSpPr>
        <p:spPr>
          <a:xfrm>
            <a:off x="502920" y="6336792"/>
            <a:ext cx="11155680" cy="146304"/>
          </a:xfrm>
          <a:prstGeom prst="rect">
            <a:avLst/>
          </a:prstGeom>
          <a:noFill/>
        </p:spPr>
        <p:txBody>
          <a:bodyPr wrap="square" lIns="0" tIns="0" rIns="0" bIns="0" rtlCol="0" anchor="ctr"/>
          <a:lstStyle/>
          <a:p>
            <a:pPr marL="0" indent="0">
              <a:buNone/>
            </a:pPr>
            <a:r>
              <a:rPr lang="en-US" sz="750" i="1" dirty="0">
                <a:solidFill>
                  <a:srgbClr val="748094"/>
                </a:solidFill>
                <a:latin typeface="Aptos" pitchFamily="34" charset="0"/>
                <a:ea typeface="Aptos" pitchFamily="34" charset="-122"/>
                <a:cs typeface="Aptos" pitchFamily="34" charset="-120"/>
              </a:rPr>
              <a:t>Report Table 7 and Fig. 8; non-gaussian rows are diagnostic generalization tests, not matched-training results.</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8046720" cy="347472"/>
          </a:xfrm>
          <a:prstGeom prst="rect">
            <a:avLst/>
          </a:prstGeom>
          <a:noFill/>
        </p:spPr>
        <p:txBody>
          <a:bodyPr wrap="square" lIns="0" tIns="0" rIns="0" bIns="0" rtlCol="0" anchor="ctr"/>
          <a:lstStyle/>
          <a:p>
            <a:pPr marL="0" indent="0">
              <a:buNone/>
            </a:pPr>
            <a:r>
              <a:rPr lang="en-US" sz="2200" b="1" dirty="0">
                <a:solidFill>
                  <a:srgbClr val="0B2341"/>
                </a:solidFill>
                <a:latin typeface="Aptos" pitchFamily="34" charset="0"/>
                <a:ea typeface="Aptos" pitchFamily="34" charset="-122"/>
                <a:cs typeface="Aptos" pitchFamily="34" charset="-120"/>
              </a:rPr>
              <a:t>Backbone ablation: capacity is not the main bottleneck</a:t>
            </a:r>
            <a:endParaRPr lang="en-US" sz="2200" dirty="0"/>
          </a:p>
        </p:txBody>
      </p:sp>
      <p:sp>
        <p:nvSpPr>
          <p:cNvPr id="4" name="Text 2"/>
          <p:cNvSpPr/>
          <p:nvPr/>
        </p:nvSpPr>
        <p:spPr>
          <a:xfrm>
            <a:off x="10287000" y="347472"/>
            <a:ext cx="1371600" cy="237744"/>
          </a:xfrm>
          <a:prstGeom prst="rect">
            <a:avLst/>
          </a:prstGeom>
          <a:noFill/>
        </p:spPr>
        <p:txBody>
          <a:bodyPr wrap="square" lIns="0" tIns="0" rIns="0" bIns="0" rtlCol="0" anchor="ctr"/>
          <a:lstStyle/>
          <a:p>
            <a:pPr marL="0" indent="0" algn="r">
              <a:buNone/>
            </a:pPr>
            <a:r>
              <a:rPr lang="en-US" sz="900" dirty="0">
                <a:solidFill>
                  <a:srgbClr val="526171"/>
                </a:solidFill>
                <a:latin typeface="Aptos" pitchFamily="34" charset="0"/>
                <a:ea typeface="Aptos" pitchFamily="34" charset="-122"/>
                <a:cs typeface="Aptos" pitchFamily="34" charset="-120"/>
              </a:rPr>
              <a:t>12 / 13</a:t>
            </a:r>
            <a:endParaRPr lang="en-US" sz="900" dirty="0"/>
          </a:p>
        </p:txBody>
      </p:sp>
      <p:sp>
        <p:nvSpPr>
          <p:cNvPr id="5" name="Shape 3"/>
          <p:cNvSpPr/>
          <p:nvPr/>
        </p:nvSpPr>
        <p:spPr>
          <a:xfrm>
            <a:off x="502920" y="768096"/>
            <a:ext cx="11173968" cy="0"/>
          </a:xfrm>
          <a:prstGeom prst="line">
            <a:avLst/>
          </a:prstGeom>
          <a:noFill/>
          <a:ln w="8890">
            <a:solidFill>
              <a:srgbClr val="D7DDE5"/>
            </a:solidFill>
            <a:prstDash val="solid"/>
          </a:ln>
        </p:spPr>
      </p:sp>
      <p:sp>
        <p:nvSpPr>
          <p:cNvPr id="6" name="Text 4"/>
          <p:cNvSpPr/>
          <p:nvPr/>
        </p:nvSpPr>
        <p:spPr>
          <a:xfrm>
            <a:off x="502920" y="6519672"/>
            <a:ext cx="6858000" cy="164592"/>
          </a:xfrm>
          <a:prstGeom prst="rect">
            <a:avLst/>
          </a:prstGeom>
          <a:noFill/>
        </p:spPr>
        <p:txBody>
          <a:bodyPr wrap="square" lIns="0" tIns="0" rIns="0" bIns="0" rtlCol="0" anchor="ctr"/>
          <a:lstStyle/>
          <a:p>
            <a:pPr marL="0" indent="0">
              <a:buNone/>
            </a:pPr>
            <a:r>
              <a:rPr lang="en-US" sz="850" dirty="0">
                <a:solidFill>
                  <a:srgbClr val="7B8794"/>
                </a:solidFill>
                <a:latin typeface="Aptos" pitchFamily="34" charset="0"/>
                <a:ea typeface="Aptos" pitchFamily="34" charset="-122"/>
                <a:cs typeface="Aptos" pitchFamily="34" charset="-120"/>
              </a:rPr>
              <a:t>Stage 3 — DDPM-based Indoor Trajectory Refinement</a:t>
            </a:r>
            <a:endParaRPr lang="en-US" sz="850" dirty="0"/>
          </a:p>
        </p:txBody>
      </p:sp>
      <p:sp>
        <p:nvSpPr>
          <p:cNvPr id="7" name="Text 5"/>
          <p:cNvSpPr/>
          <p:nvPr/>
        </p:nvSpPr>
        <p:spPr>
          <a:xfrm>
            <a:off x="713232" y="987552"/>
            <a:ext cx="2468880" cy="201168"/>
          </a:xfrm>
          <a:prstGeom prst="rect">
            <a:avLst/>
          </a:prstGeom>
          <a:noFill/>
        </p:spPr>
        <p:txBody>
          <a:bodyPr wrap="square" lIns="635" tIns="635" rIns="635" bIns="635" rtlCol="0" anchor="t">
            <a:normAutofit/>
          </a:bodyPr>
          <a:lstStyle/>
          <a:p>
            <a:pPr marL="0" indent="0" algn="l">
              <a:buNone/>
            </a:pPr>
            <a:r>
              <a:rPr lang="en-US" sz="1300" b="1" dirty="0">
                <a:solidFill>
                  <a:srgbClr val="0B2341"/>
                </a:solidFill>
                <a:latin typeface="Aptos" pitchFamily="34" charset="0"/>
                <a:ea typeface="Aptos" pitchFamily="34" charset="-122"/>
                <a:cs typeface="Aptos" pitchFamily="34" charset="-120"/>
              </a:rPr>
              <a:t>Why test the backbone?</a:t>
            </a:r>
            <a:endParaRPr lang="en-US" sz="1300" dirty="0"/>
          </a:p>
        </p:txBody>
      </p:sp>
      <p:sp>
        <p:nvSpPr>
          <p:cNvPr id="8" name="Text 6"/>
          <p:cNvSpPr/>
          <p:nvPr/>
        </p:nvSpPr>
        <p:spPr>
          <a:xfrm>
            <a:off x="713232" y="1316736"/>
            <a:ext cx="10287000" cy="438912"/>
          </a:xfrm>
          <a:prstGeom prst="rect">
            <a:avLst/>
          </a:prstGeom>
          <a:noFill/>
        </p:spPr>
        <p:txBody>
          <a:bodyPr wrap="square" lIns="635" tIns="635" rIns="635" bIns="635" rtlCol="0" anchor="t">
            <a:normAutofit/>
          </a:bodyPr>
          <a:lstStyle/>
          <a:p>
            <a:pPr marL="0" indent="0" algn="l">
              <a:buNone/>
            </a:pPr>
            <a:r>
              <a:rPr lang="en-US" sz="1140" dirty="0">
                <a:solidFill>
                  <a:srgbClr val="1F2328"/>
                </a:solidFill>
                <a:latin typeface="Aptos" pitchFamily="34" charset="0"/>
                <a:ea typeface="Aptos" pitchFamily="34" charset="-122"/>
                <a:cs typeface="Aptos" pitchFamily="34" charset="-120"/>
              </a:rPr>
              <a:t>The model-family concern is valid: SSSD-S4 and Diffusion-TS are relevant time-series diffusion families. For T = 20, I test the most immediate capacity question first: temporal receptive-field coverage.</a:t>
            </a:r>
            <a:endParaRPr lang="en-US" sz="1140" dirty="0"/>
          </a:p>
        </p:txBody>
      </p:sp>
      <p:graphicFrame>
        <p:nvGraphicFramePr>
          <p:cNvPr id="13" name="Table 0"/>
          <p:cNvGraphicFramePr>
            <a:graphicFrameLocks noGrp="1"/>
          </p:cNvGraphicFramePr>
          <p:nvPr/>
        </p:nvGraphicFramePr>
        <p:xfrm>
          <a:off x="713232" y="2057400"/>
          <a:ext cx="5577840" cy="987552"/>
        </p:xfrm>
        <a:graphic>
          <a:graphicData uri="http://schemas.openxmlformats.org/drawingml/2006/table">
            <a:tbl>
              <a:tblPr/>
              <a:tblGrid>
                <a:gridCol w="1645920"/>
                <a:gridCol w="685800"/>
                <a:gridCol w="1234440"/>
                <a:gridCol w="1005840"/>
                <a:gridCol w="1005840"/>
              </a:tblGrid>
              <a:tr h="329184">
                <a:tc>
                  <a:txBody>
                    <a:bodyPr/>
                    <a:lstStyle/>
                    <a:p>
                      <a:pPr marL="0" indent="0">
                        <a:buNone/>
                      </a:pPr>
                      <a:r>
                        <a:rPr lang="en-US" sz="920" b="1" dirty="0">
                          <a:solidFill>
                            <a:srgbClr val="FFFFFF"/>
                          </a:solidFill>
                          <a:latin typeface="Aptos" pitchFamily="34" charset="0"/>
                          <a:ea typeface="Aptos" pitchFamily="34" charset="-122"/>
                          <a:cs typeface="Aptos" pitchFamily="34" charset="-120"/>
                        </a:rPr>
                        <a:t>Backbone</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c>
                  <a:txBody>
                    <a:bodyPr/>
                    <a:lstStyle/>
                    <a:p>
                      <a:pPr marL="0" indent="0">
                        <a:buNone/>
                      </a:pPr>
                      <a:r>
                        <a:rPr lang="en-US" sz="920" b="1" dirty="0">
                          <a:solidFill>
                            <a:srgbClr val="FFFFFF"/>
                          </a:solidFill>
                          <a:latin typeface="Aptos" pitchFamily="34" charset="0"/>
                          <a:ea typeface="Aptos" pitchFamily="34" charset="-122"/>
                          <a:cs typeface="Aptos" pitchFamily="34" charset="-120"/>
                        </a:rPr>
                        <a:t>Blocks</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c>
                  <a:txBody>
                    <a:bodyPr/>
                    <a:lstStyle/>
                    <a:p>
                      <a:pPr marL="0" indent="0">
                        <a:buNone/>
                      </a:pPr>
                      <a:r>
                        <a:rPr lang="en-US" sz="920" b="1" dirty="0">
                          <a:solidFill>
                            <a:srgbClr val="FFFFFF"/>
                          </a:solidFill>
                          <a:latin typeface="Aptos" pitchFamily="34" charset="0"/>
                          <a:ea typeface="Aptos" pitchFamily="34" charset="-122"/>
                          <a:cs typeface="Aptos" pitchFamily="34" charset="-120"/>
                        </a:rPr>
                        <a:t>Effective RF</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c>
                  <a:txBody>
                    <a:bodyPr/>
                    <a:lstStyle/>
                    <a:p>
                      <a:pPr marL="0" indent="0">
                        <a:buNone/>
                      </a:pPr>
                      <a:r>
                        <a:rPr lang="en-US" sz="920" b="1" dirty="0">
                          <a:solidFill>
                            <a:srgbClr val="FFFFFF"/>
                          </a:solidFill>
                          <a:latin typeface="Aptos" pitchFamily="34" charset="0"/>
                          <a:ea typeface="Aptos" pitchFamily="34" charset="-122"/>
                          <a:cs typeface="Aptos" pitchFamily="34" charset="-120"/>
                        </a:rPr>
                        <a:t>Coverage</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c>
                  <a:txBody>
                    <a:bodyPr/>
                    <a:lstStyle/>
                    <a:p>
                      <a:pPr marL="0" indent="0">
                        <a:buNone/>
                      </a:pPr>
                      <a:r>
                        <a:rPr lang="en-US" sz="920" b="1" dirty="0">
                          <a:solidFill>
                            <a:srgbClr val="FFFFFF"/>
                          </a:solidFill>
                          <a:latin typeface="Aptos" pitchFamily="34" charset="0"/>
                          <a:ea typeface="Aptos" pitchFamily="34" charset="-122"/>
                          <a:cs typeface="Aptos" pitchFamily="34" charset="-120"/>
                        </a:rPr>
                        <a:t>Params</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r>
              <a:tr h="329184">
                <a:tc>
                  <a:txBody>
                    <a:bodyPr/>
                    <a:lstStyle/>
                    <a:p>
                      <a:pPr marL="0" indent="0">
                        <a:buNone/>
                      </a:pPr>
                      <a:r>
                        <a:rPr lang="en-US" sz="920" dirty="0">
                          <a:solidFill>
                            <a:srgbClr val="1F2328"/>
                          </a:solidFill>
                          <a:latin typeface="Aptos" pitchFamily="34" charset="0"/>
                          <a:ea typeface="Aptos" pitchFamily="34" charset="-122"/>
                          <a:cs typeface="Aptos" pitchFamily="34" charset="-120"/>
                        </a:rPr>
                        <a:t>Current Conv1D</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920" dirty="0">
                          <a:solidFill>
                            <a:srgbClr val="1F2328"/>
                          </a:solidFill>
                          <a:latin typeface="Aptos" pitchFamily="34" charset="0"/>
                          <a:ea typeface="Aptos" pitchFamily="34" charset="-122"/>
                          <a:cs typeface="Aptos" pitchFamily="34" charset="-120"/>
                        </a:rPr>
                        <a:t>2</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920" dirty="0">
                          <a:solidFill>
                            <a:srgbClr val="1F2328"/>
                          </a:solidFill>
                          <a:latin typeface="Aptos" pitchFamily="34" charset="0"/>
                          <a:ea typeface="Aptos" pitchFamily="34" charset="-122"/>
                          <a:cs typeface="Aptos" pitchFamily="34" charset="-120"/>
                        </a:rPr>
                        <a:t>13 frames</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920" dirty="0">
                          <a:solidFill>
                            <a:srgbClr val="1F2328"/>
                          </a:solidFill>
                          <a:latin typeface="Aptos" pitchFamily="34" charset="0"/>
                          <a:ea typeface="Aptos" pitchFamily="34" charset="-122"/>
                          <a:cs typeface="Aptos" pitchFamily="34" charset="-120"/>
                        </a:rPr>
                        <a:t>65.0%</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920" dirty="0">
                          <a:solidFill>
                            <a:srgbClr val="1F2328"/>
                          </a:solidFill>
                          <a:latin typeface="Aptos" pitchFamily="34" charset="0"/>
                          <a:ea typeface="Aptos" pitchFamily="34" charset="-122"/>
                          <a:cs typeface="Aptos" pitchFamily="34" charset="-120"/>
                        </a:rPr>
                        <a:t>212,354</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329184">
                <a:tc>
                  <a:txBody>
                    <a:bodyPr/>
                    <a:lstStyle/>
                    <a:p>
                      <a:pPr marL="0" indent="0">
                        <a:buNone/>
                      </a:pPr>
                      <a:r>
                        <a:rPr lang="en-US" sz="920" dirty="0">
                          <a:solidFill>
                            <a:srgbClr val="1F2328"/>
                          </a:solidFill>
                          <a:latin typeface="Aptos" pitchFamily="34" charset="0"/>
                          <a:ea typeface="Aptos" pitchFamily="34" charset="-122"/>
                          <a:cs typeface="Aptos" pitchFamily="34" charset="-120"/>
                        </a:rPr>
                        <a:t>Expanded Conv1D</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920" dirty="0">
                          <a:solidFill>
                            <a:srgbClr val="1F2328"/>
                          </a:solidFill>
                          <a:latin typeface="Aptos" pitchFamily="34" charset="0"/>
                          <a:ea typeface="Aptos" pitchFamily="34" charset="-122"/>
                          <a:cs typeface="Aptos" pitchFamily="34" charset="-120"/>
                        </a:rPr>
                        <a:t>4</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920" dirty="0">
                          <a:solidFill>
                            <a:srgbClr val="1F2328"/>
                          </a:solidFill>
                          <a:latin typeface="Aptos" pitchFamily="34" charset="0"/>
                          <a:ea typeface="Aptos" pitchFamily="34" charset="-122"/>
                          <a:cs typeface="Aptos" pitchFamily="34" charset="-120"/>
                        </a:rPr>
                        <a:t>21 frames</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920" dirty="0">
                          <a:solidFill>
                            <a:srgbClr val="1F2328"/>
                          </a:solidFill>
                          <a:latin typeface="Aptos" pitchFamily="34" charset="0"/>
                          <a:ea typeface="Aptos" pitchFamily="34" charset="-122"/>
                          <a:cs typeface="Aptos" pitchFamily="34" charset="-120"/>
                        </a:rPr>
                        <a:t>full-window</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920" dirty="0">
                          <a:solidFill>
                            <a:srgbClr val="1F2328"/>
                          </a:solidFill>
                          <a:latin typeface="Aptos" pitchFamily="34" charset="0"/>
                          <a:ea typeface="Aptos" pitchFamily="34" charset="-122"/>
                          <a:cs typeface="Aptos" pitchFamily="34" charset="-120"/>
                        </a:rPr>
                        <a:t>409,474</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bl>
          </a:graphicData>
        </a:graphic>
      </p:graphicFrame>
      <p:graphicFrame>
        <p:nvGraphicFramePr>
          <p:cNvPr id="25" name="Table 1"/>
          <p:cNvGraphicFramePr>
            <a:graphicFrameLocks noGrp="1"/>
          </p:cNvGraphicFramePr>
          <p:nvPr/>
        </p:nvGraphicFramePr>
        <p:xfrm>
          <a:off x="6583680" y="2057400"/>
          <a:ext cx="4206240" cy="1426465"/>
        </p:xfrm>
        <a:graphic>
          <a:graphicData uri="http://schemas.openxmlformats.org/drawingml/2006/table">
            <a:tbl>
              <a:tblPr/>
              <a:tblGrid>
                <a:gridCol w="2423160"/>
                <a:gridCol w="1783080"/>
              </a:tblGrid>
              <a:tr h="285293">
                <a:tc>
                  <a:txBody>
                    <a:bodyPr/>
                    <a:lstStyle/>
                    <a:p>
                      <a:pPr marL="0" indent="0">
                        <a:buNone/>
                      </a:pPr>
                      <a:r>
                        <a:rPr lang="en-US" sz="920" b="1" dirty="0">
                          <a:solidFill>
                            <a:srgbClr val="FFFFFF"/>
                          </a:solidFill>
                          <a:latin typeface="Aptos" pitchFamily="34" charset="0"/>
                          <a:ea typeface="Aptos" pitchFamily="34" charset="-122"/>
                          <a:cs typeface="Aptos" pitchFamily="34" charset="-120"/>
                        </a:rPr>
                        <a:t>Result summary</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c>
                  <a:txBody>
                    <a:bodyPr/>
                    <a:lstStyle/>
                    <a:p>
                      <a:pPr marL="0" indent="0">
                        <a:buNone/>
                      </a:pPr>
                      <a:r>
                        <a:rPr lang="en-US" sz="920" b="1" dirty="0">
                          <a:solidFill>
                            <a:srgbClr val="FFFFFF"/>
                          </a:solidFill>
                          <a:latin typeface="Aptos" pitchFamily="34" charset="0"/>
                          <a:ea typeface="Aptos" pitchFamily="34" charset="-122"/>
                          <a:cs typeface="Aptos" pitchFamily="34" charset="-120"/>
                        </a:rPr>
                        <a:t>Value</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r>
              <a:tr h="285293">
                <a:tc>
                  <a:txBody>
                    <a:bodyPr/>
                    <a:lstStyle/>
                    <a:p>
                      <a:pPr marL="0" indent="0">
                        <a:buNone/>
                      </a:pPr>
                      <a:r>
                        <a:rPr lang="en-US" sz="920" dirty="0">
                          <a:solidFill>
                            <a:srgbClr val="1F2328"/>
                          </a:solidFill>
                          <a:latin typeface="Aptos" pitchFamily="34" charset="0"/>
                          <a:ea typeface="Aptos" pitchFamily="34" charset="-122"/>
                          <a:cs typeface="Aptos" pitchFamily="34" charset="-120"/>
                        </a:rPr>
                        <a:t>Median relative ADE gain</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920" dirty="0">
                          <a:solidFill>
                            <a:srgbClr val="1F2328"/>
                          </a:solidFill>
                          <a:latin typeface="Aptos" pitchFamily="34" charset="0"/>
                          <a:ea typeface="Aptos" pitchFamily="34" charset="-122"/>
                          <a:cs typeface="Aptos" pitchFamily="34" charset="-120"/>
                        </a:rPr>
                        <a:t>0.73%</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285293">
                <a:tc>
                  <a:txBody>
                    <a:bodyPr/>
                    <a:lstStyle/>
                    <a:p>
                      <a:pPr marL="0" indent="0">
                        <a:buNone/>
                      </a:pPr>
                      <a:r>
                        <a:rPr lang="en-US" sz="920" dirty="0">
                          <a:solidFill>
                            <a:srgbClr val="1F2328"/>
                          </a:solidFill>
                          <a:latin typeface="Aptos" pitchFamily="34" charset="0"/>
                          <a:ea typeface="Aptos" pitchFamily="34" charset="-122"/>
                          <a:cs typeface="Aptos" pitchFamily="34" charset="-120"/>
                        </a:rPr>
                        <a:t>Improved over 2-block</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920" dirty="0">
                          <a:solidFill>
                            <a:srgbClr val="1F2328"/>
                          </a:solidFill>
                          <a:latin typeface="Aptos" pitchFamily="34" charset="0"/>
                          <a:ea typeface="Aptos" pitchFamily="34" charset="-122"/>
                          <a:cs typeface="Aptos" pitchFamily="34" charset="-120"/>
                        </a:rPr>
                        <a:t>4 / 6 degradations</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285293">
                <a:tc>
                  <a:txBody>
                    <a:bodyPr/>
                    <a:lstStyle/>
                    <a:p>
                      <a:pPr marL="0" indent="0">
                        <a:buNone/>
                      </a:pPr>
                      <a:r>
                        <a:rPr lang="en-US" sz="920" dirty="0">
                          <a:solidFill>
                            <a:srgbClr val="1F2328"/>
                          </a:solidFill>
                          <a:latin typeface="Aptos" pitchFamily="34" charset="0"/>
                          <a:ea typeface="Aptos" pitchFamily="34" charset="-122"/>
                          <a:cs typeface="Aptos" pitchFamily="34" charset="-120"/>
                        </a:rPr>
                        <a:t>Still beats noisy_input</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920" dirty="0">
                          <a:solidFill>
                            <a:srgbClr val="1F2328"/>
                          </a:solidFill>
                          <a:latin typeface="Aptos" pitchFamily="34" charset="0"/>
                          <a:ea typeface="Aptos" pitchFamily="34" charset="-122"/>
                          <a:cs typeface="Aptos" pitchFamily="34" charset="-120"/>
                        </a:rPr>
                        <a:t>1 / 6 degradations</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285293">
                <a:tc>
                  <a:txBody>
                    <a:bodyPr/>
                    <a:lstStyle/>
                    <a:p>
                      <a:pPr marL="0" indent="0">
                        <a:buNone/>
                      </a:pPr>
                      <a:r>
                        <a:rPr lang="en-US" sz="920" dirty="0">
                          <a:solidFill>
                            <a:srgbClr val="1F2328"/>
                          </a:solidFill>
                          <a:latin typeface="Aptos" pitchFamily="34" charset="0"/>
                          <a:ea typeface="Aptos" pitchFamily="34" charset="-122"/>
                          <a:cs typeface="Aptos" pitchFamily="34" charset="-120"/>
                        </a:rPr>
                        <a:t>Parameter increase</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920" dirty="0">
                          <a:solidFill>
                            <a:srgbClr val="1F2328"/>
                          </a:solidFill>
                          <a:latin typeface="Aptos" pitchFamily="34" charset="0"/>
                          <a:ea typeface="Aptos" pitchFamily="34" charset="-122"/>
                          <a:cs typeface="Aptos" pitchFamily="34" charset="-120"/>
                        </a:rPr>
                        <a:t>≈ 1.93×</a:t>
                      </a:r>
                      <a:endParaRPr lang="en-US" sz="92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bl>
          </a:graphicData>
        </a:graphic>
      </p:graphicFrame>
      <p:sp>
        <p:nvSpPr>
          <p:cNvPr id="11" name="Shape 7"/>
          <p:cNvSpPr/>
          <p:nvPr/>
        </p:nvSpPr>
        <p:spPr>
          <a:xfrm>
            <a:off x="713232" y="3657600"/>
            <a:ext cx="4937760" cy="896112"/>
          </a:xfrm>
          <a:prstGeom prst="roundRect">
            <a:avLst>
              <a:gd name="adj" fmla="val 8163"/>
            </a:avLst>
          </a:prstGeom>
          <a:solidFill>
            <a:srgbClr val="FFF9EB"/>
          </a:solidFill>
          <a:ln w="13970">
            <a:solidFill>
              <a:srgbClr val="F2B84B"/>
            </a:solidFill>
            <a:prstDash val="solid"/>
          </a:ln>
        </p:spPr>
      </p:sp>
      <p:sp>
        <p:nvSpPr>
          <p:cNvPr id="12" name="Text 8"/>
          <p:cNvSpPr/>
          <p:nvPr/>
        </p:nvSpPr>
        <p:spPr>
          <a:xfrm>
            <a:off x="932688" y="3822192"/>
            <a:ext cx="1097280" cy="164592"/>
          </a:xfrm>
          <a:prstGeom prst="rect">
            <a:avLst/>
          </a:prstGeom>
          <a:noFill/>
        </p:spPr>
        <p:txBody>
          <a:bodyPr wrap="square" lIns="635" tIns="635" rIns="635" bIns="635" rtlCol="0" anchor="t">
            <a:normAutofit/>
          </a:bodyPr>
          <a:lstStyle/>
          <a:p>
            <a:pPr marL="0" indent="0" algn="l">
              <a:buNone/>
            </a:pPr>
            <a:r>
              <a:rPr lang="en-US" sz="1020" b="1" dirty="0">
                <a:solidFill>
                  <a:srgbClr val="0B2341"/>
                </a:solidFill>
                <a:latin typeface="Aptos" pitchFamily="34" charset="0"/>
                <a:ea typeface="Aptos" pitchFamily="34" charset="-122"/>
                <a:cs typeface="Aptos" pitchFamily="34" charset="-120"/>
              </a:rPr>
              <a:t>Conclusion</a:t>
            </a:r>
            <a:endParaRPr lang="en-US" sz="1020" dirty="0"/>
          </a:p>
        </p:txBody>
      </p:sp>
      <p:sp>
        <p:nvSpPr>
          <p:cNvPr id="9" name="Text 9"/>
          <p:cNvSpPr/>
          <p:nvPr/>
        </p:nvSpPr>
        <p:spPr>
          <a:xfrm>
            <a:off x="2139696" y="3749040"/>
            <a:ext cx="3063240" cy="384048"/>
          </a:xfrm>
          <a:prstGeom prst="rect">
            <a:avLst/>
          </a:prstGeom>
          <a:noFill/>
        </p:spPr>
        <p:txBody>
          <a:bodyPr wrap="square" lIns="635" tIns="635" rIns="635" bIns="635" rtlCol="0" anchor="t">
            <a:normAutofit/>
          </a:bodyPr>
          <a:lstStyle/>
          <a:p>
            <a:pPr marL="0" indent="0" algn="l">
              <a:buNone/>
            </a:pPr>
            <a:r>
              <a:rPr lang="en-US" sz="1120" b="1" dirty="0">
                <a:solidFill>
                  <a:srgbClr val="1F2328"/>
                </a:solidFill>
                <a:latin typeface="Aptos" pitchFamily="34" charset="0"/>
                <a:ea typeface="Aptos" pitchFamily="34" charset="-122"/>
                <a:cs typeface="Aptos" pitchFamily="34" charset="-120"/>
              </a:rPr>
              <a:t>The expanded model shifts ADE slightly, but it does not change the failure regime.</a:t>
            </a:r>
            <a:endParaRPr lang="en-US" sz="1120" dirty="0"/>
          </a:p>
        </p:txBody>
      </p:sp>
      <p:sp>
        <p:nvSpPr>
          <p:cNvPr id="14" name="Shape 10"/>
          <p:cNvSpPr/>
          <p:nvPr/>
        </p:nvSpPr>
        <p:spPr>
          <a:xfrm>
            <a:off x="5961888" y="3657600"/>
            <a:ext cx="4846320" cy="896112"/>
          </a:xfrm>
          <a:prstGeom prst="roundRect">
            <a:avLst>
              <a:gd name="adj" fmla="val 8163"/>
            </a:avLst>
          </a:prstGeom>
          <a:solidFill>
            <a:srgbClr val="F6FAFF"/>
          </a:solidFill>
          <a:ln w="13970">
            <a:solidFill>
              <a:srgbClr val="9BBCE3"/>
            </a:solidFill>
            <a:prstDash val="solid"/>
          </a:ln>
        </p:spPr>
      </p:sp>
      <p:sp>
        <p:nvSpPr>
          <p:cNvPr id="15" name="Text 11"/>
          <p:cNvSpPr/>
          <p:nvPr/>
        </p:nvSpPr>
        <p:spPr>
          <a:xfrm>
            <a:off x="6199632" y="3822192"/>
            <a:ext cx="1600200" cy="164592"/>
          </a:xfrm>
          <a:prstGeom prst="rect">
            <a:avLst/>
          </a:prstGeom>
          <a:noFill/>
        </p:spPr>
        <p:txBody>
          <a:bodyPr wrap="square" lIns="635" tIns="635" rIns="635" bIns="635" rtlCol="0" anchor="t">
            <a:normAutofit/>
          </a:bodyPr>
          <a:lstStyle/>
          <a:p>
            <a:pPr marL="0" indent="0" algn="l">
              <a:buNone/>
            </a:pPr>
            <a:r>
              <a:rPr lang="en-US" sz="1020" b="1" dirty="0">
                <a:solidFill>
                  <a:srgbClr val="0B2341"/>
                </a:solidFill>
                <a:latin typeface="Aptos" pitchFamily="34" charset="0"/>
                <a:ea typeface="Aptos" pitchFamily="34" charset="-122"/>
                <a:cs typeface="Aptos" pitchFamily="34" charset="-120"/>
              </a:rPr>
              <a:t>Design implication</a:t>
            </a:r>
            <a:endParaRPr lang="en-US" sz="1020" dirty="0"/>
          </a:p>
        </p:txBody>
      </p:sp>
      <p:sp>
        <p:nvSpPr>
          <p:cNvPr id="16" name="Text 12"/>
          <p:cNvSpPr/>
          <p:nvPr/>
        </p:nvSpPr>
        <p:spPr>
          <a:xfrm>
            <a:off x="7909560" y="3749040"/>
            <a:ext cx="2514600" cy="384048"/>
          </a:xfrm>
          <a:prstGeom prst="rect">
            <a:avLst/>
          </a:prstGeom>
          <a:noFill/>
        </p:spPr>
        <p:txBody>
          <a:bodyPr wrap="square" lIns="635" tIns="635" rIns="635" bIns="635" rtlCol="0" anchor="t">
            <a:normAutofit/>
          </a:bodyPr>
          <a:lstStyle/>
          <a:p>
            <a:pPr marL="0" indent="0" algn="l">
              <a:buNone/>
            </a:pPr>
            <a:r>
              <a:rPr lang="en-US" sz="1090" b="1" dirty="0">
                <a:solidFill>
                  <a:srgbClr val="1F2328"/>
                </a:solidFill>
                <a:latin typeface="Aptos" pitchFamily="34" charset="0"/>
                <a:ea typeface="Aptos" pitchFamily="34" charset="-122"/>
                <a:cs typeface="Aptos" pitchFamily="34" charset="-120"/>
              </a:rPr>
              <a:t>The next bottleneck is observation anchoring and confidence control, not simply a wider temporal receptive field.</a:t>
            </a:r>
            <a:endParaRPr lang="en-US" sz="1090" dirty="0"/>
          </a:p>
        </p:txBody>
      </p:sp>
      <p:sp>
        <p:nvSpPr>
          <p:cNvPr id="17" name="Text 13"/>
          <p:cNvSpPr/>
          <p:nvPr/>
        </p:nvSpPr>
        <p:spPr>
          <a:xfrm>
            <a:off x="502920" y="6336792"/>
            <a:ext cx="11155680" cy="146304"/>
          </a:xfrm>
          <a:prstGeom prst="rect">
            <a:avLst/>
          </a:prstGeom>
          <a:noFill/>
        </p:spPr>
        <p:txBody>
          <a:bodyPr wrap="square" lIns="0" tIns="0" rIns="0" bIns="0" rtlCol="0" anchor="ctr"/>
          <a:lstStyle/>
          <a:p>
            <a:pPr marL="0" indent="0">
              <a:buNone/>
            </a:pPr>
            <a:r>
              <a:rPr lang="en-US" sz="750" i="1" dirty="0">
                <a:solidFill>
                  <a:srgbClr val="748094"/>
                </a:solidFill>
                <a:latin typeface="Aptos" pitchFamily="34" charset="0"/>
                <a:ea typeface="Aptos" pitchFamily="34" charset="-122"/>
                <a:cs typeface="Aptos" pitchFamily="34" charset="-120"/>
              </a:rPr>
              <a:t>SSSD: Alcaraz &amp; Strodthoff, TMLR 2023. Diffusion-TS: Yuan &amp; Qiao, ICLR 2024. Ablation values from report Tables 9–11.</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8046720" cy="347472"/>
          </a:xfrm>
          <a:prstGeom prst="rect">
            <a:avLst/>
          </a:prstGeom>
          <a:noFill/>
        </p:spPr>
        <p:txBody>
          <a:bodyPr wrap="square" lIns="0" tIns="0" rIns="0" bIns="0" rtlCol="0" anchor="ctr"/>
          <a:lstStyle/>
          <a:p>
            <a:pPr marL="0" indent="0">
              <a:buNone/>
            </a:pPr>
            <a:r>
              <a:rPr lang="en-US" sz="2200" b="1" dirty="0">
                <a:solidFill>
                  <a:srgbClr val="0B2341"/>
                </a:solidFill>
                <a:latin typeface="Aptos" pitchFamily="34" charset="0"/>
                <a:ea typeface="Aptos" pitchFamily="34" charset="-122"/>
                <a:cs typeface="Aptos" pitchFamily="34" charset="-120"/>
              </a:rPr>
              <a:t>Stage 3 claim boundary and next-step implication</a:t>
            </a:r>
            <a:endParaRPr lang="en-US" sz="2200" dirty="0"/>
          </a:p>
        </p:txBody>
      </p:sp>
      <p:sp>
        <p:nvSpPr>
          <p:cNvPr id="4" name="Text 2"/>
          <p:cNvSpPr/>
          <p:nvPr/>
        </p:nvSpPr>
        <p:spPr>
          <a:xfrm>
            <a:off x="10287000" y="347472"/>
            <a:ext cx="1371600" cy="237744"/>
          </a:xfrm>
          <a:prstGeom prst="rect">
            <a:avLst/>
          </a:prstGeom>
          <a:noFill/>
        </p:spPr>
        <p:txBody>
          <a:bodyPr wrap="square" lIns="0" tIns="0" rIns="0" bIns="0" rtlCol="0" anchor="ctr"/>
          <a:lstStyle/>
          <a:p>
            <a:pPr marL="0" indent="0" algn="r">
              <a:buNone/>
            </a:pPr>
            <a:r>
              <a:rPr lang="en-US" sz="900" dirty="0">
                <a:solidFill>
                  <a:srgbClr val="526171"/>
                </a:solidFill>
                <a:latin typeface="Aptos" pitchFamily="34" charset="0"/>
                <a:ea typeface="Aptos" pitchFamily="34" charset="-122"/>
                <a:cs typeface="Aptos" pitchFamily="34" charset="-120"/>
              </a:rPr>
              <a:t>13 / 13</a:t>
            </a:r>
            <a:endParaRPr lang="en-US" sz="900" dirty="0"/>
          </a:p>
        </p:txBody>
      </p:sp>
      <p:sp>
        <p:nvSpPr>
          <p:cNvPr id="5" name="Shape 3"/>
          <p:cNvSpPr/>
          <p:nvPr/>
        </p:nvSpPr>
        <p:spPr>
          <a:xfrm>
            <a:off x="502920" y="768096"/>
            <a:ext cx="11173968" cy="0"/>
          </a:xfrm>
          <a:prstGeom prst="line">
            <a:avLst/>
          </a:prstGeom>
          <a:noFill/>
          <a:ln w="8890">
            <a:solidFill>
              <a:srgbClr val="D7DDE5"/>
            </a:solidFill>
            <a:prstDash val="solid"/>
          </a:ln>
        </p:spPr>
      </p:sp>
      <p:sp>
        <p:nvSpPr>
          <p:cNvPr id="6" name="Text 4"/>
          <p:cNvSpPr/>
          <p:nvPr/>
        </p:nvSpPr>
        <p:spPr>
          <a:xfrm>
            <a:off x="502920" y="6519672"/>
            <a:ext cx="6858000" cy="164592"/>
          </a:xfrm>
          <a:prstGeom prst="rect">
            <a:avLst/>
          </a:prstGeom>
          <a:noFill/>
        </p:spPr>
        <p:txBody>
          <a:bodyPr wrap="square" lIns="0" tIns="0" rIns="0" bIns="0" rtlCol="0" anchor="ctr"/>
          <a:lstStyle/>
          <a:p>
            <a:pPr marL="0" indent="0">
              <a:buNone/>
            </a:pPr>
            <a:r>
              <a:rPr lang="en-US" sz="850" dirty="0">
                <a:solidFill>
                  <a:srgbClr val="7B8794"/>
                </a:solidFill>
                <a:latin typeface="Aptos" pitchFamily="34" charset="0"/>
                <a:ea typeface="Aptos" pitchFamily="34" charset="-122"/>
                <a:cs typeface="Aptos" pitchFamily="34" charset="-120"/>
              </a:rPr>
              <a:t>Stage 3 — DDPM-based Indoor Trajectory Refinement</a:t>
            </a:r>
            <a:endParaRPr lang="en-US" sz="850" dirty="0"/>
          </a:p>
        </p:txBody>
      </p:sp>
      <p:sp>
        <p:nvSpPr>
          <p:cNvPr id="7" name="Text 5"/>
          <p:cNvSpPr/>
          <p:nvPr/>
        </p:nvSpPr>
        <p:spPr>
          <a:xfrm>
            <a:off x="713232" y="987552"/>
            <a:ext cx="2926080" cy="228600"/>
          </a:xfrm>
          <a:prstGeom prst="rect">
            <a:avLst/>
          </a:prstGeom>
          <a:noFill/>
        </p:spPr>
        <p:txBody>
          <a:bodyPr wrap="square" lIns="635" tIns="635" rIns="635" bIns="635" rtlCol="0" anchor="t">
            <a:normAutofit/>
          </a:bodyPr>
          <a:lstStyle/>
          <a:p>
            <a:pPr marL="0" indent="0" algn="l">
              <a:buNone/>
            </a:pPr>
            <a:r>
              <a:rPr lang="en-US" sz="1400" b="1" dirty="0">
                <a:solidFill>
                  <a:srgbClr val="0B2341"/>
                </a:solidFill>
                <a:latin typeface="Aptos" pitchFamily="34" charset="0"/>
                <a:ea typeface="Aptos" pitchFamily="34" charset="-122"/>
                <a:cs typeface="Aptos" pitchFamily="34" charset="-120"/>
              </a:rPr>
              <a:t>What Stage 3 establishes</a:t>
            </a:r>
            <a:endParaRPr lang="en-US" sz="1400" dirty="0"/>
          </a:p>
        </p:txBody>
      </p:sp>
      <p:graphicFrame>
        <p:nvGraphicFramePr>
          <p:cNvPr id="14" name="Table 0"/>
          <p:cNvGraphicFramePr>
            <a:graphicFrameLocks noGrp="1"/>
          </p:cNvGraphicFramePr>
          <p:nvPr/>
        </p:nvGraphicFramePr>
        <p:xfrm>
          <a:off x="713232" y="1417320"/>
          <a:ext cx="6446520" cy="2423160"/>
        </p:xfrm>
        <a:graphic>
          <a:graphicData uri="http://schemas.openxmlformats.org/drawingml/2006/table">
            <a:tbl>
              <a:tblPr/>
              <a:tblGrid>
                <a:gridCol w="1828800"/>
                <a:gridCol w="4617720"/>
              </a:tblGrid>
              <a:tr h="403860">
                <a:tc>
                  <a:txBody>
                    <a:bodyPr/>
                    <a:lstStyle/>
                    <a:p>
                      <a:pPr marL="0" indent="0">
                        <a:buNone/>
                      </a:pPr>
                      <a:r>
                        <a:rPr lang="en-US" sz="880" b="1" dirty="0">
                          <a:solidFill>
                            <a:srgbClr val="FFFFFF"/>
                          </a:solidFill>
                          <a:latin typeface="Aptos" pitchFamily="34" charset="0"/>
                          <a:ea typeface="Aptos" pitchFamily="34" charset="-122"/>
                          <a:cs typeface="Aptos" pitchFamily="34" charset="-120"/>
                        </a:rPr>
                        <a:t>Evidence</a:t>
                      </a:r>
                      <a:endParaRPr 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c>
                  <a:txBody>
                    <a:bodyPr/>
                    <a:lstStyle/>
                    <a:p>
                      <a:pPr marL="0" indent="0">
                        <a:buNone/>
                      </a:pPr>
                      <a:r>
                        <a:rPr lang="en-US" sz="880" b="1" dirty="0">
                          <a:solidFill>
                            <a:srgbClr val="FFFFFF"/>
                          </a:solidFill>
                          <a:latin typeface="Aptos" pitchFamily="34" charset="0"/>
                          <a:ea typeface="Aptos" pitchFamily="34" charset="-122"/>
                          <a:cs typeface="Aptos" pitchFamily="34" charset="-120"/>
                        </a:rPr>
                        <a:t>Bounded claim</a:t>
                      </a:r>
                      <a:endParaRPr 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r>
              <a:tr h="403860">
                <a:tc>
                  <a:txBody>
                    <a:bodyPr/>
                    <a:lstStyle/>
                    <a:p>
                      <a:pPr marL="0" indent="0">
                        <a:buNone/>
                      </a:pPr>
                      <a:r>
                        <a:rPr lang="en-US" sz="880" dirty="0">
                          <a:solidFill>
                            <a:srgbClr val="1F2328"/>
                          </a:solidFill>
                          <a:latin typeface="Aptos" pitchFamily="34" charset="0"/>
                          <a:ea typeface="Aptos" pitchFamily="34" charset="-122"/>
                          <a:cs typeface="Aptos" pitchFamily="34" charset="-120"/>
                        </a:rPr>
                        <a:t>Task correction</a:t>
                      </a:r>
                      <a:endParaRPr 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880" dirty="0">
                          <a:solidFill>
                            <a:srgbClr val="1F2328"/>
                          </a:solidFill>
                          <a:latin typeface="Aptos" pitchFamily="34" charset="0"/>
                          <a:ea typeface="Aptos" pitchFamily="34" charset="-122"/>
                          <a:cs typeface="Aptos" pitchFamily="34" charset="-120"/>
                        </a:rPr>
                        <a:t>old local gap-filling was biased toward linear interpolation</a:t>
                      </a:r>
                      <a:endParaRPr 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403860">
                <a:tc>
                  <a:txBody>
                    <a:bodyPr/>
                    <a:lstStyle/>
                    <a:p>
                      <a:pPr marL="0" indent="0">
                        <a:buNone/>
                      </a:pPr>
                      <a:r>
                        <a:rPr lang="en-US" sz="880" dirty="0">
                          <a:solidFill>
                            <a:srgbClr val="1F2328"/>
                          </a:solidFill>
                          <a:latin typeface="Aptos" pitchFamily="34" charset="0"/>
                          <a:ea typeface="Aptos" pitchFamily="34" charset="-122"/>
                          <a:cs typeface="Aptos" pitchFamily="34" charset="-120"/>
                        </a:rPr>
                        <a:t>Uncond. SDEdit</a:t>
                      </a:r>
                      <a:endParaRPr 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880" dirty="0">
                          <a:solidFill>
                            <a:srgbClr val="1F2328"/>
                          </a:solidFill>
                          <a:latin typeface="Aptos" pitchFamily="34" charset="0"/>
                          <a:ea typeface="Aptos" pitchFamily="34" charset="-122"/>
                          <a:cs typeface="Aptos" pitchFamily="34" charset="-120"/>
                        </a:rPr>
                        <a:t>prior-only editing gives a small but systematic gaussian gain (−2.8%)</a:t>
                      </a:r>
                      <a:endParaRPr 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403860">
                <a:tc>
                  <a:txBody>
                    <a:bodyPr/>
                    <a:lstStyle/>
                    <a:p>
                      <a:pPr marL="0" indent="0">
                        <a:buNone/>
                      </a:pPr>
                      <a:r>
                        <a:rPr lang="en-US" sz="880" dirty="0">
                          <a:solidFill>
                            <a:srgbClr val="1F2328"/>
                          </a:solidFill>
                          <a:latin typeface="Aptos" pitchFamily="34" charset="0"/>
                          <a:ea typeface="Aptos" pitchFamily="34" charset="-122"/>
                          <a:cs typeface="Aptos" pitchFamily="34" charset="-120"/>
                        </a:rPr>
                        <a:t>Cond. residual DDPM</a:t>
                      </a:r>
                      <a:endParaRPr 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880" dirty="0">
                          <a:solidFill>
                            <a:srgbClr val="1F2328"/>
                          </a:solidFill>
                          <a:latin typeface="Aptos" pitchFamily="34" charset="0"/>
                          <a:ea typeface="Aptos" pitchFamily="34" charset="-122"/>
                          <a:cs typeface="Aptos" pitchFamily="34" charset="-120"/>
                        </a:rPr>
                        <a:t>observation conditioning gives the larger matched-gaussian gain (−10.98%)</a:t>
                      </a:r>
                      <a:endParaRPr 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403860">
                <a:tc>
                  <a:txBody>
                    <a:bodyPr/>
                    <a:lstStyle/>
                    <a:p>
                      <a:pPr marL="0" indent="0">
                        <a:buNone/>
                      </a:pPr>
                      <a:r>
                        <a:rPr lang="en-US" sz="880" dirty="0">
                          <a:solidFill>
                            <a:srgbClr val="1F2328"/>
                          </a:solidFill>
                          <a:latin typeface="Aptos" pitchFamily="34" charset="0"/>
                          <a:ea typeface="Aptos" pitchFamily="34" charset="-122"/>
                          <a:cs typeface="Aptos" pitchFamily="34" charset="-120"/>
                        </a:rPr>
                        <a:t>Cross-degradation</a:t>
                      </a:r>
                      <a:endParaRPr 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880" dirty="0">
                          <a:solidFill>
                            <a:srgbClr val="1F2328"/>
                          </a:solidFill>
                          <a:latin typeface="Aptos" pitchFamily="34" charset="0"/>
                          <a:ea typeface="Aptos" pitchFamily="34" charset="-122"/>
                          <a:cs typeface="Aptos" pitchFamily="34" charset="-120"/>
                        </a:rPr>
                        <a:t>failures are explainable: drift scale, burst reliability, bias representation</a:t>
                      </a:r>
                      <a:endParaRPr 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403860">
                <a:tc>
                  <a:txBody>
                    <a:bodyPr/>
                    <a:lstStyle/>
                    <a:p>
                      <a:pPr marL="0" indent="0">
                        <a:buNone/>
                      </a:pPr>
                      <a:r>
                        <a:rPr lang="en-US" sz="880" dirty="0">
                          <a:solidFill>
                            <a:srgbClr val="1F2328"/>
                          </a:solidFill>
                          <a:latin typeface="Aptos" pitchFamily="34" charset="0"/>
                          <a:ea typeface="Aptos" pitchFamily="34" charset="-122"/>
                          <a:cs typeface="Aptos" pitchFamily="34" charset="-120"/>
                        </a:rPr>
                        <a:t>Backbone ablation</a:t>
                      </a:r>
                      <a:endParaRPr 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880" dirty="0">
                          <a:solidFill>
                            <a:srgbClr val="1F2328"/>
                          </a:solidFill>
                          <a:latin typeface="Aptos" pitchFamily="34" charset="0"/>
                          <a:ea typeface="Aptos" pitchFamily="34" charset="-122"/>
                          <a:cs typeface="Aptos" pitchFamily="34" charset="-120"/>
                        </a:rPr>
                        <a:t>full-window Conv1D does not remove the failure regime</a:t>
                      </a:r>
                      <a:endParaRPr lang="en-US" sz="88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bl>
          </a:graphicData>
        </a:graphic>
      </p:graphicFrame>
      <p:sp>
        <p:nvSpPr>
          <p:cNvPr id="9" name="Shape 6"/>
          <p:cNvSpPr/>
          <p:nvPr/>
        </p:nvSpPr>
        <p:spPr>
          <a:xfrm>
            <a:off x="7498080" y="1417320"/>
            <a:ext cx="3474720" cy="1115568"/>
          </a:xfrm>
          <a:prstGeom prst="roundRect">
            <a:avLst>
              <a:gd name="adj" fmla="val 6557"/>
            </a:avLst>
          </a:prstGeom>
          <a:solidFill>
            <a:srgbClr val="FFF9EB"/>
          </a:solidFill>
          <a:ln w="13970">
            <a:solidFill>
              <a:srgbClr val="F2B84B"/>
            </a:solidFill>
            <a:prstDash val="solid"/>
          </a:ln>
        </p:spPr>
      </p:sp>
      <p:sp>
        <p:nvSpPr>
          <p:cNvPr id="10" name="Text 7"/>
          <p:cNvSpPr/>
          <p:nvPr/>
        </p:nvSpPr>
        <p:spPr>
          <a:xfrm>
            <a:off x="7754112" y="1609344"/>
            <a:ext cx="1463040" cy="164592"/>
          </a:xfrm>
          <a:prstGeom prst="rect">
            <a:avLst/>
          </a:prstGeom>
          <a:noFill/>
        </p:spPr>
        <p:txBody>
          <a:bodyPr wrap="square" lIns="635" tIns="635" rIns="635" bIns="635" rtlCol="0" anchor="t">
            <a:normAutofit/>
          </a:bodyPr>
          <a:lstStyle/>
          <a:p>
            <a:pPr marL="0" indent="0" algn="l">
              <a:buNone/>
            </a:pPr>
            <a:r>
              <a:rPr lang="en-US" sz="1020" b="1" dirty="0">
                <a:solidFill>
                  <a:srgbClr val="0B2341"/>
                </a:solidFill>
                <a:latin typeface="Aptos" pitchFamily="34" charset="0"/>
                <a:ea typeface="Aptos" pitchFamily="34" charset="-122"/>
                <a:cs typeface="Aptos" pitchFamily="34" charset="-120"/>
              </a:rPr>
              <a:t>Main conclusion</a:t>
            </a:r>
            <a:endParaRPr lang="en-US" sz="1020" dirty="0"/>
          </a:p>
        </p:txBody>
      </p:sp>
      <p:sp>
        <p:nvSpPr>
          <p:cNvPr id="11" name="Text 8"/>
          <p:cNvSpPr/>
          <p:nvPr/>
        </p:nvSpPr>
        <p:spPr>
          <a:xfrm>
            <a:off x="7754112" y="1901952"/>
            <a:ext cx="2743200" cy="384048"/>
          </a:xfrm>
          <a:prstGeom prst="rect">
            <a:avLst/>
          </a:prstGeom>
          <a:noFill/>
        </p:spPr>
        <p:txBody>
          <a:bodyPr wrap="square" lIns="635" tIns="635" rIns="635" bIns="635" rtlCol="0" anchor="t">
            <a:normAutofit/>
          </a:bodyPr>
          <a:lstStyle/>
          <a:p>
            <a:pPr marL="0" indent="0" algn="l">
              <a:buNone/>
            </a:pPr>
            <a:r>
              <a:rPr lang="en-US" sz="1150" b="1" dirty="0">
                <a:solidFill>
                  <a:srgbClr val="1F2328"/>
                </a:solidFill>
                <a:latin typeface="Aptos" pitchFamily="34" charset="0"/>
                <a:ea typeface="Aptos" pitchFamily="34" charset="-122"/>
                <a:cs typeface="Aptos" pitchFamily="34" charset="-120"/>
              </a:rPr>
              <a:t>Conditioning is the operative variable, but only when corruption, representation and test error structure are aligned.</a:t>
            </a:r>
            <a:endParaRPr lang="en-US" sz="1150" dirty="0"/>
          </a:p>
        </p:txBody>
      </p:sp>
      <p:sp>
        <p:nvSpPr>
          <p:cNvPr id="12" name="Shape 9"/>
          <p:cNvSpPr/>
          <p:nvPr/>
        </p:nvSpPr>
        <p:spPr>
          <a:xfrm>
            <a:off x="7498080" y="2816352"/>
            <a:ext cx="3474720" cy="932688"/>
          </a:xfrm>
          <a:prstGeom prst="roundRect">
            <a:avLst>
              <a:gd name="adj" fmla="val 7843"/>
            </a:avLst>
          </a:prstGeom>
          <a:solidFill>
            <a:srgbClr val="F6FAFF"/>
          </a:solidFill>
          <a:ln w="13970">
            <a:solidFill>
              <a:srgbClr val="9BBCE3"/>
            </a:solidFill>
            <a:prstDash val="solid"/>
          </a:ln>
        </p:spPr>
      </p:sp>
      <p:sp>
        <p:nvSpPr>
          <p:cNvPr id="13" name="Text 10"/>
          <p:cNvSpPr/>
          <p:nvPr/>
        </p:nvSpPr>
        <p:spPr>
          <a:xfrm>
            <a:off x="7754112" y="2999232"/>
            <a:ext cx="1737360" cy="164592"/>
          </a:xfrm>
          <a:prstGeom prst="rect">
            <a:avLst/>
          </a:prstGeom>
          <a:noFill/>
        </p:spPr>
        <p:txBody>
          <a:bodyPr wrap="square" lIns="635" tIns="635" rIns="635" bIns="635" rtlCol="0" anchor="t">
            <a:normAutofit/>
          </a:bodyPr>
          <a:lstStyle/>
          <a:p>
            <a:pPr marL="0" indent="0" algn="l">
              <a:buNone/>
            </a:pPr>
            <a:r>
              <a:rPr lang="en-US" sz="1020" b="1" dirty="0">
                <a:solidFill>
                  <a:srgbClr val="0B2341"/>
                </a:solidFill>
                <a:latin typeface="Aptos" pitchFamily="34" charset="0"/>
                <a:ea typeface="Aptos" pitchFamily="34" charset="-122"/>
                <a:cs typeface="Aptos" pitchFamily="34" charset="-120"/>
              </a:rPr>
              <a:t>Next-step implication</a:t>
            </a:r>
            <a:endParaRPr lang="en-US" sz="1020" dirty="0"/>
          </a:p>
        </p:txBody>
      </p:sp>
      <p:sp>
        <p:nvSpPr>
          <p:cNvPr id="8" name="Text 11"/>
          <p:cNvSpPr/>
          <p:nvPr/>
        </p:nvSpPr>
        <p:spPr>
          <a:xfrm>
            <a:off x="7754112" y="3291840"/>
            <a:ext cx="2743200" cy="274320"/>
          </a:xfrm>
          <a:prstGeom prst="rect">
            <a:avLst/>
          </a:prstGeom>
          <a:noFill/>
        </p:spPr>
        <p:txBody>
          <a:bodyPr wrap="square" lIns="635" tIns="635" rIns="635" bIns="635" rtlCol="0" anchor="t">
            <a:normAutofit/>
          </a:bodyPr>
          <a:lstStyle/>
          <a:p>
            <a:pPr marL="0" indent="0" algn="l">
              <a:buNone/>
            </a:pPr>
            <a:r>
              <a:rPr lang="en-US" sz="1180" b="1" dirty="0">
                <a:solidFill>
                  <a:srgbClr val="1F2328"/>
                </a:solidFill>
                <a:latin typeface="Aptos" pitchFamily="34" charset="0"/>
                <a:ea typeface="Aptos" pitchFamily="34" charset="-122"/>
                <a:cs typeface="Aptos" pitchFamily="34" charset="-120"/>
              </a:rPr>
              <a:t>Move toward sensor-anchored, confidence-aware posterior refinement.</a:t>
            </a:r>
            <a:endParaRPr lang="en-US" sz="1180" dirty="0"/>
          </a:p>
        </p:txBody>
      </p:sp>
      <p:sp>
        <p:nvSpPr>
          <p:cNvPr id="15" name="Text 12"/>
          <p:cNvSpPr/>
          <p:nvPr/>
        </p:nvSpPr>
        <p:spPr>
          <a:xfrm>
            <a:off x="713232" y="4343400"/>
            <a:ext cx="2011680" cy="201168"/>
          </a:xfrm>
          <a:prstGeom prst="rect">
            <a:avLst/>
          </a:prstGeom>
          <a:noFill/>
        </p:spPr>
        <p:txBody>
          <a:bodyPr wrap="square" lIns="635" tIns="635" rIns="635" bIns="635" rtlCol="0" anchor="t">
            <a:normAutofit/>
          </a:bodyPr>
          <a:lstStyle/>
          <a:p>
            <a:pPr marL="0" indent="0" algn="l">
              <a:buNone/>
            </a:pPr>
            <a:r>
              <a:rPr lang="en-US" sz="1250" b="1" dirty="0">
                <a:solidFill>
                  <a:srgbClr val="0B2341"/>
                </a:solidFill>
                <a:latin typeface="Aptos" pitchFamily="34" charset="0"/>
                <a:ea typeface="Aptos" pitchFamily="34" charset="-122"/>
                <a:cs typeface="Aptos" pitchFamily="34" charset="-120"/>
              </a:rPr>
              <a:t>References and role</a:t>
            </a:r>
            <a:endParaRPr lang="en-US" sz="1250" dirty="0"/>
          </a:p>
        </p:txBody>
      </p:sp>
      <p:graphicFrame>
        <p:nvGraphicFramePr>
          <p:cNvPr id="27" name="Table 1"/>
          <p:cNvGraphicFramePr>
            <a:graphicFrameLocks noGrp="1"/>
          </p:cNvGraphicFramePr>
          <p:nvPr/>
        </p:nvGraphicFramePr>
        <p:xfrm>
          <a:off x="713232" y="4663440"/>
          <a:ext cx="10241280" cy="1298448"/>
        </p:xfrm>
        <a:graphic>
          <a:graphicData uri="http://schemas.openxmlformats.org/drawingml/2006/table">
            <a:tbl>
              <a:tblPr/>
              <a:tblGrid>
                <a:gridCol w="3108960"/>
                <a:gridCol w="7132320"/>
              </a:tblGrid>
              <a:tr h="216408">
                <a:tc>
                  <a:txBody>
                    <a:bodyPr/>
                    <a:lstStyle/>
                    <a:p>
                      <a:pPr marL="0" indent="0">
                        <a:buNone/>
                      </a:pPr>
                      <a:r>
                        <a:rPr lang="en-US" sz="830" b="1" dirty="0">
                          <a:solidFill>
                            <a:srgbClr val="FFFFFF"/>
                          </a:solidFill>
                          <a:latin typeface="Aptos" pitchFamily="34" charset="0"/>
                          <a:ea typeface="Aptos" pitchFamily="34" charset="-122"/>
                          <a:cs typeface="Aptos" pitchFamily="34" charset="-120"/>
                        </a:rPr>
                        <a:t>Reference</a:t>
                      </a:r>
                      <a:endParaRPr lang="en-US" sz="83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c>
                  <a:txBody>
                    <a:bodyPr/>
                    <a:lstStyle/>
                    <a:p>
                      <a:pPr marL="0" indent="0">
                        <a:buNone/>
                      </a:pPr>
                      <a:r>
                        <a:rPr lang="en-US" sz="830" b="1" dirty="0">
                          <a:solidFill>
                            <a:srgbClr val="FFFFFF"/>
                          </a:solidFill>
                          <a:latin typeface="Aptos" pitchFamily="34" charset="0"/>
                          <a:ea typeface="Aptos" pitchFamily="34" charset="-122"/>
                          <a:cs typeface="Aptos" pitchFamily="34" charset="-120"/>
                        </a:rPr>
                        <a:t>Used for</a:t>
                      </a:r>
                      <a:endParaRPr lang="en-US" sz="83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B2341"/>
                    </a:solidFill>
                  </a:tcPr>
                </a:tc>
              </a:tr>
              <a:tr h="216408">
                <a:tc>
                  <a:txBody>
                    <a:bodyPr/>
                    <a:lstStyle/>
                    <a:p>
                      <a:pPr marL="0" indent="0">
                        <a:buNone/>
                      </a:pPr>
                      <a:r>
                        <a:rPr lang="en-US" sz="830" dirty="0">
                          <a:solidFill>
                            <a:srgbClr val="1F2328"/>
                          </a:solidFill>
                          <a:latin typeface="Aptos" pitchFamily="34" charset="0"/>
                          <a:ea typeface="Aptos" pitchFamily="34" charset="-122"/>
                          <a:cs typeface="Aptos" pitchFamily="34" charset="-120"/>
                        </a:rPr>
                        <a:t>Ho et al. 2020</a:t>
                      </a:r>
                      <a:endParaRPr lang="en-US" sz="83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830" dirty="0">
                          <a:solidFill>
                            <a:srgbClr val="1F2328"/>
                          </a:solidFill>
                          <a:latin typeface="Aptos" pitchFamily="34" charset="0"/>
                          <a:ea typeface="Aptos" pitchFamily="34" charset="-122"/>
                          <a:cs typeface="Aptos" pitchFamily="34" charset="-120"/>
                        </a:rPr>
                        <a:t>DDPM formulation</a:t>
                      </a:r>
                      <a:endParaRPr lang="en-US" sz="83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216408">
                <a:tc>
                  <a:txBody>
                    <a:bodyPr/>
                    <a:lstStyle/>
                    <a:p>
                      <a:pPr marL="0" indent="0">
                        <a:buNone/>
                      </a:pPr>
                      <a:r>
                        <a:rPr lang="en-US" sz="830" dirty="0">
                          <a:solidFill>
                            <a:srgbClr val="1F2328"/>
                          </a:solidFill>
                          <a:latin typeface="Aptos" pitchFamily="34" charset="0"/>
                          <a:ea typeface="Aptos" pitchFamily="34" charset="-122"/>
                          <a:cs typeface="Aptos" pitchFamily="34" charset="-120"/>
                        </a:rPr>
                        <a:t>Meng et al. 2022</a:t>
                      </a:r>
                      <a:endParaRPr lang="en-US" sz="83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830" dirty="0">
                          <a:solidFill>
                            <a:srgbClr val="1F2328"/>
                          </a:solidFill>
                          <a:latin typeface="Aptos" pitchFamily="34" charset="0"/>
                          <a:ea typeface="Aptos" pitchFamily="34" charset="-122"/>
                          <a:cs typeface="Aptos" pitchFamily="34" charset="-120"/>
                        </a:rPr>
                        <a:t>SDEdit prior-only editing diagnostic</a:t>
                      </a:r>
                      <a:endParaRPr lang="en-US" sz="83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216408">
                <a:tc>
                  <a:txBody>
                    <a:bodyPr/>
                    <a:lstStyle/>
                    <a:p>
                      <a:pPr marL="0" indent="0">
                        <a:buNone/>
                      </a:pPr>
                      <a:r>
                        <a:rPr lang="en-US" sz="830" dirty="0">
                          <a:solidFill>
                            <a:srgbClr val="1F2328"/>
                          </a:solidFill>
                          <a:latin typeface="Aptos" pitchFamily="34" charset="0"/>
                          <a:ea typeface="Aptos" pitchFamily="34" charset="-122"/>
                          <a:cs typeface="Aptos" pitchFamily="34" charset="-120"/>
                        </a:rPr>
                        <a:t>Tariq et al. 2020 / 2021</a:t>
                      </a:r>
                      <a:endParaRPr lang="en-US" sz="83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830" dirty="0">
                          <a:solidFill>
                            <a:srgbClr val="1F2328"/>
                          </a:solidFill>
                          <a:latin typeface="Aptos" pitchFamily="34" charset="0"/>
                          <a:ea typeface="Aptos" pitchFamily="34" charset="-122"/>
                          <a:cs typeface="Aptos" pitchFamily="34" charset="-120"/>
                        </a:rPr>
                        <a:t>indoor human tracking and trajectory metrics context</a:t>
                      </a:r>
                      <a:endParaRPr lang="en-US" sz="83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216408">
                <a:tc>
                  <a:txBody>
                    <a:bodyPr/>
                    <a:lstStyle/>
                    <a:p>
                      <a:pPr marL="0" indent="0">
                        <a:buNone/>
                      </a:pPr>
                      <a:r>
                        <a:rPr lang="en-US" sz="830" dirty="0">
                          <a:solidFill>
                            <a:srgbClr val="1F2328"/>
                          </a:solidFill>
                          <a:latin typeface="Aptos" pitchFamily="34" charset="0"/>
                          <a:ea typeface="Aptos" pitchFamily="34" charset="-122"/>
                          <a:cs typeface="Aptos" pitchFamily="34" charset="-120"/>
                        </a:rPr>
                        <a:t>Alcaraz &amp; Strodthoff 2023</a:t>
                      </a:r>
                      <a:endParaRPr lang="en-US" sz="83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c>
                  <a:txBody>
                    <a:bodyPr/>
                    <a:lstStyle/>
                    <a:p>
                      <a:pPr marL="0" indent="0">
                        <a:buNone/>
                      </a:pPr>
                      <a:r>
                        <a:rPr lang="en-US" sz="830" dirty="0">
                          <a:solidFill>
                            <a:srgbClr val="1F2328"/>
                          </a:solidFill>
                          <a:latin typeface="Aptos" pitchFamily="34" charset="0"/>
                          <a:ea typeface="Aptos" pitchFamily="34" charset="-122"/>
                          <a:cs typeface="Aptos" pitchFamily="34" charset="-120"/>
                        </a:rPr>
                        <a:t>SSSD / conditional time-series diffusion family</a:t>
                      </a:r>
                      <a:endParaRPr lang="en-US" sz="83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8FAFC"/>
                    </a:solidFill>
                  </a:tcPr>
                </a:tc>
              </a:tr>
              <a:tr h="216408">
                <a:tc>
                  <a:txBody>
                    <a:bodyPr/>
                    <a:lstStyle/>
                    <a:p>
                      <a:pPr marL="0" indent="0">
                        <a:buNone/>
                      </a:pPr>
                      <a:r>
                        <a:rPr lang="en-US" sz="830" dirty="0">
                          <a:solidFill>
                            <a:srgbClr val="1F2328"/>
                          </a:solidFill>
                          <a:latin typeface="Aptos" pitchFamily="34" charset="0"/>
                          <a:ea typeface="Aptos" pitchFamily="34" charset="-122"/>
                          <a:cs typeface="Aptos" pitchFamily="34" charset="-120"/>
                        </a:rPr>
                        <a:t>Yuan &amp; Qiao 2024</a:t>
                      </a:r>
                      <a:endParaRPr lang="en-US" sz="83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marL="0" indent="0">
                        <a:buNone/>
                      </a:pPr>
                      <a:r>
                        <a:rPr lang="en-US" sz="830" dirty="0">
                          <a:solidFill>
                            <a:srgbClr val="1F2328"/>
                          </a:solidFill>
                          <a:latin typeface="Aptos" pitchFamily="34" charset="0"/>
                          <a:ea typeface="Aptos" pitchFamily="34" charset="-122"/>
                          <a:cs typeface="Aptos" pitchFamily="34" charset="-120"/>
                        </a:rPr>
                        <a:t>Diffusion-TS / alternative time-series diffusion family</a:t>
                      </a:r>
                      <a:endParaRPr lang="en-US" sz="830" dirty="0">
                        <a:latin typeface="Aptos" pitchFamily="34" charset="0"/>
                        <a:ea typeface="Aptos" pitchFamily="34" charset="0"/>
                        <a:cs typeface="Aptos" pitchFamily="34" charset="0"/>
                      </a:endParaRPr>
                    </a:p>
                  </a:txBody>
                  <a:tcPr marL="45720" marR="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bl>
          </a:graphicData>
        </a:graphic>
      </p:graphicFrame>
      <p:sp>
        <p:nvSpPr>
          <p:cNvPr id="17" name="Text 13"/>
          <p:cNvSpPr/>
          <p:nvPr/>
        </p:nvSpPr>
        <p:spPr>
          <a:xfrm>
            <a:off x="502920" y="6336792"/>
            <a:ext cx="11155680" cy="146304"/>
          </a:xfrm>
          <a:prstGeom prst="rect">
            <a:avLst/>
          </a:prstGeom>
          <a:noFill/>
        </p:spPr>
        <p:txBody>
          <a:bodyPr wrap="square" lIns="0" tIns="0" rIns="0" bIns="0" rtlCol="0" anchor="ctr"/>
          <a:lstStyle/>
          <a:p>
            <a:pPr marL="0" indent="0">
              <a:buNone/>
            </a:pPr>
            <a:r>
              <a:rPr lang="en-US" sz="750" i="1" dirty="0">
                <a:solidFill>
                  <a:srgbClr val="748094"/>
                </a:solidFill>
                <a:latin typeface="Aptos" pitchFamily="34" charset="0"/>
                <a:ea typeface="Aptos" pitchFamily="34" charset="-122"/>
                <a:cs typeface="Aptos" pitchFamily="34" charset="-120"/>
              </a:rPr>
              <a:t>Final claim deliberately remains bounded: Stage 3 maps the interface lever and failure boundaries; it does not claim universal sensor-error recovery.</a:t>
            </a:r>
            <a:endParaRPr lang="en-US" sz="750" dirty="0"/>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TABLE_ENDDRAG_ORIGIN_RECT" val="443*158"/>
  <p:tag name="TABLE_ENDDRAG_RECT" val="40*289*443*15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11025</Words>
  <Application>WPS 文字</Application>
  <PresentationFormat>On-screen Show (16:9)</PresentationFormat>
  <Paragraphs>755</Paragraphs>
  <Slides>13</Slides>
  <Notes>13</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13</vt:i4>
      </vt:variant>
    </vt:vector>
  </HeadingPairs>
  <TitlesOfParts>
    <vt:vector size="31" baseType="lpstr">
      <vt:lpstr>Arial</vt:lpstr>
      <vt:lpstr>宋体</vt:lpstr>
      <vt:lpstr>Wingdings</vt:lpstr>
      <vt:lpstr>Aptos</vt:lpstr>
      <vt:lpstr>苹方-简</vt:lpstr>
      <vt:lpstr>Aptos</vt:lpstr>
      <vt:lpstr>Aptos</vt:lpstr>
      <vt:lpstr>微软雅黑</vt:lpstr>
      <vt:lpstr>汉仪旗黑</vt:lpstr>
      <vt:lpstr>宋体</vt:lpstr>
      <vt:lpstr>Arial Unicode MS</vt:lpstr>
      <vt:lpstr>汉仪书宋二KW</vt:lpstr>
      <vt:lpstr>等线</vt:lpstr>
      <vt:lpstr>汉仪中等线KW</vt:lpstr>
      <vt:lpstr>Calibri</vt:lpstr>
      <vt:lpstr>Helvetica Neue</vt:lpstr>
      <vt:lpstr>Times New Roman Regular</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OpenAI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Stage 3 DDPM-based Indoor Trajectory Refinement</dc:title>
  <dc:creator>OpenAI</dc:creator>
  <dc:subject>Stage 3 report deck</dc:subject>
  <cp:lastModifiedBy>SunshineC</cp:lastModifiedBy>
  <cp:revision>7</cp:revision>
  <dcterms:created xsi:type="dcterms:W3CDTF">2026-05-14T11:38:42Z</dcterms:created>
  <dcterms:modified xsi:type="dcterms:W3CDTF">2026-05-14T11:38:42Z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D48536E7CA38B782CF89056A56AC65D5_42</vt:lpwstr>
  </property>
  <property fmtid="{D5CDD505-2E9C-101B-9397-08002B2CF9AE}" pid="3" name="KSOProductBuildVer">
    <vt:lpwstr>2052-6.7.1.8828</vt:lpwstr>
  </property>
</Properties>
</file>