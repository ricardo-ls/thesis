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9" r:id="rId3"/>
    <p:sldId id="257" r:id="rId5"/>
    <p:sldId id="260" r:id="rId6"/>
    <p:sldId id="258" r:id="rId7"/>
    <p:sldId id="261" r:id="rId8"/>
    <p:sldId id="259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This talk reports Stage 3 of my thesis: DDPM-based refinement for indoor trajectories.</a:t>
            </a:r>
            <a:endParaRPr lang="en-US" dirty="0"/>
          </a:p>
          <a:p>
            <a:r>
              <a:rPr lang="en-US" dirty="0"/>
              <a:t>The story is intentionally bounded. I first correct the original task, then test prior-only editing, and finally test whether observation conditioning changes the recovery interface.</a:t>
            </a:r>
            <a:endParaRPr lang="en-US" dirty="0"/>
          </a:p>
          <a:p>
            <a:r>
              <a:rPr lang="en-US" dirty="0"/>
              <a:t>The main message is that the model needs to see the degraded observation. A stronger unconditional prior alone is not enough for this paired recovery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start with the old result because it explains why the task had to change.</a:t>
            </a:r>
            <a:endParaRPr lang="en-US" dirty="0"/>
          </a:p>
          <a:p>
            <a:r>
              <a:rPr lang="en-US" dirty="0"/>
              <a:t>The original setup removed frames 8 to 11, while the prefix, suffix, and both boundary points remained visible. That made the task almost a boundary-anchored bridge problem, so linear interpolation was structurally favoured.</a:t>
            </a:r>
            <a:endParaRPr lang="en-US" dirty="0"/>
          </a:p>
          <a:p>
            <a:r>
              <a:rPr lang="en-US" dirty="0"/>
              <a:t>The table now includes the classical baselines as well. Linear and Savitzky-Golay are strong in the missing-span setting, while the unconditional DDPM inpainting output is not tied tightly enough to the observed path.</a:t>
            </a:r>
            <a:endParaRPr lang="en-US" dirty="0"/>
          </a:p>
          <a:p>
            <a:r>
              <a:rPr lang="en-US" dirty="0"/>
              <a:t>So I read this slide as a task-interface diagnosis, not as evidence that trajectory priors are useless.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fixes the evaluation language for the rest of the deck.</a:t>
            </a:r>
            <a:endParaRPr lang="en-US" dirty="0"/>
          </a:p>
          <a:p>
            <a:r>
              <a:rPr lang="en-US" dirty="0"/>
              <a:t>Every row is a paired comparison: the same degraded trajectory, the same clean reference, and then one candidate output.</a:t>
            </a:r>
            <a:endParaRPr lang="en-US" dirty="0"/>
          </a:p>
          <a:p>
            <a:r>
              <a:rPr lang="en-US" dirty="0"/>
              <a:t>ADE is the headline metric because the corrected task is full-trajectory recovery. RMSE, FDE, improved fraction and p-values are supporting diagnostics.</a:t>
            </a:r>
            <a:endParaRPr lang="en-US" dirty="0"/>
          </a:p>
          <a:p>
            <a:r>
              <a:rPr lang="en-US" dirty="0"/>
              <a:t>The smoothness warning matters. A path can look smoother and still be farther from the clean trajectory; Kalman CV later shows exactly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corrected task, I use synthetic indoor trajectories because I need clean and degraded pairs under controlled error injection.</a:t>
            </a:r>
            <a:endParaRPr lang="en-US" dirty="0"/>
          </a:p>
          <a:p>
            <a:r>
              <a:rPr lang="en-US" dirty="0"/>
              <a:t>ETH and UCY were useful for earlier prior learning, but they mostly reflect outdoor pedestrian tracks. Here the question is indoor sensor-like refinement.</a:t>
            </a:r>
            <a:endParaRPr lang="en-US" dirty="0"/>
          </a:p>
          <a:p>
            <a:r>
              <a:rPr lang="en-US" dirty="0"/>
              <a:t>The pairing is the key design feature. Each clean trajectory can be degraded in known ways, and all methods are scored against the same clean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still not a recovery result. It is only a sanity check for the unconditional indoor DDPM prior.</a:t>
            </a:r>
            <a:endParaRPr lang="en-US" dirty="0"/>
          </a:p>
          <a:p>
            <a:r>
              <a:rPr lang="en-US" dirty="0"/>
              <a:t>The selected EMA checkpoint reaches its best validation loss at epoch 60. The generated samples do not show unrealistic large jumps, and the direction bias is below the internal threshold.</a:t>
            </a:r>
            <a:endParaRPr lang="en-US" dirty="0"/>
          </a:p>
          <a:p>
            <a:r>
              <a:rPr lang="en-US" dirty="0"/>
              <a:t>The figure is useful as a quality-control view, but the claim stays narrow: the prior is technically usable enough to support downstream diagnostics.</a:t>
            </a:r>
            <a:endParaRPr lang="en-US" dirty="0"/>
          </a:p>
          <a:p>
            <a:r>
              <a:rPr lang="en-US" dirty="0"/>
              <a:t>Actual recovery is tested only on paired clean-degraded examples, first with SDEdit and then with the conditional residual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defines the baseline before any model tries to refine the trajectory.</a:t>
            </a:r>
            <a:endParaRPr lang="en-US" dirty="0"/>
          </a:p>
          <a:p>
            <a:r>
              <a:rPr lang="en-US" dirty="0"/>
              <a:t>The six degradations probe different error structures: independent gaussian noise, smooth drift, sparse jumps, local bursts, constant bias, and a combined setting.</a:t>
            </a:r>
            <a:endParaRPr lang="en-US" dirty="0"/>
          </a:p>
          <a:p>
            <a:r>
              <a:rPr lang="en-US" dirty="0"/>
              <a:t>The table is dataset-level clean-versus-degraded error for N equals 200. It is not a refinement result yet.</a:t>
            </a:r>
            <a:endParaRPr lang="en-US" dirty="0"/>
          </a:p>
          <a:p>
            <a:r>
              <a:rPr lang="en-US" dirty="0"/>
              <a:t>One subtle point is drift. Its initial ADE is smaller than gaussian here, so a gaussian-trained correction can easily over-correct it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I move from prior checking to prior-only editing.</a:t>
            </a:r>
            <a:endParaRPr lang="en-US" dirty="0"/>
          </a:p>
          <a:p>
            <a:r>
              <a:rPr lang="en-US" dirty="0"/>
              <a:t>SDEdit starts from the degraded trajectory, adds gaussian noise up to t_start, and denoises with the unconditional prior.</a:t>
            </a:r>
            <a:endParaRPr lang="en-US" dirty="0"/>
          </a:p>
          <a:p>
            <a:r>
              <a:rPr lang="en-US" dirty="0"/>
              <a:t>Small t_start mostly preserves the input; large t_start gives the prior more freedom but also more chance to drift away from this particular observation.</a:t>
            </a:r>
            <a:endParaRPr lang="en-US" dirty="0"/>
          </a:p>
          <a:p>
            <a:r>
              <a:rPr lang="en-US" dirty="0"/>
              <a:t>The best point in the sweep is t_start equals 2, with ADE moving from 0.0626 to 0.0608 metres.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prior-only ceiling under matched gaussian degradation.</a:t>
            </a:r>
            <a:endParaRPr lang="en-US" dirty="0"/>
          </a:p>
          <a:p>
            <a:r>
              <a:rPr lang="en-US" dirty="0"/>
              <a:t>Linear interpolation is included here for traceability, but in a full-trajectory setting with no missing mask it is effectively the identity baseline.</a:t>
            </a:r>
            <a:endParaRPr lang="en-US" dirty="0"/>
          </a:p>
          <a:p>
            <a:r>
              <a:rPr lang="en-US" dirty="0"/>
              <a:t>Savitzky-Golay and Kalman show the danger of treating smoothness as recovery. Both can smooth the path, but their mean ADE worsens under this protocol.</a:t>
            </a:r>
            <a:endParaRPr lang="en-US" dirty="0"/>
          </a:p>
          <a:p>
            <a:r>
              <a:rPr lang="en-US" dirty="0"/>
              <a:t>Unconditional SDEdit gives a systematic but small gain: about 2.8 percent. That motivates changing the interface rather than only polishing the prior.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turn in Stage 3.</a:t>
            </a:r>
            <a:endParaRPr lang="en-US" dirty="0"/>
          </a:p>
          <a:p>
            <a:r>
              <a:rPr lang="en-US" dirty="0"/>
              <a:t>SDEdit asks the prior to edit the degraded trajectory, but it does not explicitly learn what correction this observation needs.</a:t>
            </a:r>
            <a:endParaRPr lang="en-US" dirty="0"/>
          </a:p>
          <a:p>
            <a:r>
              <a:rPr lang="en-US" dirty="0"/>
              <a:t>The conditional residual model receives the degraded trajectory as condition and predicts the correction residual.</a:t>
            </a:r>
            <a:endParaRPr lang="en-US" dirty="0"/>
          </a:p>
          <a:p>
            <a:r>
              <a:rPr lang="en-US" dirty="0"/>
              <a:t>So the tested variable is the interface: prior-only editing versus observation-conditioned correction, under the same gaussian evaluation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contains the strongest positive Stage 3 result.</a:t>
            </a:r>
            <a:endParaRPr lang="en-US" dirty="0"/>
          </a:p>
          <a:p>
            <a:r>
              <a:rPr lang="en-US" dirty="0"/>
              <a:t>On the matched gaussian set, no refinement is 0.0626 metres ADE, unconditional SDEdit is 0.0608, and conditional residual DDPM reaches 0.0557.</a:t>
            </a:r>
            <a:endParaRPr lang="en-US" dirty="0"/>
          </a:p>
          <a:p>
            <a:r>
              <a:rPr lang="en-US" dirty="0"/>
              <a:t>That is a 10.98 percent reduction versus noisy input, and an 8.41 percent relative gain over SDEdit.</a:t>
            </a:r>
            <a:endParaRPr lang="en-US" dirty="0"/>
          </a:p>
          <a:p>
            <a:r>
              <a:rPr lang="en-US" dirty="0"/>
              <a:t>The wording is deliberately bounded. This supports conditioning under matched gaussian corruption; it does not prove broad sensor-error robustness.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gaussian-trained conditional model is then tested across other degradation types.</a:t>
            </a:r>
            <a:endParaRPr lang="en-US" dirty="0"/>
          </a:p>
          <a:p>
            <a:r>
              <a:rPr lang="en-US" dirty="0"/>
              <a:t>The failures are structured. Drift worsens because the model applies too much correction to a mild smooth error. Burst worsens because the corruption is local but the model has no reliability mask.</a:t>
            </a:r>
            <a:endParaRPr lang="en-US" dirty="0"/>
          </a:p>
          <a:p>
            <a:r>
              <a:rPr lang="en-US" dirty="0"/>
              <a:t>Bias is almost unchanged because a constant global offset cancels in the relative-displacement representation.</a:t>
            </a:r>
            <a:endParaRPr lang="en-US" dirty="0"/>
          </a:p>
          <a:p>
            <a:r>
              <a:rPr lang="en-US" dirty="0"/>
              <a:t>So the result is not just poor generalization. It tells us what the next interface has to model: correction scale, frame reliability, and representation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addresses the concern that the problem may simply be model capacity.</a:t>
            </a:r>
            <a:endParaRPr lang="en-US" dirty="0"/>
          </a:p>
          <a:p>
            <a:r>
              <a:rPr lang="en-US" dirty="0"/>
              <a:t>I compare the current two-block Conv1D with a four-block version whose receptive field covers the full 20-frame window.</a:t>
            </a:r>
            <a:endParaRPr lang="en-US" dirty="0"/>
          </a:p>
          <a:p>
            <a:r>
              <a:rPr lang="en-US" dirty="0"/>
              <a:t>The larger backbone nearly doubles the parameter count and gives a small median relative ADE gain, but it still beats the noisy input in only one of six degradations.</a:t>
            </a:r>
            <a:endParaRPr lang="en-US" dirty="0"/>
          </a:p>
          <a:p>
            <a:r>
              <a:rPr lang="en-US" dirty="0"/>
              <a:t>That points away from receptive field as the main bottleneck. The next bottleneck is observation anchoring and confidence-aware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close with a bounded claim rather than an over-claim.</a:t>
            </a:r>
            <a:endParaRPr lang="en-US" dirty="0"/>
          </a:p>
          <a:p>
            <a:r>
              <a:rPr lang="en-US" dirty="0"/>
              <a:t>Stage 3 establishes five things: the old local gap task was biased, prior-only SDEdit has a small ceiling, conditioning gives the larger matched-gaussian gain, cross-degradation failures are explainable, and a wider backbone does not remove the failure regime.</a:t>
            </a:r>
            <a:endParaRPr lang="en-US" dirty="0"/>
          </a:p>
          <a:p>
            <a:r>
              <a:rPr lang="en-US" dirty="0"/>
              <a:t>The main conclusion is precise: conditioning is the operative variable, but only when the corruption model, representation and test error structure are aligned.</a:t>
            </a:r>
            <a:endParaRPr lang="en-US" dirty="0"/>
          </a:p>
          <a:p>
            <a:r>
              <a:rPr lang="en-US" dirty="0"/>
              <a:t>The next step is therefore sensor-anchored, confidence-aware posterior refinement, not simply a stronger unconditional prior.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tags" Target="../tags/tag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tags" Target="../tags/tag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defense_extract/ppt/media/image-1-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0704" y="502920"/>
            <a:ext cx="2683832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1792"/>
            <a:ext cx="2011680" cy="32918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078992"/>
            <a:ext cx="6400800" cy="1234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DDPM-based Indoor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Trajectory Refinement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704088" y="2423160"/>
            <a:ext cx="7498080" cy="38404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t>Keywords: DDPM · SDEdit · conditional residual model · paired full-trajectory recovery</a:t>
            </a:r>
          </a:p>
        </p:txBody>
      </p:sp>
      <p:sp>
        <p:nvSpPr>
          <p:cNvPr id="8" name="Text 5"/>
          <p:cNvSpPr/>
          <p:nvPr/>
        </p:nvSpPr>
        <p:spPr>
          <a:xfrm>
            <a:off x="685546" y="4703826"/>
            <a:ext cx="4389120" cy="4754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Shang Shanchong </a:t>
            </a:r>
            <a:endParaRPr lang="en-US" sz="1250" dirty="0">
              <a:solidFill>
                <a:srgbClr val="2024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2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Politecnico di Torino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927" y="3140710"/>
            <a:ext cx="3246120" cy="859536"/>
          </a:xfrm>
          <a:prstGeom prst="roundRect">
            <a:avLst/>
          </a:prstGeom>
          <a:solidFill>
            <a:srgbClr val="F6FAFD"/>
          </a:solidFill>
          <a:ln w="10160">
            <a:solidFill>
              <a:srgbClr val="C8D6E3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50519" y="3259582"/>
            <a:ext cx="41148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0287" y="3223006"/>
            <a:ext cx="228600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reset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80287" y="3533902"/>
            <a:ext cx="2377440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r>
              <a:t>biased gap filling -&gt; paired full-trajectory refinement</a:t>
            </a:r>
          </a:p>
        </p:txBody>
      </p:sp>
      <p:sp>
        <p:nvSpPr>
          <p:cNvPr id="13" name="Shape 10"/>
          <p:cNvSpPr/>
          <p:nvPr/>
        </p:nvSpPr>
        <p:spPr>
          <a:xfrm>
            <a:off x="4343527" y="3140710"/>
            <a:ext cx="3246120" cy="859536"/>
          </a:xfrm>
          <a:prstGeom prst="roundRect">
            <a:avLst/>
          </a:prstGeom>
          <a:solidFill>
            <a:srgbClr val="EAF2F8"/>
          </a:solidFill>
          <a:ln w="10160">
            <a:solidFill>
              <a:srgbClr val="C8D6E3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8119" y="3259582"/>
            <a:ext cx="41148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37887" y="3223006"/>
            <a:ext cx="228600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finding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37887" y="3533902"/>
            <a:ext cx="2377440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A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conditioning beats prior-only editing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8001127" y="3140710"/>
            <a:ext cx="3246120" cy="859536"/>
          </a:xfrm>
          <a:prstGeom prst="roundRect">
            <a:avLst/>
          </a:prstGeom>
          <a:solidFill>
            <a:srgbClr val="F6FAFD"/>
          </a:solidFill>
          <a:ln w="10160">
            <a:solidFill>
              <a:srgbClr val="C8D6E3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165719" y="3259582"/>
            <a:ext cx="41148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95487" y="3223006"/>
            <a:ext cx="228600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boundary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595487" y="3533902"/>
            <a:ext cx="2377440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A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only under error-structure alignment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Task reset: why the old gap-filling result was biased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71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2 / 13</a:t>
            </a:r>
            <a:endParaRPr lang="en-US" sz="900" dirty="0">
              <a:solidFill>
                <a:srgbClr val="526171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Stage 3 — DDPM-based Indoor Trajectory Refinement</a:t>
            </a:r>
            <a:endParaRPr lang="en-US" sz="850" dirty="0">
              <a:solidFill>
                <a:srgbClr val="7B8794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pic>
        <p:nvPicPr>
          <p:cNvPr id="7" name="Image 0" descr="/mnt/data/docx_extract/word/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326"/>
            <a:ext cx="5349240" cy="27427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005840"/>
            <a:ext cx="2286000" cy="20116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Old local-gap task</a:t>
            </a:r>
            <a:endParaRPr lang="en-US" sz="1300" b="1" dirty="0">
              <a:solidFill>
                <a:srgbClr val="0B2341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63640" y="1325880"/>
            <a:ext cx="4937760" cy="960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8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Frames 8–11 were removed, but prefix, suffix, and both boundary points stayed visible.</a:t>
            </a:r>
            <a:endParaRPr lang="en-US" sz="108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108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Linear interpolation therefore solved a boundary-anchored bridge problem.</a:t>
            </a:r>
            <a:endParaRPr lang="en-US" sz="108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108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The unconditional DDPM had no mask, no endpoint constraint, and no observation channel.</a:t>
            </a:r>
            <a:endParaRPr lang="en-US" sz="108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63640" y="2487168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FFF9EB"/>
          </a:solidFill>
          <a:ln w="1397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73952" y="2624328"/>
            <a:ext cx="128016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341"/>
                </a:solidFill>
                <a:effectLst/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Corrected </a:t>
            </a:r>
            <a:r>
              <a:rPr lang="en-US" sz="1200" b="1" dirty="0">
                <a:solidFill>
                  <a:srgbClr val="0B2341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task</a:t>
            </a:r>
            <a:endParaRPr lang="en-US" sz="1200" b="1" dirty="0">
              <a:solidFill>
                <a:srgbClr val="0B2341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63840" y="2551176"/>
            <a:ext cx="2880360" cy="34747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Complete degraded trajectory → refined full trajectory; evaluated against the paired clean reference.</a:t>
            </a:r>
            <a:endParaRPr lang="en-US" sz="1200" dirty="0">
              <a:solidFill>
                <a:srgbClr val="1F2328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3232" y="3886200"/>
            <a:ext cx="2926080" cy="20116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341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Diagnostic result from the old task</a:t>
            </a:r>
            <a:endParaRPr lang="en-US" sz="1400" b="1" dirty="0">
              <a:solidFill>
                <a:srgbClr val="0B2341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13232" y="4187952"/>
          <a:ext cx="5257800" cy="1570355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188720"/>
                <a:gridCol w="1143000"/>
              </a:tblGrid>
              <a:tr h="313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Method</a:t>
                      </a:r>
                      <a:endParaRPr lang="en-US" sz="980" b="1" dirty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ADE</a:t>
                      </a:r>
                      <a:endParaRPr lang="en-US" sz="980" b="1" dirty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RMSE</a:t>
                      </a:r>
                      <a:endParaRPr lang="en-US" sz="980" b="1" dirty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Masked ADE</a:t>
                      </a:r>
                      <a:endParaRPr lang="en-US" sz="980" b="1" dirty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Linear interpolation</a:t>
                      </a:r>
                      <a:endParaRPr lang="en-US" sz="98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0.0026 ± 0.0026</a:t>
                      </a:r>
                      <a:endParaRPr lang="en-US" sz="98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0.0061 ± 0.0061</a:t>
                      </a:r>
                      <a:endParaRPr lang="en-US" sz="98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0.0129 ± 0.0130</a:t>
                      </a:r>
                      <a:endParaRPr lang="en-US" sz="98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80" dirty="0"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Savitzky-Golay</a:t>
                      </a:r>
                      <a:endParaRPr lang="en-US" altLang="en-US" sz="980" dirty="0"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80" dirty="0"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0.0046 ± 0.0039</a:t>
                      </a:r>
                      <a:endParaRPr lang="en-US" altLang="en-US" sz="980" dirty="0"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80" dirty="0"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0.0071 ± 0.0062</a:t>
                      </a:r>
                      <a:endParaRPr lang="en-US" altLang="en-US" sz="980" dirty="0"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80" dirty="0"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0.0126 ± 0.0127</a:t>
                      </a:r>
                      <a:endParaRPr lang="en-US" altLang="en-US" sz="980" dirty="0"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3944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80" dirty="0"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Kalman CV</a:t>
                      </a:r>
                      <a:endParaRPr lang="en-US" altLang="en-US" sz="980" dirty="0"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80" dirty="0"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0.0138 ± 0.0102</a:t>
                      </a:r>
                      <a:endParaRPr lang="en-US" altLang="en-US" sz="980" dirty="0"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80" dirty="0"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0.0230 ± 0.0189</a:t>
                      </a:r>
                      <a:endParaRPr lang="en-US" altLang="en-US" sz="980" dirty="0"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80" dirty="0"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0.0422 ± 0.0387</a:t>
                      </a:r>
                      <a:endParaRPr lang="en-US" altLang="en-US" sz="980" dirty="0"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Uncond. DDPM inpainting</a:t>
                      </a:r>
                      <a:endParaRPr lang="en-US" sz="98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0.1196 ± 0.1160</a:t>
                      </a:r>
                      <a:endParaRPr lang="en-US" sz="98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0.1626 ± 0.1579</a:t>
                      </a:r>
                      <a:endParaRPr lang="en-US" sz="98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0.1238 ± 0.1195</a:t>
                      </a:r>
                      <a:endParaRPr lang="en-US" sz="98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263640" y="4069080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6FAFF"/>
          </a:solidFill>
          <a:ln w="13970">
            <a:solidFill>
              <a:srgbClr val="9BBCE3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473952" y="4157726"/>
            <a:ext cx="14630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B2341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Working hypothesis</a:t>
            </a:r>
            <a:endParaRPr lang="en-US" sz="1020" b="1" dirty="0">
              <a:solidFill>
                <a:srgbClr val="0B2341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73952" y="4453382"/>
            <a:ext cx="4343400" cy="402336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When the whole trajectory is corrupted, does observation-conditioned DDPM provide a better refinement interface than prior-only DDPM editing?</a:t>
            </a:r>
            <a:endParaRPr lang="en-US" sz="1200" dirty="0">
              <a:solidFill>
                <a:srgbClr val="1F2328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Evaluation framework: paired recovery, not visual plausibility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3 / 13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Stage 3 — DDPM-based Indoor Trajectory Refinement</a:t>
            </a:r>
            <a:endParaRPr lang="en-US" sz="850" dirty="0">
              <a:solidFill>
                <a:srgbClr val="7B8794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4944" y="987552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F9EB"/>
          </a:solidFill>
          <a:ln w="1397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152144"/>
            <a:ext cx="14173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341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Evaluation object</a:t>
            </a:r>
            <a:endParaRPr lang="en-US" sz="1200" b="1" dirty="0">
              <a:solidFill>
                <a:srgbClr val="0B2341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68880" y="1078992"/>
            <a:ext cx="8595360" cy="31089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One paired instance = degraded full trajectory → refined output → clean reference. Comparisons are within the same input–reference pair.</a:t>
            </a:r>
            <a:endParaRPr lang="en-US" sz="1400" dirty="0">
              <a:solidFill>
                <a:srgbClr val="1F2328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94944" y="1920240"/>
          <a:ext cx="5257800" cy="2926080"/>
        </p:xfrm>
        <a:graphic>
          <a:graphicData uri="http://schemas.openxmlformats.org/drawingml/2006/table">
            <a:tbl>
              <a:tblPr/>
              <a:tblGrid>
                <a:gridCol w="1234440"/>
                <a:gridCol w="402336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Metric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How to read it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ADE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primary full-trajectory accuracy; lower is better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RMSE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penalizes larger frame-wise errors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FDE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endpoint accuracy only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Smoothness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diagnostic; lower is not automatically better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Improved fraction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how often the method helps over noisy input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Δ vs noisy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relative gain or degradation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Paired p-value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Times New Roman Regular" panose="02020503050405090304" charset="0"/>
                          <a:ea typeface="Aptos" pitchFamily="34" charset="-122"/>
                          <a:cs typeface="Times New Roman Regular" panose="02020503050405090304" charset="0"/>
                        </a:rPr>
                        <a:t>systematic improvement under paired test</a:t>
                      </a:r>
                      <a:endParaRPr lang="en-US" sz="1200" dirty="0">
                        <a:solidFill>
                          <a:srgbClr val="1F2328"/>
                        </a:solidFill>
                        <a:latin typeface="Times New Roman Regular" panose="02020503050405090304" charset="0"/>
                        <a:ea typeface="Aptos" pitchFamily="34" charset="-122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19088" y="1920240"/>
            <a:ext cx="109728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Protocol</a:t>
            </a:r>
            <a:endParaRPr lang="en-US" sz="1300" b="1" dirty="0">
              <a:solidFill>
                <a:srgbClr val="0B2341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19215" y="2267585"/>
            <a:ext cx="4838700" cy="1261745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r>
              <a:rPr lang="en-US" sz="160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Fixed evaluation set: N = 200 trajectories.</a:t>
            </a:r>
            <a:endParaRPr lang="en-US" sz="16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160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DDPM methods: five inference seeds {42, 43, 44, 45, 46}.</a:t>
            </a:r>
            <a:endParaRPr lang="en-US" sz="16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160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Seed averaging is applied first; metrics are then computed.</a:t>
            </a:r>
            <a:endParaRPr lang="en-US" sz="16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160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All ± std values reflect trajectory-level variation, not seed spread.</a:t>
            </a:r>
            <a:endParaRPr lang="en-US" sz="1600" dirty="0">
              <a:solidFill>
                <a:srgbClr val="1F2328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19088" y="3886200"/>
            <a:ext cx="4617720" cy="841248"/>
          </a:xfrm>
          <a:prstGeom prst="roundRect">
            <a:avLst>
              <a:gd name="adj" fmla="val 8696"/>
            </a:avLst>
          </a:prstGeom>
          <a:solidFill>
            <a:srgbClr val="F6FAFF"/>
          </a:solidFill>
          <a:ln w="13970">
            <a:solidFill>
              <a:srgbClr val="9BBCE3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38544" y="4050792"/>
            <a:ext cx="16459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341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Smoothness warning</a:t>
            </a:r>
            <a:endParaRPr lang="en-US" sz="1200" b="1" dirty="0">
              <a:solidFill>
                <a:srgbClr val="0B2341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2480" y="3968496"/>
            <a:ext cx="2267712" cy="365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328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A smoother path can be worse if it moves away from the clean reference. Kalman CV later shows exactly this.</a:t>
            </a:r>
            <a:endParaRPr lang="en-US" sz="1200" dirty="0">
              <a:solidFill>
                <a:srgbClr val="1F2328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Times New Roman Regular" panose="02020503050405090304" charset="0"/>
                <a:ea typeface="Aptos" pitchFamily="34" charset="-122"/>
                <a:cs typeface="Times New Roman Regular" panose="02020503050405090304" charset="0"/>
              </a:rPr>
              <a:t>Metrics follow the report evaluation section; ADE remains the headline metric because the task is full-trajectory recovery.</a:t>
            </a:r>
            <a:endParaRPr lang="en-US" sz="750" i="1" dirty="0">
              <a:solidFill>
                <a:srgbClr val="748094"/>
              </a:solidFill>
              <a:latin typeface="Times New Roman Regular" panose="02020503050405090304" charset="0"/>
              <a:ea typeface="Aptos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indoor data: paired recovery instead of outdoor tracking reuse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4 / 13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pic>
        <p:nvPicPr>
          <p:cNvPr id="7" name="Image 0" descr="/mnt/data/docx_extract/word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35334"/>
            <a:ext cx="5623560" cy="35655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987552"/>
            <a:ext cx="329184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ETH/UCY for Stage 3?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1307592"/>
            <a:ext cx="4800600" cy="6217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ETH/UCY was useful for Stage 2 prior learning, but it mostly describes outdoor pedestrian motion. Stage 3 needs controlled indoor error injection and clean–degraded pairs.</a:t>
            </a:r>
            <a:endParaRPr lang="en-US" sz="114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583680" y="2121408"/>
          <a:ext cx="4709160" cy="2212848"/>
        </p:xfrm>
        <a:graphic>
          <a:graphicData uri="http://schemas.openxmlformats.org/drawingml/2006/table">
            <a:tbl>
              <a:tblPr/>
              <a:tblGrid>
                <a:gridCol w="1325880"/>
                <a:gridCol w="3383280"/>
              </a:tblGrid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Room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m × 3 m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Trajectory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frames @ 3 Hz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Motion patterns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goal-directed, multi-goal, pacing, near-stationary, boundary-walk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Clean set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2,000 initial → 12,000 expanded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 / validation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 / 2,000 trajectories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training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9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60,000 after geometric augmentation</a:t>
                      </a:r>
                      <a:endParaRPr lang="en-US" sz="89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583680" y="4645152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FF9EB"/>
          </a:solidFill>
          <a:ln w="1397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784848" y="4791456"/>
            <a:ext cx="114300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design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028432" y="4727448"/>
            <a:ext cx="2880360" cy="31089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degraded input has a known clean reference; method comparisons are paired by construction.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Fig. 2 from the report; circle = start, square = end, colour = frame index.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Unconditional prior sanity check before refinement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5 / 13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4944" y="1024128"/>
            <a:ext cx="1097280" cy="21945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1353312"/>
            <a:ext cx="10241280" cy="365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check verifies whether the indoor trajectory-only DDPM can be trained stably and sampled without obvious artefacts before it is used in refinement experiments.</a:t>
            </a:r>
            <a:endParaRPr lang="en-US" sz="1200" dirty="0">
              <a:solidFill>
                <a:srgbClr val="1F232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94944" y="1993392"/>
          <a:ext cx="6537960" cy="2697480"/>
        </p:xfrm>
        <a:graphic>
          <a:graphicData uri="http://schemas.openxmlformats.org/drawingml/2006/table">
            <a:tbl>
              <a:tblPr/>
              <a:tblGrid>
                <a:gridCol w="1600200"/>
                <a:gridCol w="2057400"/>
                <a:gridCol w="2880360"/>
              </a:tblGrid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Check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Training data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60,000 augmented trajectories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indoor synthetic prior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Checkpoint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best_ema_model.pt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 downstream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Schedule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timesteps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fixed train/sample setting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epoch / val loss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epoch 60 / 0.2611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stable enough for diagnostics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Large-step ratio†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0.0000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unrealistic jumps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Direction bias†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dx 0.0019, dy 0.0051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below 0.01 threshold</a:t>
                      </a:r>
                      <a:endParaRPr lang="en-US" sz="91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† Custom internal diagnostics for this experiment; not standardized community metrics.</a:t>
            </a:r>
            <a:endParaRPr lang="en-US" sz="750" dirty="0"/>
          </a:p>
        </p:txBody>
      </p:sp>
      <p:pic>
        <p:nvPicPr>
          <p:cNvPr id="15" name="Picture 14" descr="fig05_prior_sampling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078992"/>
            <a:ext cx="3383280" cy="219161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205472" y="3977639"/>
            <a:ext cx="3429000" cy="987552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91440"/>
          <a:lstStyle/>
          <a:p>
            <a:r>
              <a:rPr sz="1200" b="1">
                <a:solidFill>
                  <a:srgbClr val="202B38"/>
                </a:solidFill>
                <a:latin typeface="Arial"/>
              </a:rPr>
              <a:t>Claim boundary</a:t>
            </a:r>
          </a:p>
          <a:p>
            <a:r>
              <a:rPr sz="1200">
                <a:solidFill>
                  <a:srgbClr val="202B38"/>
                </a:solidFill>
                <a:latin typeface="Arial"/>
              </a:rPr>
              <a:t>Usable prior check only; paired recovery is evaluated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Degradation baseline: six error structures before refinement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6 / 13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pic>
        <p:nvPicPr>
          <p:cNvPr id="8" name="Image 1" descr="/mnt/data/docx_extract/word/media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10" y="1036320"/>
            <a:ext cx="6325870" cy="43478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Dataset-level baseline; values are clean vs degraded before any refinement.</a:t>
            </a: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684645" y="2025015"/>
          <a:ext cx="4992370" cy="3063240"/>
        </p:xfrm>
        <a:graphic>
          <a:graphicData uri="http://schemas.openxmlformats.org/drawingml/2006/table">
            <a:tbl>
              <a:tblPr/>
              <a:tblGrid>
                <a:gridCol w="1462083"/>
                <a:gridCol w="1000455"/>
                <a:gridCol w="1000456"/>
                <a:gridCol w="1529080"/>
              </a:tblGrid>
              <a:tr h="33401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chemeClr val="bg1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Degradation</a:t>
                      </a:r>
                      <a:endParaRPr lang="en-US" sz="880" dirty="0">
                        <a:solidFill>
                          <a:schemeClr val="bg1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chemeClr val="bg1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ADE</a:t>
                      </a:r>
                      <a:endParaRPr lang="en-US" sz="880" dirty="0">
                        <a:solidFill>
                          <a:schemeClr val="bg1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chemeClr val="bg1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RMSE</a:t>
                      </a:r>
                      <a:endParaRPr lang="en-US" sz="880" dirty="0">
                        <a:solidFill>
                          <a:schemeClr val="bg1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chemeClr val="bg1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FDE</a:t>
                      </a:r>
                      <a:endParaRPr lang="en-US" sz="880" dirty="0">
                        <a:solidFill>
                          <a:schemeClr val="bg1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gaussian_medium</a:t>
                      </a:r>
                      <a:endParaRPr lang="en-US" sz="880" dirty="0">
                        <a:solidFill>
                          <a:srgbClr val="FF0000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0.0626 ± 0.0077</a:t>
                      </a:r>
                      <a:endParaRPr lang="en-US" sz="880" dirty="0">
                        <a:solidFill>
                          <a:srgbClr val="FF0000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0.0698 ± 0.0081</a:t>
                      </a:r>
                      <a:endParaRPr lang="en-US" sz="880" dirty="0">
                        <a:solidFill>
                          <a:srgbClr val="FF0000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0.0628 ± 0.0335</a:t>
                      </a:r>
                      <a:endParaRPr lang="en-US" sz="880" dirty="0">
                        <a:solidFill>
                          <a:srgbClr val="FF0000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solidFill>
                            <a:schemeClr val="accent6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drift_medium</a:t>
                      </a:r>
                      <a:endParaRPr lang="en-US" altLang="en-US" sz="880" dirty="0">
                        <a:solidFill>
                          <a:schemeClr val="accent6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solidFill>
                            <a:schemeClr val="accent6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0.0176 ± 0.0069</a:t>
                      </a:r>
                      <a:endParaRPr lang="en-US" altLang="en-US" sz="880" dirty="0">
                        <a:solidFill>
                          <a:schemeClr val="accent6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solidFill>
                            <a:schemeClr val="accent6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0.0199 ± 0.0076</a:t>
                      </a:r>
                      <a:endParaRPr lang="en-US" altLang="en-US" sz="880" dirty="0">
                        <a:solidFill>
                          <a:schemeClr val="accent6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solidFill>
                            <a:schemeClr val="accent6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0.0261 ± 0.0131</a:t>
                      </a:r>
                      <a:endParaRPr lang="en-US" altLang="en-US" sz="880" dirty="0">
                        <a:solidFill>
                          <a:schemeClr val="accent6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jump_medium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0.2634 ± 0.0890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0.3040 ± 0.0700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0.3542 ± 0.0904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burst_medium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0.0748 ± 0.0204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0.1574 ± 0.0431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0.0425 ± 0.1133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bias_medium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0.1890 ± 0.0957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0.1890 ± 0.0957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0.1890 ± 0.0957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combined_medium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0.1991 ± 0.0867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0.2053 ± 0.0848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0.2027 ± 0.1051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Unconditional SDEdit: prior-only editing with t_start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pic>
        <p:nvPicPr>
          <p:cNvPr id="9" name="Image 0" descr="/mnt/data/docx_extract/word/media/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863" y="1014603"/>
            <a:ext cx="4376651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1728343"/>
            <a:ext cx="2011680" cy="182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SDEdit mechanism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13232" y="2290064"/>
            <a:ext cx="5166360" cy="960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8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Forward: inject gaussian noise into the degraded trajectory up to t_start.</a:t>
            </a:r>
            <a:endParaRPr lang="en-US" sz="1080" dirty="0"/>
          </a:p>
          <a:p>
            <a:r>
              <a:rPr lang="en-US" sz="108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Reverse: denoise with the pretrained DDPM prior back to t = 0.</a:t>
            </a:r>
            <a:endParaRPr lang="en-US" sz="1080" dirty="0"/>
          </a:p>
          <a:p>
            <a:r>
              <a:rPr lang="en-US" sz="108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t_start controls the identity-to-prior-drift trade-off.</a:t>
            </a:r>
            <a:endParaRPr lang="en-US" sz="1080" dirty="0"/>
          </a:p>
        </p:txBody>
      </p:sp>
      <p:pic>
        <p:nvPicPr>
          <p:cNvPr id="12" name="Image 1" descr="/mnt/data/docx_extract/word/media/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870" y="951230"/>
            <a:ext cx="5859145" cy="30727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3834003"/>
            <a:ext cx="21031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gaussian_medium first?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13232" y="4080256"/>
            <a:ext cx="5029200" cy="42062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the most favourable condition for SDEdit because DDPM forward perturbation is gaussian. If prior-only editing can help, it should help here first.</a:t>
            </a:r>
            <a:endParaRPr lang="en-US" sz="1040" dirty="0"/>
          </a:p>
        </p:txBody>
      </p:sp>
      <p:sp>
        <p:nvSpPr>
          <p:cNvPr id="18" name="Text 14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SDEdit reference: Meng et al., “SDEdit: Guided Image Synthesis and Editing with Stochastic Differential Equations,” ICLR 2022. DDPM reference: Ho et al., NeurIPS 2020.</a:t>
            </a:r>
            <a:endParaRPr lang="en-US" sz="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031992" y="4024122"/>
          <a:ext cx="5257800" cy="1884045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188720"/>
                <a:gridCol w="1143000"/>
              </a:tblGrid>
              <a:tr h="31369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chemeClr val="bg1"/>
                          </a:solidFill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method</a:t>
                      </a:r>
                      <a:endParaRPr lang="en-US" sz="880" dirty="0">
                        <a:solidFill>
                          <a:schemeClr val="bg1"/>
                        </a:solidFill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chemeClr val="bg1"/>
                          </a:solidFill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t_start</a:t>
                      </a:r>
                      <a:endParaRPr lang="en-US" sz="880" dirty="0">
                        <a:solidFill>
                          <a:schemeClr val="bg1"/>
                        </a:solidFill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chemeClr val="bg1"/>
                          </a:solidFill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ADE mean ± std</a:t>
                      </a:r>
                      <a:endParaRPr lang="en-US" sz="880" dirty="0">
                        <a:solidFill>
                          <a:schemeClr val="bg1"/>
                        </a:solidFill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chemeClr val="bg1"/>
                          </a:solidFill>
                          <a:latin typeface="Times New Roman Regular" panose="02020503050405090304" charset="0"/>
                          <a:ea typeface="Aptos" pitchFamily="34" charset="0"/>
                          <a:cs typeface="Times New Roman Regular" panose="02020503050405090304" charset="0"/>
                        </a:rPr>
                        <a:t>improved_fraction_ADE</a:t>
                      </a:r>
                      <a:endParaRPr lang="en-US" sz="880" dirty="0">
                        <a:solidFill>
                          <a:schemeClr val="bg1"/>
                        </a:solidFill>
                        <a:latin typeface="Times New Roman Regular" panose="02020503050405090304" charset="0"/>
                        <a:ea typeface="Aptos" pitchFamily="34" charset="0"/>
                        <a:cs typeface="Times New Roman Regular" panose="0202050305040509030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31432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noisy_input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-1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0.0625666 ± 0.0077235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0.000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sdedit_t1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1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0.0612772 ± 0.0078860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0.795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3944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sdedit_t2</a:t>
                      </a:r>
                      <a:endParaRPr lang="en-US" altLang="en-US" sz="880" dirty="0">
                        <a:solidFill>
                          <a:srgbClr val="FF0000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2</a:t>
                      </a:r>
                      <a:endParaRPr lang="en-US" altLang="en-US" sz="880" dirty="0">
                        <a:solidFill>
                          <a:srgbClr val="FF0000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0.0608118 ± 0.0083935</a:t>
                      </a:r>
                      <a:endParaRPr lang="en-US" altLang="en-US" sz="880" dirty="0">
                        <a:solidFill>
                          <a:srgbClr val="FF0000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solidFill>
                            <a:srgbClr val="FF0000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0.765</a:t>
                      </a:r>
                      <a:endParaRPr lang="en-US" altLang="en-US" sz="880" dirty="0">
                        <a:solidFill>
                          <a:srgbClr val="FF0000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3944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sdedit_t3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3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0.0609506 ± 0.0096328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0.700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3944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sdedit_t5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5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0.0630930 ± 0.0135656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88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0.575</a:t>
                      </a:r>
                      <a:endParaRPr lang="en-US" alt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Prior-only ceiling: small gaussian gain, smoothing is not recovery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pic>
        <p:nvPicPr>
          <p:cNvPr id="7" name="Image 0" descr="/mnt/data/docx_extract/word/media/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61128"/>
            <a:ext cx="5715000" cy="2138847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58952" y="3703320"/>
          <a:ext cx="5486400" cy="1783080"/>
        </p:xfrm>
        <a:graphic>
          <a:graphicData uri="http://schemas.openxmlformats.org/drawingml/2006/table">
            <a:tbl>
              <a:tblPr/>
              <a:tblGrid>
                <a:gridCol w="2011680"/>
                <a:gridCol w="1325880"/>
                <a:gridCol w="1097280"/>
                <a:gridCol w="1051560"/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ADE (m)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 vs noisy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noisy_input</a:t>
                      </a:r>
                      <a:endParaRPr lang="en-US" sz="940" dirty="0">
                        <a:solidFill>
                          <a:srgbClr val="1F2328"/>
                        </a:solidFill>
                        <a:latin typeface="Aptos" pitchFamily="34" charset="0"/>
                        <a:ea typeface="Aptos" pitchFamily="34" charset="-122"/>
                        <a:cs typeface="Aptos" pitchFamily="34" charset="-12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0.0626 ± 0.0077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Linear interpolation</a:t>
                      </a:r>
                      <a:endParaRPr lang="en-US" altLang="en-US" sz="940" dirty="0">
                        <a:solidFill>
                          <a:srgbClr val="1F2328"/>
                        </a:solidFill>
                        <a:latin typeface="Aptos" pitchFamily="34" charset="0"/>
                        <a:ea typeface="Aptos" pitchFamily="34" charset="-122"/>
                        <a:cs typeface="Aptos" pitchFamily="34" charset="-12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4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0.0626 ± 0.0077</a:t>
                      </a:r>
                      <a:endParaRPr lang="en-US" alt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4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0.0%</a:t>
                      </a:r>
                      <a:endParaRPr lang="en-US" alt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4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0.000</a:t>
                      </a:r>
                      <a:endParaRPr lang="en-US" alt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Savitzky-Golay</a:t>
                      </a:r>
                      <a:endParaRPr lang="en-US" altLang="en-US" sz="940" dirty="0">
                        <a:solidFill>
                          <a:srgbClr val="1F2328"/>
                        </a:solidFill>
                        <a:latin typeface="Aptos" pitchFamily="34" charset="0"/>
                        <a:ea typeface="Aptos" pitchFamily="34" charset="-122"/>
                        <a:cs typeface="Aptos" pitchFamily="34" charset="-12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4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0.0656 ± 0.0328</a:t>
                      </a:r>
                      <a:endParaRPr lang="en-US" alt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4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+4.9%</a:t>
                      </a:r>
                      <a:endParaRPr lang="en-US" alt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4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0.720</a:t>
                      </a:r>
                      <a:endParaRPr lang="en-US" alt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Kalman CV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0.0850 ± 0.0281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+35.9%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0.235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Uncond. SDEdit (t=2)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0.0608 ± 0.0084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−2.8%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0.765</a:t>
                      </a:r>
                      <a:endParaRPr lang="en-US" sz="94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784848" y="1024128"/>
            <a:ext cx="2468880" cy="21945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this result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784848" y="1408176"/>
            <a:ext cx="4480560" cy="12344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4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SDEdit improves systematically, but the effect size is small.</a:t>
            </a:r>
            <a:endParaRPr lang="en-US" sz="1140" dirty="0"/>
          </a:p>
          <a:p>
            <a:r>
              <a:rPr lang="en-US" sz="114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 CV is a warning: it becomes smoother but ADE worsens by 35.9%.</a:t>
            </a:r>
            <a:endParaRPr lang="en-US" sz="1140" dirty="0"/>
          </a:p>
          <a:p>
            <a:r>
              <a:rPr lang="en-US" sz="114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ceiling of prior-only refinement before adding observation conditioning.</a:t>
            </a:r>
            <a:endParaRPr lang="en-US" sz="1140" dirty="0"/>
          </a:p>
        </p:txBody>
      </p:sp>
      <p:sp>
        <p:nvSpPr>
          <p:cNvPr id="11" name="Shape 7"/>
          <p:cNvSpPr/>
          <p:nvPr/>
        </p:nvSpPr>
        <p:spPr>
          <a:xfrm>
            <a:off x="6784848" y="2999232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F6FAFF"/>
          </a:solidFill>
          <a:ln w="13970">
            <a:solidFill>
              <a:srgbClr val="9BBCE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013448" y="3172968"/>
            <a:ext cx="128016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020" dirty="0"/>
          </a:p>
        </p:txBody>
      </p:sp>
      <p:sp>
        <p:nvSpPr>
          <p:cNvPr id="13" name="Text 9"/>
          <p:cNvSpPr/>
          <p:nvPr/>
        </p:nvSpPr>
        <p:spPr>
          <a:xfrm>
            <a:off x="8366760" y="3099816"/>
            <a:ext cx="2560320" cy="34747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prior can nudge a trajectory toward plausibility, but it is still weakly tied to this observation.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Report Table 5; N = 200; Linear is identity in full-trajectory setting.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Conditional residual DDPM: condition on the observation, predict correction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987552"/>
            <a:ext cx="2011680" cy="21945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change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13232" y="1371600"/>
          <a:ext cx="5806440" cy="1783080"/>
        </p:xfrm>
        <a:graphic>
          <a:graphicData uri="http://schemas.openxmlformats.org/drawingml/2006/table">
            <a:tbl>
              <a:tblPr/>
              <a:tblGrid>
                <a:gridCol w="2880360"/>
                <a:gridCol w="292608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Prior-only SDEdit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Conditional residual DDPM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Edits with a learned prior, but no explicit observation-specific correction channel.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Receives the degraded trajectory as condition and predicts the correction residual.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become plausible without being correct for this input.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Asks: given this degraded trajectory, where is it off, and by how much?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3232" y="3511296"/>
            <a:ext cx="1371600" cy="182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target</a:t>
            </a:r>
            <a:endParaRPr lang="en-US" sz="1250" dirty="0"/>
          </a:p>
        </p:txBody>
      </p:sp>
      <p:pic>
        <p:nvPicPr>
          <p:cNvPr id="8" name="Image 0" descr="/mnt/data/docx_extract/word/media/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34" y="3767328"/>
            <a:ext cx="3516957" cy="7498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703320"/>
            <a:ext cx="12344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residual?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617720" y="3986784"/>
            <a:ext cx="2331720" cy="493776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correction, not the whole clean trajectory from scratch. The condition is the degraded observation, not ground-truth leakage.</a:t>
            </a:r>
            <a:endParaRPr lang="en-US" sz="1040" dirty="0"/>
          </a:p>
        </p:txBody>
      </p:sp>
      <p:sp>
        <p:nvSpPr>
          <p:cNvPr id="13" name="Shape 9"/>
          <p:cNvSpPr/>
          <p:nvPr/>
        </p:nvSpPr>
        <p:spPr>
          <a:xfrm>
            <a:off x="7150608" y="1261872"/>
            <a:ext cx="4315968" cy="2240280"/>
          </a:xfrm>
          <a:prstGeom prst="roundRect">
            <a:avLst>
              <a:gd name="adj" fmla="val 3265"/>
            </a:avLst>
          </a:prstGeom>
          <a:solidFill>
            <a:srgbClr val="FFF9EB"/>
          </a:solidFill>
          <a:ln w="1397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424928" y="1517904"/>
            <a:ext cx="1371600" cy="182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 link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424928" y="1847088"/>
            <a:ext cx="3566160" cy="960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2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DDPM formulation: Ho et al. 2020.</a:t>
            </a:r>
            <a:endParaRPr lang="en-US" sz="1020" dirty="0"/>
          </a:p>
          <a:p>
            <a:r>
              <a:rPr lang="en-US" sz="102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SDEdit diagnostic: Meng et al. 2022.</a:t>
            </a:r>
            <a:endParaRPr lang="en-US" sz="1020" dirty="0"/>
          </a:p>
          <a:p>
            <a:r>
              <a:rPr lang="en-US" sz="102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time-series diffusion direction: SSSD-style imputation ideas.</a:t>
            </a:r>
            <a:endParaRPr lang="en-US" sz="1020" dirty="0"/>
          </a:p>
        </p:txBody>
      </p:sp>
      <p:sp>
        <p:nvSpPr>
          <p:cNvPr id="16" name="Text 12"/>
          <p:cNvSpPr/>
          <p:nvPr/>
        </p:nvSpPr>
        <p:spPr>
          <a:xfrm>
            <a:off x="7424928" y="2971800"/>
            <a:ext cx="347472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Here, conditioning is the tested variable: the data, metric, and gaussian evaluation set stay matched.</a:t>
            </a:r>
            <a:endParaRPr lang="en-US" sz="1020" dirty="0"/>
          </a:p>
        </p:txBody>
      </p:sp>
      <p:sp>
        <p:nvSpPr>
          <p:cNvPr id="17" name="Text 13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 et al., DDPM, NeurIPS 2020; Meng et al., SDEdit, ICLR 2022; Alcaraz &amp; Strodthoff, SSSD, TMLR 2023.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Matched gaussian result: conditioning gives the larger gain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pic>
        <p:nvPicPr>
          <p:cNvPr id="7" name="Image 0" descr="/mnt/data/docx_extract/word/media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610" y="951865"/>
            <a:ext cx="6322695" cy="228219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16255" y="3670300"/>
          <a:ext cx="5638165" cy="2013585"/>
        </p:xfrm>
        <a:graphic>
          <a:graphicData uri="http://schemas.openxmlformats.org/drawingml/2006/table">
            <a:tbl>
              <a:tblPr/>
              <a:tblGrid>
                <a:gridCol w="1818005"/>
                <a:gridCol w="1543050"/>
                <a:gridCol w="1063625"/>
                <a:gridCol w="1213485"/>
              </a:tblGrid>
              <a:tr h="287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ADE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 vs noisy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solidFill>
                            <a:schemeClr val="bg1"/>
                          </a:solidFill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Improved</a:t>
                      </a:r>
                      <a:endParaRPr lang="en-US" altLang="en-US" sz="960" dirty="0">
                        <a:solidFill>
                          <a:schemeClr val="bg1"/>
                        </a:solidFill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refinement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0.0626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  <a:sym typeface="+mn-ea"/>
                        </a:rPr>
                        <a:t>—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65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Linear interpolation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0.0626 ± 0.0077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0.0%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0.000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65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Savitzky-Golay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0.0656 ± 0.0328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+4.9%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0.720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65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Kalman CV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0.0850 ± 0.0281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+35.9%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0.235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Unconditional SDEdit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0.0608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−2.80%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0.765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Conditional residual DDPM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0.0557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−10.98%</a:t>
                      </a:r>
                      <a:endParaRPr 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960" dirty="0">
                          <a:latin typeface="Aptos" pitchFamily="34" charset="0"/>
                          <a:ea typeface="Aptos" pitchFamily="34" charset="0"/>
                          <a:cs typeface="Aptos" pitchFamily="34" charset="0"/>
                        </a:rPr>
                        <a:t>0.730</a:t>
                      </a:r>
                      <a:endParaRPr lang="en-US" altLang="en-US" sz="96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12280" y="3717925"/>
            <a:ext cx="2423160" cy="1115568"/>
          </a:xfrm>
          <a:prstGeom prst="roundRect">
            <a:avLst>
              <a:gd name="adj" fmla="val 6557"/>
            </a:avLst>
          </a:prstGeom>
          <a:solidFill>
            <a:srgbClr val="FFF9EB"/>
          </a:solidFill>
          <a:ln w="1397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196328" y="3864229"/>
            <a:ext cx="1645920" cy="34747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−10.98%</a:t>
            </a:r>
            <a:endParaRPr lang="en-US" sz="2400" dirty="0"/>
          </a:p>
        </p:txBody>
      </p:sp>
      <p:sp>
        <p:nvSpPr>
          <p:cNvPr id="8" name="Text 7"/>
          <p:cNvSpPr/>
          <p:nvPr/>
        </p:nvSpPr>
        <p:spPr>
          <a:xfrm>
            <a:off x="7159752" y="4339717"/>
            <a:ext cx="1737360" cy="14630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 vs no refinement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9509760" y="3717925"/>
            <a:ext cx="2423160" cy="1115568"/>
          </a:xfrm>
          <a:prstGeom prst="roundRect">
            <a:avLst>
              <a:gd name="adj" fmla="val 6557"/>
            </a:avLst>
          </a:prstGeom>
          <a:solidFill>
            <a:srgbClr val="F6FAFF"/>
          </a:solidFill>
          <a:ln w="13970">
            <a:solidFill>
              <a:srgbClr val="9BBCE3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902952" y="3873373"/>
            <a:ext cx="1645920" cy="34747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+8.41%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9902952" y="4339717"/>
            <a:ext cx="1645920" cy="14630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to SDEdit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040880" y="1060704"/>
            <a:ext cx="228600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supported here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040880" y="1417320"/>
            <a:ext cx="3977640" cy="7498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matched gaussian degradation, observation conditioning gives a clearly larger ADE reduction than prior-only editing. The result supports the interface-level part of the hypothesis.</a:t>
            </a:r>
            <a:endParaRPr lang="en-US" sz="1140" dirty="0"/>
          </a:p>
        </p:txBody>
      </p:sp>
      <p:sp>
        <p:nvSpPr>
          <p:cNvPr id="17" name="Text 13"/>
          <p:cNvSpPr/>
          <p:nvPr/>
        </p:nvSpPr>
        <p:spPr>
          <a:xfrm>
            <a:off x="7040880" y="2487168"/>
            <a:ext cx="246888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not supported yet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040880" y="2834640"/>
            <a:ext cx="3840480" cy="34747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does not prove broad sensor-error robustness. That needs cross-degradation testing.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Table 6 and Fig. 7; same N = 200 gaussian_medium degraded trajectories.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Cross-degradation result: failures are structured, not random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pic>
        <p:nvPicPr>
          <p:cNvPr id="7" name="Image 0" descr="/mnt/data/docx_extract/word/media/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44459"/>
            <a:ext cx="5138928" cy="2962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987552"/>
            <a:ext cx="475488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gaussian-trained conditional model, six test conditions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172200" y="1417320"/>
          <a:ext cx="5166360" cy="2331721"/>
        </p:xfrm>
        <a:graphic>
          <a:graphicData uri="http://schemas.openxmlformats.org/drawingml/2006/table">
            <a:tbl>
              <a:tblPr/>
              <a:tblGrid>
                <a:gridCol w="868680"/>
                <a:gridCol w="1280160"/>
                <a:gridCol w="3017520"/>
              </a:tblGrid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Case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result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Likely reason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Gaussian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improves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training and test corruption match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Jump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improves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sparse offsets resemble extreme residuals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Drift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worse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over-corrects an already mild error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Burst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worse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high-noise frames ≠ uniform gaussian residual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Bias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near unchanged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constant offset cancels in relative displacement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Combined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 error exceeds current interface</a:t>
                      </a:r>
                      <a:endParaRPr lang="en-US" sz="87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72200" y="4023360"/>
            <a:ext cx="5138928" cy="822960"/>
          </a:xfrm>
          <a:prstGeom prst="roundRect">
            <a:avLst>
              <a:gd name="adj" fmla="val 8889"/>
            </a:avLst>
          </a:prstGeom>
          <a:solidFill>
            <a:srgbClr val="FFF9EB"/>
          </a:solidFill>
          <a:ln w="1397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0" y="4187952"/>
            <a:ext cx="12344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020" dirty="0"/>
          </a:p>
        </p:txBody>
      </p:sp>
      <p:sp>
        <p:nvSpPr>
          <p:cNvPr id="9" name="Text 8"/>
          <p:cNvSpPr/>
          <p:nvPr/>
        </p:nvSpPr>
        <p:spPr>
          <a:xfrm>
            <a:off x="7772400" y="4114800"/>
            <a:ext cx="3090672" cy="38404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Conditioning helps only when the corruption model, representation, and test error structure are aligned.</a:t>
            </a:r>
            <a:endParaRPr lang="en-US" sz="1120" dirty="0"/>
          </a:p>
        </p:txBody>
      </p:sp>
      <p:sp>
        <p:nvSpPr>
          <p:cNvPr id="13" name="Text 9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Table 7 and Fig. 8; non-gaussian rows are diagnostic generalization tests, not matched-training results.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Backbone ablation: more receptive field does not fix the interface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987552"/>
            <a:ext cx="2468880" cy="20116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test the backbone?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316736"/>
            <a:ext cx="10287000" cy="43891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model-family concern is valid: SSSD-S4 and Diffusion-TS are relevant time-series diffusion families. For T = 20, I test the most immediate capacity question first: temporal receptive-field coverage.</a:t>
            </a:r>
            <a:endParaRPr lang="en-US" sz="114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13232" y="2057400"/>
          <a:ext cx="5577840" cy="987552"/>
        </p:xfrm>
        <a:graphic>
          <a:graphicData uri="http://schemas.openxmlformats.org/drawingml/2006/table">
            <a:tbl>
              <a:tblPr/>
              <a:tblGrid>
                <a:gridCol w="1645920"/>
                <a:gridCol w="685800"/>
                <a:gridCol w="12344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Backbone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Blocks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Effective RF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Coverage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Params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Conv1D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 frames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65.0%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212,354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Expanded Conv1D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 frames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full-window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409,474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/>
        </p:nvGraphicFramePr>
        <p:xfrm>
          <a:off x="6583680" y="2057400"/>
          <a:ext cx="4206240" cy="1426465"/>
        </p:xfrm>
        <a:graphic>
          <a:graphicData uri="http://schemas.openxmlformats.org/drawingml/2006/table">
            <a:tbl>
              <a:tblPr/>
              <a:tblGrid>
                <a:gridCol w="2423160"/>
                <a:gridCol w="1783080"/>
              </a:tblGrid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 summary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Median relative ADE gain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0.73%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 over 2-block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/ 6 degradations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Still beats noisy_input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/ 6 degradations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 increase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 1.93×</a:t>
                      </a:r>
                      <a:endParaRPr lang="en-US" sz="92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SSSD: Alcaraz &amp; Strodthoff, TMLR 2023. Diffusion-TS: Yuan &amp; Qiao, ICLR 2024. Ablation values from report Tables 9–11.</a:t>
            </a:r>
            <a:endParaRPr lang="en-US" sz="750" dirty="0"/>
          </a:p>
        </p:txBody>
      </p:sp>
      <p:pic>
        <p:nvPicPr>
          <p:cNvPr id="26" name="Picture 25" descr="rf_expans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18688"/>
            <a:ext cx="5074920" cy="4265263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080760" y="3456432"/>
            <a:ext cx="4297680" cy="1298448"/>
          </a:xfrm>
          <a:prstGeom prst="roundRect">
            <a:avLst/>
          </a:prstGeom>
          <a:solidFill>
            <a:srgbClr val="FFFBEB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46304" tIns="109728"/>
          <a:lstStyle/>
          <a:p>
            <a:r>
              <a:rPr sz="1300" b="1">
                <a:solidFill>
                  <a:srgbClr val="202B38"/>
                </a:solidFill>
                <a:latin typeface="Arial"/>
              </a:rPr>
              <a:t>Design implication</a:t>
            </a:r>
          </a:p>
          <a:p>
            <a:r>
              <a:rPr sz="1300">
                <a:solidFill>
                  <a:srgbClr val="202B38"/>
                </a:solidFill>
                <a:latin typeface="Arial"/>
              </a:rPr>
              <a:t>The failure regime survives full-window coverage; Stage 4 should model observation confidence and anchoring.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Bounded Stage 3 claim and Stage 4 implication</a:t>
            </a:r>
          </a:p>
        </p:txBody>
      </p:sp>
      <p:sp>
        <p:nvSpPr>
          <p:cNvPr id="4" name="Text 2"/>
          <p:cNvSpPr/>
          <p:nvPr/>
        </p:nvSpPr>
        <p:spPr>
          <a:xfrm>
            <a:off x="10287000" y="3474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11173968" cy="0"/>
          </a:xfrm>
          <a:prstGeom prst="line">
            <a:avLst/>
          </a:prstGeom>
          <a:noFill/>
          <a:ln w="8890">
            <a:solidFill>
              <a:srgbClr val="D7DD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DDPM-based Indoor Trajectory Refinement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987552"/>
            <a:ext cx="2926080" cy="228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Stage 3 establishes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13232" y="1417320"/>
          <a:ext cx="6446520" cy="242316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</a:tblGrid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Bounded claim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 correction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old local gap-filling was biased toward linear interpolation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Uncond. SDEdit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prior-only editing gives a small but systematic gaussian gain (−2.8%)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Cond. residual DDPM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observation conditioning gives the larger matched-gaussian gain (−10.98%)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Cross-degradation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failures are explainable: drift scale, burst reliability, bias representation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Backbone ablation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full-window Conv1D does not remove the failure regime</a:t>
                      </a:r>
                      <a:endParaRPr lang="en-US" sz="88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98080" y="1417320"/>
            <a:ext cx="3474720" cy="1115568"/>
          </a:xfrm>
          <a:prstGeom prst="roundRect">
            <a:avLst>
              <a:gd name="adj" fmla="val 6557"/>
            </a:avLst>
          </a:prstGeom>
          <a:solidFill>
            <a:srgbClr val="FFF9EB"/>
          </a:solidFill>
          <a:ln w="1397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54112" y="1609344"/>
            <a:ext cx="14630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conclusion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754112" y="1901952"/>
            <a:ext cx="2743200" cy="38404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Conditioning is the operative variable, but only when corruption, representation and test error structure are aligned.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0" y="2816352"/>
            <a:ext cx="3474720" cy="932688"/>
          </a:xfrm>
          <a:prstGeom prst="roundRect">
            <a:avLst>
              <a:gd name="adj" fmla="val 7843"/>
            </a:avLst>
          </a:prstGeom>
          <a:solidFill>
            <a:srgbClr val="F6FAFF"/>
          </a:solidFill>
          <a:ln w="13970">
            <a:solidFill>
              <a:srgbClr val="9BBCE3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54112" y="2999232"/>
            <a:ext cx="173736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Next-step implication</a:t>
            </a:r>
            <a:endParaRPr lang="en-US" sz="1020" dirty="0"/>
          </a:p>
        </p:txBody>
      </p:sp>
      <p:sp>
        <p:nvSpPr>
          <p:cNvPr id="8" name="Text 11"/>
          <p:cNvSpPr/>
          <p:nvPr/>
        </p:nvSpPr>
        <p:spPr>
          <a:xfrm>
            <a:off x="7754112" y="3291840"/>
            <a:ext cx="2743200" cy="274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toward sensor-anchored, confidence-aware posterior refinement.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713232" y="4343400"/>
            <a:ext cx="2011680" cy="20116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role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/>
        </p:nvGraphicFramePr>
        <p:xfrm>
          <a:off x="713232" y="4663440"/>
          <a:ext cx="10241280" cy="1298448"/>
        </p:xfrm>
        <a:graphic>
          <a:graphicData uri="http://schemas.openxmlformats.org/drawingml/2006/table">
            <a:tbl>
              <a:tblPr/>
              <a:tblGrid>
                <a:gridCol w="3108960"/>
                <a:gridCol w="7132320"/>
              </a:tblGrid>
              <a:tr h="216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Reference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 for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1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 et al. 2020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DDPM formulation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Meng et al. 2022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SDEdit prior-only editing diagnostic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Tariq et al. 2020 / 2021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indoor human tracking and trajectory metrics context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Alcaraz &amp; Strodthoff 2023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SSSD / conditional time-series diffusion family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Yuan &amp; Qiao 2024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1F23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Diffusion-TS / alternative time-series diffusion family</a:t>
                      </a:r>
                      <a:endParaRPr lang="en-US" sz="83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02920" y="6336792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claim deliberately remains bounded: Stage 3 maps the interface lever and failure boundaries; it does not claim universal sensor-error recovery.</a:t>
            </a:r>
            <a:endParaRPr lang="en-US" sz="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443*158"/>
  <p:tag name="TABLE_ENDDRAG_RECT" val="40*289*443*1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11025</Words>
  <Application>WPS 文字</Application>
  <PresentationFormat>On-screen Show (16:9)</PresentationFormat>
  <Paragraphs>755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Aptos</vt:lpstr>
      <vt:lpstr>苹方-简</vt:lpstr>
      <vt:lpstr>Aptos</vt:lpstr>
      <vt:lpstr>Aptos</vt:lpstr>
      <vt:lpstr>微软雅黑</vt:lpstr>
      <vt:lpstr>汉仪旗黑</vt:lpstr>
      <vt:lpstr>宋体</vt:lpstr>
      <vt:lpstr>Arial Unicode MS</vt:lpstr>
      <vt:lpstr>汉仪书宋二KW</vt:lpstr>
      <vt:lpstr>等线</vt:lpstr>
      <vt:lpstr>汉仪中等线KW</vt:lpstr>
      <vt:lpstr>Calibri</vt:lpstr>
      <vt:lpstr>Helvetica Neue</vt:lpstr>
      <vt:lpstr>Times New Roman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3 DDPM-based Indoor Trajectory Refinement</dc:title>
  <dc:creator>OpenAI</dc:creator>
  <dc:subject>Stage 3 report deck</dc:subject>
  <cp:lastModifiedBy>SunshineC</cp:lastModifiedBy>
  <cp:revision>7</cp:revision>
  <dcterms:created xsi:type="dcterms:W3CDTF">2026-05-14T11:38:42Z</dcterms:created>
  <dcterms:modified xsi:type="dcterms:W3CDTF">2026-05-14T11:38:42Z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D48536E7CA38B782CF89056A56AC65D5_42</vt:lpwstr>
  </property>
  <property fmtid="{D5CDD505-2E9C-101B-9397-08002B2CF9AE}" pid="3" name="KSOProductBuildVer">
    <vt:lpwstr>2052-6.7.1.8828</vt:lpwstr>
  </property>
</Properties>
</file>